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Raleway"/>
      <p:regular r:id="rId22"/>
      <p:bold r:id="rId23"/>
      <p:italic r:id="rId24"/>
      <p:boldItalic r:id="rId25"/>
    </p:embeddedFont>
    <p:embeddedFont>
      <p:font typeface="Source Sans Pr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aleway-regular.fntdata"/><Relationship Id="rId21" Type="http://schemas.openxmlformats.org/officeDocument/2006/relationships/slide" Target="slides/slide16.xml"/><Relationship Id="rId24" Type="http://schemas.openxmlformats.org/officeDocument/2006/relationships/font" Target="fonts/Raleway-italic.fntdata"/><Relationship Id="rId23" Type="http://schemas.openxmlformats.org/officeDocument/2006/relationships/font" Target="fonts/Raleway-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SourceSansPro-regular.fntdata"/><Relationship Id="rId25" Type="http://schemas.openxmlformats.org/officeDocument/2006/relationships/font" Target="fonts/Raleway-boldItalic.fntdata"/><Relationship Id="rId28" Type="http://schemas.openxmlformats.org/officeDocument/2006/relationships/font" Target="fonts/SourceSansPro-italic.fntdata"/><Relationship Id="rId27" Type="http://schemas.openxmlformats.org/officeDocument/2006/relationships/font" Target="fonts/SourceSansPr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SourceSansPro-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iL7Ww5kpnIM" TargetMode="External"/><Relationship Id="rId3" Type="http://schemas.openxmlformats.org/officeDocument/2006/relationships/hyperlink" Target="https://www.youtube.com/watch?v=vOsE9saR_ck" TargetMode="Externa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youtube.com/watch?v=iL7Ww5kpnIM" TargetMode="External"/><Relationship Id="rId3" Type="http://schemas.openxmlformats.org/officeDocument/2006/relationships/hyperlink" Target="https://www.youtube.com/watch?v=vOsE9saR_ck" TargetMode="External"/><Relationship Id="rId4" Type="http://schemas.openxmlformats.org/officeDocument/2006/relationships/hyperlink" Target="https://www.slideshare.net/86500/ppt-on-research-in-management-unit-i" TargetMode="External"/><Relationship Id="rId5" Type="http://schemas.openxmlformats.org/officeDocument/2006/relationships/hyperlink" Target="https://www.google.com/search?rlz=1C1GGRV_enUS751US751&amp;ei=bLaTXefVC7Ho9APHk5LAAw&amp;q=racial+discrimination+phenomenology+research+questions&amp;oq=racial+discrimination+phenomenology+research+questions&amp;gs_l=psy-ab.3...6806.11509..12071...1.2..0.86.1658.23......0....1..gws-wiz.......0i71j0i13j0i13i5i30j0i8i13i30j33i10.7QSnXecJw1M&amp;ved=0ahUKEwjnu7HS8vvkAhUxNH0KHceJBDgQ4dUDCAs&amp;uact=5"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c6f9544c1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6" name="Google Shape;56;gc6f9544c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c6f9544c1_0_5: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c6f9544c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c6f9544c1_0_1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c6f9544c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c6f9544c1_0_3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c6f9544c1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61c0ba5284_0_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61c0ba5284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61c0ba5284_0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61c0ba528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61c0ba5284_0_2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g61c0ba5284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629cc073f4_0_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629cc073f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https://www.youtube.com/watch?v=iL7Ww5kpnIM</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3"/>
              </a:rPr>
              <a:t>https://www.youtube.com/watch?v=vOsE9saR_ck</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648c70d116_0_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648c70d11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https://www.youtube.com/watch?v=iL7Ww5kpnIM</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3"/>
              </a:rPr>
              <a:t>https://www.youtube.com/watch?v=vOsE9saR_ck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4"/>
              </a:rPr>
              <a:t>https://www.slideshare.net/86500/ppt-on-research-in-management-unit-i</a:t>
            </a:r>
            <a:endParaRPr/>
          </a:p>
          <a:p>
            <a:pPr indent="0" lvl="0" marL="0" rtl="0" algn="l">
              <a:spcBef>
                <a:spcPts val="0"/>
              </a:spcBef>
              <a:spcAft>
                <a:spcPts val="0"/>
              </a:spcAft>
              <a:buNone/>
            </a:pPr>
            <a:r>
              <a:t/>
            </a:r>
            <a:endParaRPr/>
          </a:p>
          <a:p>
            <a:pPr indent="0" lvl="0" marL="0" rtl="0" algn="l">
              <a:spcBef>
                <a:spcPts val="0"/>
              </a:spcBef>
              <a:spcAft>
                <a:spcPts val="0"/>
              </a:spcAft>
              <a:buNone/>
            </a:pPr>
            <a:r>
              <a:rPr lang="en" u="sng">
                <a:solidFill>
                  <a:schemeClr val="hlink"/>
                </a:solidFill>
                <a:hlinkClick r:id="rId5"/>
              </a:rPr>
              <a:t>https://www.google.com/search?rlz=1C1GGRV_enUS751US751&amp;ei=bLaTXefVC7Ho9APHk5LAAw&amp;q=racial+discrimination+phenomenology+research+questions&amp;oq=racial+discrimination+phenomenology+research+questions&amp;gs_l=psy-ab.3...6806.11509..12071...1.2..0.86.1658.23......0....1..gws-wiz.......0i71j0i13j0i13i5i30j0i8i13i30j33i10.7QSnXecJw1M&amp;ved=0ahUKEwjnu7HS8vvkAhUxNH0KHceJBDgQ4dUDCAs&amp;uact=5</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648c70d116_0_8: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648c70d116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648c70d116_0_1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648c70d11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813816b157_0_6: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813816b15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813816b157_0_12: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813816b157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8142f78cd8_7_0: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8142f78cd8_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c6f9544c1_0_5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c6f9544c1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648c70d116_0_23: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648c70d116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485875" y="264475"/>
            <a:ext cx="8183700" cy="1473600"/>
          </a:xfrm>
          <a:prstGeom prst="rect">
            <a:avLst/>
          </a:prstGeom>
        </p:spPr>
        <p:txBody>
          <a:bodyPr anchorCtr="0" anchor="b" bIns="91425" lIns="91425" spcFirstLastPara="1" rIns="91425" wrap="square" tIns="91425">
            <a:no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2" name="Google Shape;12;p2"/>
          <p:cNvSpPr txBox="1"/>
          <p:nvPr>
            <p:ph idx="1" type="subTitle"/>
          </p:nvPr>
        </p:nvSpPr>
        <p:spPr>
          <a:xfrm>
            <a:off x="485875" y="1738075"/>
            <a:ext cx="8183700" cy="861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400"/>
              <a:buNone/>
              <a:defRPr sz="2400"/>
            </a:lvl1pPr>
            <a:lvl2pPr lvl="1">
              <a:lnSpc>
                <a:spcPct val="100000"/>
              </a:lnSpc>
              <a:spcBef>
                <a:spcPts val="0"/>
              </a:spcBef>
              <a:spcAft>
                <a:spcPts val="0"/>
              </a:spcAft>
              <a:buSzPts val="2400"/>
              <a:buNone/>
              <a:defRPr sz="2400"/>
            </a:lvl2pPr>
            <a:lvl3pPr lvl="2">
              <a:lnSpc>
                <a:spcPct val="100000"/>
              </a:lnSpc>
              <a:spcBef>
                <a:spcPts val="0"/>
              </a:spcBef>
              <a:spcAft>
                <a:spcPts val="0"/>
              </a:spcAft>
              <a:buSzPts val="2400"/>
              <a:buNone/>
              <a:defRPr sz="2400"/>
            </a:lvl3pPr>
            <a:lvl4pPr lvl="3">
              <a:lnSpc>
                <a:spcPct val="100000"/>
              </a:lnSpc>
              <a:spcBef>
                <a:spcPts val="0"/>
              </a:spcBef>
              <a:spcAft>
                <a:spcPts val="0"/>
              </a:spcAft>
              <a:buSzPts val="2400"/>
              <a:buNone/>
              <a:defRPr sz="2400"/>
            </a:lvl4pPr>
            <a:lvl5pPr lvl="4">
              <a:lnSpc>
                <a:spcPct val="100000"/>
              </a:lnSpc>
              <a:spcBef>
                <a:spcPts val="0"/>
              </a:spcBef>
              <a:spcAft>
                <a:spcPts val="0"/>
              </a:spcAft>
              <a:buSzPts val="2400"/>
              <a:buNone/>
              <a:defRPr sz="2400"/>
            </a:lvl5pPr>
            <a:lvl6pPr lvl="5">
              <a:lnSpc>
                <a:spcPct val="100000"/>
              </a:lnSpc>
              <a:spcBef>
                <a:spcPts val="0"/>
              </a:spcBef>
              <a:spcAft>
                <a:spcPts val="0"/>
              </a:spcAft>
              <a:buSzPts val="2400"/>
              <a:buNone/>
              <a:defRPr sz="2400"/>
            </a:lvl6pPr>
            <a:lvl7pPr lvl="6">
              <a:lnSpc>
                <a:spcPct val="100000"/>
              </a:lnSpc>
              <a:spcBef>
                <a:spcPts val="0"/>
              </a:spcBef>
              <a:spcAft>
                <a:spcPts val="0"/>
              </a:spcAft>
              <a:buSzPts val="2400"/>
              <a:buNone/>
              <a:defRPr sz="2400"/>
            </a:lvl7pPr>
            <a:lvl8pPr lvl="7">
              <a:lnSpc>
                <a:spcPct val="100000"/>
              </a:lnSpc>
              <a:spcBef>
                <a:spcPts val="0"/>
              </a:spcBef>
              <a:spcAft>
                <a:spcPts val="0"/>
              </a:spcAft>
              <a:buSzPts val="2400"/>
              <a:buNone/>
              <a:defRPr sz="2400"/>
            </a:lvl8pPr>
            <a:lvl9pPr lvl="8">
              <a:lnSpc>
                <a:spcPct val="100000"/>
              </a:lnSpc>
              <a:spcBef>
                <a:spcPts val="0"/>
              </a:spcBef>
              <a:spcAft>
                <a:spcPts val="0"/>
              </a:spcAft>
              <a:buSzPts val="2400"/>
              <a:buNone/>
              <a:defRPr sz="2400"/>
            </a:lvl9pPr>
          </a:lstStyle>
          <a:p/>
        </p:txBody>
      </p:sp>
      <p:sp>
        <p:nvSpPr>
          <p:cNvPr id="13" name="Google Shape;13;p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3"/>
          <p:cNvSpPr txBox="1"/>
          <p:nvPr>
            <p:ph type="title"/>
          </p:nvPr>
        </p:nvSpPr>
        <p:spPr>
          <a:xfrm>
            <a:off x="485875" y="1714500"/>
            <a:ext cx="8183700" cy="785700"/>
          </a:xfrm>
          <a:prstGeom prst="rect">
            <a:avLst/>
          </a:prstGeom>
        </p:spPr>
        <p:txBody>
          <a:bodyPr anchorCtr="0" anchor="b" bIns="91425" lIns="91425" spcFirstLastPara="1" rIns="91425" wrap="square" tIns="91425">
            <a:no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17" name="Google Shape;17;p3"/>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 name="Shape 18"/>
        <p:cNvGrpSpPr/>
        <p:nvPr/>
      </p:nvGrpSpPr>
      <p:grpSpPr>
        <a:xfrm>
          <a:off x="0" y="0"/>
          <a:ext cx="0" cy="0"/>
          <a:chOff x="0" y="0"/>
          <a:chExt cx="0" cy="0"/>
        </a:xfrm>
      </p:grpSpPr>
      <p:sp>
        <p:nvSpPr>
          <p:cNvPr id="19" name="Google Shape;19;p4"/>
          <p:cNvSpPr txBox="1"/>
          <p:nvPr>
            <p:ph type="title"/>
          </p:nvPr>
        </p:nvSpPr>
        <p:spPr>
          <a:xfrm>
            <a:off x="311700" y="445025"/>
            <a:ext cx="8520600" cy="6234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0" name="Google Shape;20;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1" name="Google Shape;21;p4"/>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5"/>
          <p:cNvSpPr txBox="1"/>
          <p:nvPr>
            <p:ph type="title"/>
          </p:nvPr>
        </p:nvSpPr>
        <p:spPr>
          <a:xfrm>
            <a:off x="311700" y="445025"/>
            <a:ext cx="8520600" cy="6234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4" name="Google Shape;24;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5" name="Google Shape;25;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6" name="Google Shape;26;p5"/>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6"/>
          <p:cNvSpPr txBox="1"/>
          <p:nvPr>
            <p:ph type="title"/>
          </p:nvPr>
        </p:nvSpPr>
        <p:spPr>
          <a:xfrm>
            <a:off x="311700" y="445025"/>
            <a:ext cx="8520600" cy="6234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9" name="Google Shape;29;p6"/>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2" name="Google Shape;32;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3" name="Google Shape;33;p7"/>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2"/>
        </a:solidFill>
      </p:bgPr>
    </p:bg>
    <p:spTree>
      <p:nvGrpSpPr>
        <p:cNvPr id="34" name="Shape 34"/>
        <p:cNvGrpSpPr/>
        <p:nvPr/>
      </p:nvGrpSpPr>
      <p:grpSpPr>
        <a:xfrm>
          <a:off x="0" y="0"/>
          <a:ext cx="0" cy="0"/>
          <a:chOff x="0" y="0"/>
          <a:chExt cx="0" cy="0"/>
        </a:xfrm>
      </p:grpSpPr>
      <p:sp>
        <p:nvSpPr>
          <p:cNvPr id="35" name="Google Shape;35;p8"/>
          <p:cNvSpPr txBox="1"/>
          <p:nvPr>
            <p:ph type="title"/>
          </p:nvPr>
        </p:nvSpPr>
        <p:spPr>
          <a:xfrm>
            <a:off x="490250" y="526350"/>
            <a:ext cx="5604000" cy="40908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36" name="Google Shape;36;p8"/>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9"/>
          <p:cNvSpPr/>
          <p:nvPr/>
        </p:nvSpPr>
        <p:spPr>
          <a:xfrm>
            <a:off x="4636800" y="80700"/>
            <a:ext cx="4426500" cy="49821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9" name="Google Shape;39;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40" name="Google Shape;40;p9"/>
          <p:cNvSpPr txBox="1"/>
          <p:nvPr>
            <p:ph type="title"/>
          </p:nvPr>
        </p:nvSpPr>
        <p:spPr>
          <a:xfrm>
            <a:off x="265500" y="1181700"/>
            <a:ext cx="4045200" cy="1533600"/>
          </a:xfrm>
          <a:prstGeom prst="rect">
            <a:avLst/>
          </a:prstGeom>
        </p:spPr>
        <p:txBody>
          <a:bodyPr anchorCtr="0" anchor="b" bIns="91425" lIns="91425" spcFirstLastPara="1" rIns="91425" wrap="square" tIns="91425">
            <a:no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1" name="Google Shape;41;p9"/>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2" name="Google Shape;42;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1600"/>
              </a:spcBef>
              <a:spcAft>
                <a:spcPts val="0"/>
              </a:spcAft>
              <a:buClr>
                <a:schemeClr val="lt1"/>
              </a:buClr>
              <a:buSzPts val="1400"/>
              <a:buChar char="○"/>
              <a:defRPr>
                <a:solidFill>
                  <a:schemeClr val="lt1"/>
                </a:solidFill>
              </a:defRPr>
            </a:lvl2pPr>
            <a:lvl3pPr indent="-317500" lvl="2" marL="1371600">
              <a:spcBef>
                <a:spcPts val="1600"/>
              </a:spcBef>
              <a:spcAft>
                <a:spcPts val="0"/>
              </a:spcAft>
              <a:buClr>
                <a:schemeClr val="lt1"/>
              </a:buClr>
              <a:buSzPts val="1400"/>
              <a:buChar char="■"/>
              <a:defRPr>
                <a:solidFill>
                  <a:schemeClr val="lt1"/>
                </a:solidFill>
              </a:defRPr>
            </a:lvl3pPr>
            <a:lvl4pPr indent="-317500" lvl="3" marL="1828800">
              <a:spcBef>
                <a:spcPts val="1600"/>
              </a:spcBef>
              <a:spcAft>
                <a:spcPts val="0"/>
              </a:spcAft>
              <a:buClr>
                <a:schemeClr val="lt1"/>
              </a:buClr>
              <a:buSzPts val="1400"/>
              <a:buChar char="●"/>
              <a:defRPr>
                <a:solidFill>
                  <a:schemeClr val="lt1"/>
                </a:solidFill>
              </a:defRPr>
            </a:lvl4pPr>
            <a:lvl5pPr indent="-317500" lvl="4" marL="2286000">
              <a:spcBef>
                <a:spcPts val="1600"/>
              </a:spcBef>
              <a:spcAft>
                <a:spcPts val="0"/>
              </a:spcAft>
              <a:buClr>
                <a:schemeClr val="lt1"/>
              </a:buClr>
              <a:buSzPts val="1400"/>
              <a:buChar char="○"/>
              <a:defRPr>
                <a:solidFill>
                  <a:schemeClr val="lt1"/>
                </a:solidFill>
              </a:defRPr>
            </a:lvl5pPr>
            <a:lvl6pPr indent="-317500" lvl="5" marL="2743200">
              <a:spcBef>
                <a:spcPts val="1600"/>
              </a:spcBef>
              <a:spcAft>
                <a:spcPts val="0"/>
              </a:spcAft>
              <a:buClr>
                <a:schemeClr val="lt1"/>
              </a:buClr>
              <a:buSzPts val="1400"/>
              <a:buChar char="■"/>
              <a:defRPr>
                <a:solidFill>
                  <a:schemeClr val="lt1"/>
                </a:solidFill>
              </a:defRPr>
            </a:lvl6pPr>
            <a:lvl7pPr indent="-317500" lvl="6" marL="3200400">
              <a:spcBef>
                <a:spcPts val="1600"/>
              </a:spcBef>
              <a:spcAft>
                <a:spcPts val="0"/>
              </a:spcAft>
              <a:buClr>
                <a:schemeClr val="lt1"/>
              </a:buClr>
              <a:buSzPts val="1400"/>
              <a:buChar char="●"/>
              <a:defRPr>
                <a:solidFill>
                  <a:schemeClr val="lt1"/>
                </a:solidFill>
              </a:defRPr>
            </a:lvl7pPr>
            <a:lvl8pPr indent="-317500" lvl="7" marL="3657600">
              <a:spcBef>
                <a:spcPts val="1600"/>
              </a:spcBef>
              <a:spcAft>
                <a:spcPts val="0"/>
              </a:spcAft>
              <a:buClr>
                <a:schemeClr val="lt1"/>
              </a:buClr>
              <a:buSzPts val="1400"/>
              <a:buChar char="○"/>
              <a:defRPr>
                <a:solidFill>
                  <a:schemeClr val="lt1"/>
                </a:solidFill>
              </a:defRPr>
            </a:lvl8pPr>
            <a:lvl9pPr indent="-317500" lvl="8" marL="4114800">
              <a:spcBef>
                <a:spcPts val="1600"/>
              </a:spcBef>
              <a:spcAft>
                <a:spcPts val="1600"/>
              </a:spcAft>
              <a:buClr>
                <a:schemeClr val="lt1"/>
              </a:buClr>
              <a:buSzPts val="1400"/>
              <a:buChar char="■"/>
              <a:defRPr>
                <a:solidFill>
                  <a:schemeClr val="lt1"/>
                </a:solidFill>
              </a:defRPr>
            </a:lvl9pPr>
          </a:lstStyle>
          <a:p/>
        </p:txBody>
      </p:sp>
      <p:sp>
        <p:nvSpPr>
          <p:cNvPr id="43" name="Google Shape;43;p9"/>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4" name="Shape 44"/>
        <p:cNvGrpSpPr/>
        <p:nvPr/>
      </p:nvGrpSpPr>
      <p:grpSpPr>
        <a:xfrm>
          <a:off x="0" y="0"/>
          <a:ext cx="0" cy="0"/>
          <a:chOff x="0" y="0"/>
          <a:chExt cx="0" cy="0"/>
        </a:xfrm>
      </p:grpSpPr>
      <p:sp>
        <p:nvSpPr>
          <p:cNvPr id="45" name="Google Shape;45;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2100"/>
              <a:buNone/>
              <a:defRPr sz="2100"/>
            </a:lvl1pPr>
          </a:lstStyle>
          <a:p/>
        </p:txBody>
      </p:sp>
      <p:sp>
        <p:nvSpPr>
          <p:cNvPr id="46" name="Google Shape;46;p10"/>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7" name="Shape 47"/>
        <p:cNvGrpSpPr/>
        <p:nvPr/>
      </p:nvGrpSpPr>
      <p:grpSpPr>
        <a:xfrm>
          <a:off x="0" y="0"/>
          <a:ext cx="0" cy="0"/>
          <a:chOff x="0" y="0"/>
          <a:chExt cx="0" cy="0"/>
        </a:xfrm>
      </p:grpSpPr>
      <p:sp>
        <p:nvSpPr>
          <p:cNvPr id="48" name="Google Shape;48;p11"/>
          <p:cNvSpPr/>
          <p:nvPr/>
        </p:nvSpPr>
        <p:spPr>
          <a:xfrm>
            <a:off x="80700" y="2651100"/>
            <a:ext cx="8982600" cy="24117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11"/>
          <p:cNvSpPr txBox="1"/>
          <p:nvPr>
            <p:ph hasCustomPrompt="1" type="title"/>
          </p:nvPr>
        </p:nvSpPr>
        <p:spPr>
          <a:xfrm>
            <a:off x="311700" y="743001"/>
            <a:ext cx="8520600" cy="20064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Font typeface="Source Sans Pro"/>
              <a:buNone/>
              <a:defRPr sz="12000">
                <a:latin typeface="Source Sans Pro"/>
                <a:ea typeface="Source Sans Pro"/>
                <a:cs typeface="Source Sans Pro"/>
                <a:sym typeface="Source Sans Pro"/>
              </a:defRPr>
            </a:lvl1pPr>
            <a:lvl2pPr lvl="1" algn="ctr">
              <a:spcBef>
                <a:spcPts val="0"/>
              </a:spcBef>
              <a:spcAft>
                <a:spcPts val="0"/>
              </a:spcAft>
              <a:buSzPts val="12000"/>
              <a:buFont typeface="Source Sans Pro"/>
              <a:buNone/>
              <a:defRPr sz="12000">
                <a:latin typeface="Source Sans Pro"/>
                <a:ea typeface="Source Sans Pro"/>
                <a:cs typeface="Source Sans Pro"/>
                <a:sym typeface="Source Sans Pro"/>
              </a:defRPr>
            </a:lvl2pPr>
            <a:lvl3pPr lvl="2" algn="ctr">
              <a:spcBef>
                <a:spcPts val="0"/>
              </a:spcBef>
              <a:spcAft>
                <a:spcPts val="0"/>
              </a:spcAft>
              <a:buSzPts val="12000"/>
              <a:buFont typeface="Source Sans Pro"/>
              <a:buNone/>
              <a:defRPr sz="12000">
                <a:latin typeface="Source Sans Pro"/>
                <a:ea typeface="Source Sans Pro"/>
                <a:cs typeface="Source Sans Pro"/>
                <a:sym typeface="Source Sans Pro"/>
              </a:defRPr>
            </a:lvl3pPr>
            <a:lvl4pPr lvl="3" algn="ctr">
              <a:spcBef>
                <a:spcPts val="0"/>
              </a:spcBef>
              <a:spcAft>
                <a:spcPts val="0"/>
              </a:spcAft>
              <a:buSzPts val="12000"/>
              <a:buFont typeface="Source Sans Pro"/>
              <a:buNone/>
              <a:defRPr sz="12000">
                <a:latin typeface="Source Sans Pro"/>
                <a:ea typeface="Source Sans Pro"/>
                <a:cs typeface="Source Sans Pro"/>
                <a:sym typeface="Source Sans Pro"/>
              </a:defRPr>
            </a:lvl4pPr>
            <a:lvl5pPr lvl="4" algn="ctr">
              <a:spcBef>
                <a:spcPts val="0"/>
              </a:spcBef>
              <a:spcAft>
                <a:spcPts val="0"/>
              </a:spcAft>
              <a:buSzPts val="12000"/>
              <a:buFont typeface="Source Sans Pro"/>
              <a:buNone/>
              <a:defRPr sz="12000">
                <a:latin typeface="Source Sans Pro"/>
                <a:ea typeface="Source Sans Pro"/>
                <a:cs typeface="Source Sans Pro"/>
                <a:sym typeface="Source Sans Pro"/>
              </a:defRPr>
            </a:lvl5pPr>
            <a:lvl6pPr lvl="5" algn="ctr">
              <a:spcBef>
                <a:spcPts val="0"/>
              </a:spcBef>
              <a:spcAft>
                <a:spcPts val="0"/>
              </a:spcAft>
              <a:buSzPts val="12000"/>
              <a:buFont typeface="Source Sans Pro"/>
              <a:buNone/>
              <a:defRPr sz="12000">
                <a:latin typeface="Source Sans Pro"/>
                <a:ea typeface="Source Sans Pro"/>
                <a:cs typeface="Source Sans Pro"/>
                <a:sym typeface="Source Sans Pro"/>
              </a:defRPr>
            </a:lvl6pPr>
            <a:lvl7pPr lvl="6" algn="ctr">
              <a:spcBef>
                <a:spcPts val="0"/>
              </a:spcBef>
              <a:spcAft>
                <a:spcPts val="0"/>
              </a:spcAft>
              <a:buSzPts val="12000"/>
              <a:buFont typeface="Source Sans Pro"/>
              <a:buNone/>
              <a:defRPr sz="12000">
                <a:latin typeface="Source Sans Pro"/>
                <a:ea typeface="Source Sans Pro"/>
                <a:cs typeface="Source Sans Pro"/>
                <a:sym typeface="Source Sans Pro"/>
              </a:defRPr>
            </a:lvl7pPr>
            <a:lvl8pPr lvl="7" algn="ctr">
              <a:spcBef>
                <a:spcPts val="0"/>
              </a:spcBef>
              <a:spcAft>
                <a:spcPts val="0"/>
              </a:spcAft>
              <a:buSzPts val="12000"/>
              <a:buFont typeface="Source Sans Pro"/>
              <a:buNone/>
              <a:defRPr sz="12000">
                <a:latin typeface="Source Sans Pro"/>
                <a:ea typeface="Source Sans Pro"/>
                <a:cs typeface="Source Sans Pro"/>
                <a:sym typeface="Source Sans Pro"/>
              </a:defRPr>
            </a:lvl8pPr>
            <a:lvl9pPr lvl="8" algn="ctr">
              <a:spcBef>
                <a:spcPts val="0"/>
              </a:spcBef>
              <a:spcAft>
                <a:spcPts val="0"/>
              </a:spcAft>
              <a:buSzPts val="12000"/>
              <a:buFont typeface="Source Sans Pro"/>
              <a:buNone/>
              <a:defRPr sz="12000">
                <a:latin typeface="Source Sans Pro"/>
                <a:ea typeface="Source Sans Pro"/>
                <a:cs typeface="Source Sans Pro"/>
                <a:sym typeface="Source Sans Pro"/>
              </a:defRPr>
            </a:lvl9pPr>
          </a:lstStyle>
          <a:p>
            <a:r>
              <a:t>xx%</a:t>
            </a:r>
          </a:p>
        </p:txBody>
      </p:sp>
      <p:sp>
        <p:nvSpPr>
          <p:cNvPr id="50" name="Google Shape;50;p11"/>
          <p:cNvSpPr txBox="1"/>
          <p:nvPr>
            <p:ph idx="1" type="body"/>
          </p:nvPr>
        </p:nvSpPr>
        <p:spPr>
          <a:xfrm>
            <a:off x="311700" y="2845182"/>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Clr>
                <a:schemeClr val="lt1"/>
              </a:buClr>
              <a:buSzPts val="1800"/>
              <a:buChar char="●"/>
              <a:defRPr>
                <a:solidFill>
                  <a:schemeClr val="lt1"/>
                </a:solidFill>
              </a:defRPr>
            </a:lvl1pPr>
            <a:lvl2pPr indent="-317500" lvl="1" marL="914400" algn="ctr">
              <a:spcBef>
                <a:spcPts val="1600"/>
              </a:spcBef>
              <a:spcAft>
                <a:spcPts val="0"/>
              </a:spcAft>
              <a:buClr>
                <a:schemeClr val="lt1"/>
              </a:buClr>
              <a:buSzPts val="1400"/>
              <a:buChar char="○"/>
              <a:defRPr>
                <a:solidFill>
                  <a:schemeClr val="lt1"/>
                </a:solidFill>
              </a:defRPr>
            </a:lvl2pPr>
            <a:lvl3pPr indent="-317500" lvl="2" marL="1371600" algn="ctr">
              <a:spcBef>
                <a:spcPts val="1600"/>
              </a:spcBef>
              <a:spcAft>
                <a:spcPts val="0"/>
              </a:spcAft>
              <a:buClr>
                <a:schemeClr val="lt1"/>
              </a:buClr>
              <a:buSzPts val="1400"/>
              <a:buChar char="■"/>
              <a:defRPr>
                <a:solidFill>
                  <a:schemeClr val="lt1"/>
                </a:solidFill>
              </a:defRPr>
            </a:lvl3pPr>
            <a:lvl4pPr indent="-317500" lvl="3" marL="1828800" algn="ctr">
              <a:spcBef>
                <a:spcPts val="1600"/>
              </a:spcBef>
              <a:spcAft>
                <a:spcPts val="0"/>
              </a:spcAft>
              <a:buClr>
                <a:schemeClr val="lt1"/>
              </a:buClr>
              <a:buSzPts val="1400"/>
              <a:buChar char="●"/>
              <a:defRPr>
                <a:solidFill>
                  <a:schemeClr val="lt1"/>
                </a:solidFill>
              </a:defRPr>
            </a:lvl4pPr>
            <a:lvl5pPr indent="-317500" lvl="4" marL="2286000" algn="ctr">
              <a:spcBef>
                <a:spcPts val="1600"/>
              </a:spcBef>
              <a:spcAft>
                <a:spcPts val="0"/>
              </a:spcAft>
              <a:buClr>
                <a:schemeClr val="lt1"/>
              </a:buClr>
              <a:buSzPts val="1400"/>
              <a:buChar char="○"/>
              <a:defRPr>
                <a:solidFill>
                  <a:schemeClr val="lt1"/>
                </a:solidFill>
              </a:defRPr>
            </a:lvl5pPr>
            <a:lvl6pPr indent="-317500" lvl="5" marL="2743200" algn="ctr">
              <a:spcBef>
                <a:spcPts val="1600"/>
              </a:spcBef>
              <a:spcAft>
                <a:spcPts val="0"/>
              </a:spcAft>
              <a:buClr>
                <a:schemeClr val="lt1"/>
              </a:buClr>
              <a:buSzPts val="1400"/>
              <a:buChar char="■"/>
              <a:defRPr>
                <a:solidFill>
                  <a:schemeClr val="lt1"/>
                </a:solidFill>
              </a:defRPr>
            </a:lvl6pPr>
            <a:lvl7pPr indent="-317500" lvl="6" marL="3200400" algn="ctr">
              <a:spcBef>
                <a:spcPts val="1600"/>
              </a:spcBef>
              <a:spcAft>
                <a:spcPts val="0"/>
              </a:spcAft>
              <a:buClr>
                <a:schemeClr val="lt1"/>
              </a:buClr>
              <a:buSzPts val="1400"/>
              <a:buChar char="●"/>
              <a:defRPr>
                <a:solidFill>
                  <a:schemeClr val="lt1"/>
                </a:solidFill>
              </a:defRPr>
            </a:lvl7pPr>
            <a:lvl8pPr indent="-317500" lvl="7" marL="3657600" algn="ctr">
              <a:spcBef>
                <a:spcPts val="1600"/>
              </a:spcBef>
              <a:spcAft>
                <a:spcPts val="0"/>
              </a:spcAft>
              <a:buClr>
                <a:schemeClr val="lt1"/>
              </a:buClr>
              <a:buSzPts val="1400"/>
              <a:buChar char="○"/>
              <a:defRPr>
                <a:solidFill>
                  <a:schemeClr val="lt1"/>
                </a:solidFill>
              </a:defRPr>
            </a:lvl8pPr>
            <a:lvl9pPr indent="-317500" lvl="8" marL="4114800" algn="ctr">
              <a:spcBef>
                <a:spcPts val="1600"/>
              </a:spcBef>
              <a:spcAft>
                <a:spcPts val="1600"/>
              </a:spcAft>
              <a:buClr>
                <a:schemeClr val="lt1"/>
              </a:buClr>
              <a:buSzPts val="1400"/>
              <a:buChar char="■"/>
              <a:defRPr>
                <a:solidFill>
                  <a:schemeClr val="lt1"/>
                </a:solidFill>
              </a:defRPr>
            </a:lvl9pPr>
          </a:lstStyle>
          <a:p/>
        </p:txBody>
      </p:sp>
      <p:sp>
        <p:nvSpPr>
          <p:cNvPr id="51" name="Google Shape;51;p11"/>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2" name="Shape 52"/>
        <p:cNvGrpSpPr/>
        <p:nvPr/>
      </p:nvGrpSpPr>
      <p:grpSpPr>
        <a:xfrm>
          <a:off x="0" y="0"/>
          <a:ext cx="0" cy="0"/>
          <a:chOff x="0" y="0"/>
          <a:chExt cx="0" cy="0"/>
        </a:xfrm>
      </p:grpSpPr>
      <p:sp>
        <p:nvSpPr>
          <p:cNvPr id="53" name="Google Shape;53;p12"/>
          <p:cNvSpPr txBox="1"/>
          <p:nvPr>
            <p:ph idx="12" type="sldNum"/>
          </p:nvPr>
        </p:nvSpPr>
        <p:spPr>
          <a:xfrm>
            <a:off x="8497999" y="4688759"/>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l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6234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lt2"/>
              </a:buClr>
              <a:buSzPts val="1800"/>
              <a:buFont typeface="Source Sans Pro"/>
              <a:buChar char="●"/>
              <a:defRPr sz="1800">
                <a:solidFill>
                  <a:schemeClr val="lt2"/>
                </a:solidFill>
                <a:latin typeface="Source Sans Pro"/>
                <a:ea typeface="Source Sans Pro"/>
                <a:cs typeface="Source Sans Pro"/>
                <a:sym typeface="Source Sans Pro"/>
              </a:defRPr>
            </a:lvl1pPr>
            <a:lvl2pPr indent="-317500" lvl="1" marL="914400">
              <a:lnSpc>
                <a:spcPct val="115000"/>
              </a:lnSpc>
              <a:spcBef>
                <a:spcPts val="160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2pPr>
            <a:lvl3pPr indent="-317500" lvl="2" marL="1371600">
              <a:lnSpc>
                <a:spcPct val="115000"/>
              </a:lnSpc>
              <a:spcBef>
                <a:spcPts val="160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3pPr>
            <a:lvl4pPr indent="-317500" lvl="3" marL="1828800">
              <a:lnSpc>
                <a:spcPct val="115000"/>
              </a:lnSpc>
              <a:spcBef>
                <a:spcPts val="160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4pPr>
            <a:lvl5pPr indent="-317500" lvl="4" marL="2286000">
              <a:lnSpc>
                <a:spcPct val="115000"/>
              </a:lnSpc>
              <a:spcBef>
                <a:spcPts val="160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5pPr>
            <a:lvl6pPr indent="-317500" lvl="5" marL="2743200">
              <a:lnSpc>
                <a:spcPct val="115000"/>
              </a:lnSpc>
              <a:spcBef>
                <a:spcPts val="160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6pPr>
            <a:lvl7pPr indent="-317500" lvl="6" marL="3200400">
              <a:lnSpc>
                <a:spcPct val="115000"/>
              </a:lnSpc>
              <a:spcBef>
                <a:spcPts val="160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7pPr>
            <a:lvl8pPr indent="-317500" lvl="7" marL="3657600">
              <a:lnSpc>
                <a:spcPct val="115000"/>
              </a:lnSpc>
              <a:spcBef>
                <a:spcPts val="1600"/>
              </a:spcBef>
              <a:spcAft>
                <a:spcPts val="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8pPr>
            <a:lvl9pPr indent="-317500" lvl="8" marL="4114800">
              <a:lnSpc>
                <a:spcPct val="115000"/>
              </a:lnSpc>
              <a:spcBef>
                <a:spcPts val="1600"/>
              </a:spcBef>
              <a:spcAft>
                <a:spcPts val="1600"/>
              </a:spcAft>
              <a:buClr>
                <a:schemeClr val="lt2"/>
              </a:buClr>
              <a:buSzPts val="1400"/>
              <a:buFont typeface="Source Sans Pro"/>
              <a:buChar char="■"/>
              <a:defRPr>
                <a:solidFill>
                  <a:schemeClr val="lt2"/>
                </a:solidFill>
                <a:latin typeface="Source Sans Pro"/>
                <a:ea typeface="Source Sans Pro"/>
                <a:cs typeface="Source Sans Pro"/>
                <a:sym typeface="Source Sans Pr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lt2"/>
                </a:solidFill>
                <a:latin typeface="Source Sans Pro"/>
                <a:ea typeface="Source Sans Pro"/>
                <a:cs typeface="Source Sans Pro"/>
                <a:sym typeface="Source Sans Pro"/>
              </a:defRPr>
            </a:lvl1pPr>
            <a:lvl2pPr lvl="1" algn="r">
              <a:buNone/>
              <a:defRPr sz="1000">
                <a:solidFill>
                  <a:schemeClr val="lt2"/>
                </a:solidFill>
                <a:latin typeface="Source Sans Pro"/>
                <a:ea typeface="Source Sans Pro"/>
                <a:cs typeface="Source Sans Pro"/>
                <a:sym typeface="Source Sans Pro"/>
              </a:defRPr>
            </a:lvl2pPr>
            <a:lvl3pPr lvl="2" algn="r">
              <a:buNone/>
              <a:defRPr sz="1000">
                <a:solidFill>
                  <a:schemeClr val="lt2"/>
                </a:solidFill>
                <a:latin typeface="Source Sans Pro"/>
                <a:ea typeface="Source Sans Pro"/>
                <a:cs typeface="Source Sans Pro"/>
                <a:sym typeface="Source Sans Pro"/>
              </a:defRPr>
            </a:lvl3pPr>
            <a:lvl4pPr lvl="3" algn="r">
              <a:buNone/>
              <a:defRPr sz="1000">
                <a:solidFill>
                  <a:schemeClr val="lt2"/>
                </a:solidFill>
                <a:latin typeface="Source Sans Pro"/>
                <a:ea typeface="Source Sans Pro"/>
                <a:cs typeface="Source Sans Pro"/>
                <a:sym typeface="Source Sans Pro"/>
              </a:defRPr>
            </a:lvl4pPr>
            <a:lvl5pPr lvl="4" algn="r">
              <a:buNone/>
              <a:defRPr sz="1000">
                <a:solidFill>
                  <a:schemeClr val="lt2"/>
                </a:solidFill>
                <a:latin typeface="Source Sans Pro"/>
                <a:ea typeface="Source Sans Pro"/>
                <a:cs typeface="Source Sans Pro"/>
                <a:sym typeface="Source Sans Pro"/>
              </a:defRPr>
            </a:lvl5pPr>
            <a:lvl6pPr lvl="5" algn="r">
              <a:buNone/>
              <a:defRPr sz="1000">
                <a:solidFill>
                  <a:schemeClr val="lt2"/>
                </a:solidFill>
                <a:latin typeface="Source Sans Pro"/>
                <a:ea typeface="Source Sans Pro"/>
                <a:cs typeface="Source Sans Pro"/>
                <a:sym typeface="Source Sans Pro"/>
              </a:defRPr>
            </a:lvl6pPr>
            <a:lvl7pPr lvl="6" algn="r">
              <a:buNone/>
              <a:defRPr sz="1000">
                <a:solidFill>
                  <a:schemeClr val="lt2"/>
                </a:solidFill>
                <a:latin typeface="Source Sans Pro"/>
                <a:ea typeface="Source Sans Pro"/>
                <a:cs typeface="Source Sans Pro"/>
                <a:sym typeface="Source Sans Pro"/>
              </a:defRPr>
            </a:lvl7pPr>
            <a:lvl8pPr lvl="7" algn="r">
              <a:buNone/>
              <a:defRPr sz="1000">
                <a:solidFill>
                  <a:schemeClr val="lt2"/>
                </a:solidFill>
                <a:latin typeface="Source Sans Pro"/>
                <a:ea typeface="Source Sans Pro"/>
                <a:cs typeface="Source Sans Pro"/>
                <a:sym typeface="Source Sans Pro"/>
              </a:defRPr>
            </a:lvl8pPr>
            <a:lvl9pPr lvl="8" algn="r">
              <a:buNone/>
              <a:defRPr sz="1000">
                <a:solidFill>
                  <a:schemeClr val="lt2"/>
                </a:solidFill>
                <a:latin typeface="Source Sans Pro"/>
                <a:ea typeface="Source Sans Pro"/>
                <a:cs typeface="Source Sans Pro"/>
                <a:sym typeface="Source Sans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1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 name="Shape 57"/>
        <p:cNvGrpSpPr/>
        <p:nvPr/>
      </p:nvGrpSpPr>
      <p:grpSpPr>
        <a:xfrm>
          <a:off x="0" y="0"/>
          <a:ext cx="0" cy="0"/>
          <a:chOff x="0" y="0"/>
          <a:chExt cx="0" cy="0"/>
        </a:xfrm>
      </p:grpSpPr>
      <p:sp>
        <p:nvSpPr>
          <p:cNvPr id="58" name="Google Shape;58;p13"/>
          <p:cNvSpPr txBox="1"/>
          <p:nvPr>
            <p:ph type="ctrTitle"/>
          </p:nvPr>
        </p:nvSpPr>
        <p:spPr>
          <a:xfrm>
            <a:off x="485875" y="264475"/>
            <a:ext cx="8183700" cy="1473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CST462s: Research Methods</a:t>
            </a:r>
            <a:endParaRPr/>
          </a:p>
        </p:txBody>
      </p:sp>
      <p:sp>
        <p:nvSpPr>
          <p:cNvPr id="59" name="Google Shape;59;p13"/>
          <p:cNvSpPr txBox="1"/>
          <p:nvPr>
            <p:ph idx="1" type="subTitle"/>
          </p:nvPr>
        </p:nvSpPr>
        <p:spPr>
          <a:xfrm>
            <a:off x="485875" y="1738075"/>
            <a:ext cx="8183700" cy="861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Definition, Process, and Relevant Methods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4"/>
          <p:cNvSpPr txBox="1"/>
          <p:nvPr>
            <p:ph type="title"/>
          </p:nvPr>
        </p:nvSpPr>
        <p:spPr>
          <a:xfrm>
            <a:off x="311700" y="445025"/>
            <a:ext cx="8520600" cy="6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Today’s Topics</a:t>
            </a:r>
            <a:endParaRPr/>
          </a:p>
        </p:txBody>
      </p:sp>
      <p:sp>
        <p:nvSpPr>
          <p:cNvPr id="65" name="Google Shape;65;p14"/>
          <p:cNvSpPr txBox="1"/>
          <p:nvPr>
            <p:ph idx="1" type="body"/>
          </p:nvPr>
        </p:nvSpPr>
        <p:spPr>
          <a:xfrm>
            <a:off x="236575" y="1152475"/>
            <a:ext cx="4387800" cy="3416400"/>
          </a:xfrm>
          <a:prstGeom prst="rect">
            <a:avLst/>
          </a:prstGeom>
        </p:spPr>
        <p:txBody>
          <a:bodyPr anchorCtr="0" anchor="t" bIns="91425" lIns="91425" spcFirstLastPara="1" rIns="91425" wrap="square" tIns="91425">
            <a:noAutofit/>
          </a:bodyPr>
          <a:lstStyle/>
          <a:p>
            <a:pPr indent="-381000" lvl="0" marL="457200" marR="0" rtl="0" algn="l">
              <a:lnSpc>
                <a:spcPct val="115000"/>
              </a:lnSpc>
              <a:spcBef>
                <a:spcPts val="0"/>
              </a:spcBef>
              <a:spcAft>
                <a:spcPts val="0"/>
              </a:spcAft>
              <a:buClr>
                <a:schemeClr val="lt2"/>
              </a:buClr>
              <a:buSzPts val="2400"/>
              <a:buFont typeface="Source Sans Pro"/>
              <a:buChar char="●"/>
            </a:pPr>
            <a:r>
              <a:rPr lang="en" sz="2400"/>
              <a:t>Definition of research</a:t>
            </a:r>
            <a:endParaRPr sz="2400"/>
          </a:p>
          <a:p>
            <a:pPr indent="-381000" lvl="0" marL="457200" marR="0" rtl="0" algn="l">
              <a:lnSpc>
                <a:spcPct val="115000"/>
              </a:lnSpc>
              <a:spcBef>
                <a:spcPts val="0"/>
              </a:spcBef>
              <a:spcAft>
                <a:spcPts val="0"/>
              </a:spcAft>
              <a:buSzPts val="2400"/>
              <a:buChar char="●"/>
            </a:pPr>
            <a:r>
              <a:rPr lang="en" sz="2400"/>
              <a:t>Types of research</a:t>
            </a:r>
            <a:endParaRPr sz="2400"/>
          </a:p>
          <a:p>
            <a:pPr indent="-381000" lvl="0" marL="457200" marR="0" rtl="0" algn="l">
              <a:lnSpc>
                <a:spcPct val="115000"/>
              </a:lnSpc>
              <a:spcBef>
                <a:spcPts val="0"/>
              </a:spcBef>
              <a:spcAft>
                <a:spcPts val="0"/>
              </a:spcAft>
              <a:buSzPts val="2400"/>
              <a:buChar char="●"/>
            </a:pPr>
            <a:r>
              <a:rPr lang="en" sz="2400"/>
              <a:t>Research questions</a:t>
            </a:r>
            <a:endParaRPr sz="2400"/>
          </a:p>
          <a:p>
            <a:pPr indent="-381000" lvl="0" marL="457200" marR="0" rtl="0" algn="l">
              <a:lnSpc>
                <a:spcPct val="115000"/>
              </a:lnSpc>
              <a:spcBef>
                <a:spcPts val="0"/>
              </a:spcBef>
              <a:spcAft>
                <a:spcPts val="0"/>
              </a:spcAft>
              <a:buSzPts val="2400"/>
              <a:buChar char="●"/>
            </a:pPr>
            <a:r>
              <a:rPr lang="en" sz="2400"/>
              <a:t>Significance of research</a:t>
            </a:r>
            <a:endParaRPr sz="2400"/>
          </a:p>
          <a:p>
            <a:pPr indent="-381000" lvl="0" marL="457200" marR="0" rtl="0" algn="l">
              <a:lnSpc>
                <a:spcPct val="115000"/>
              </a:lnSpc>
              <a:spcBef>
                <a:spcPts val="0"/>
              </a:spcBef>
              <a:spcAft>
                <a:spcPts val="0"/>
              </a:spcAft>
              <a:buSzPts val="2400"/>
              <a:buChar char="●"/>
            </a:pPr>
            <a:r>
              <a:rPr lang="en" sz="2400"/>
              <a:t>Research Process</a:t>
            </a:r>
            <a:endParaRPr sz="2400"/>
          </a:p>
          <a:p>
            <a:pPr indent="-381000" lvl="0" marL="457200" marR="0" rtl="0" algn="l">
              <a:lnSpc>
                <a:spcPct val="115000"/>
              </a:lnSpc>
              <a:spcBef>
                <a:spcPts val="0"/>
              </a:spcBef>
              <a:spcAft>
                <a:spcPts val="0"/>
              </a:spcAft>
              <a:buSzPts val="2400"/>
              <a:buChar char="●"/>
            </a:pPr>
            <a:r>
              <a:rPr lang="en" sz="2400"/>
              <a:t>Data collection</a:t>
            </a:r>
            <a:endParaRPr sz="2400"/>
          </a:p>
        </p:txBody>
      </p:sp>
      <p:pic>
        <p:nvPicPr>
          <p:cNvPr id="66" name="Google Shape;66;p14"/>
          <p:cNvPicPr preferRelativeResize="0"/>
          <p:nvPr/>
        </p:nvPicPr>
        <p:blipFill>
          <a:blip r:embed="rId3">
            <a:alphaModFix/>
          </a:blip>
          <a:stretch>
            <a:fillRect/>
          </a:stretch>
        </p:blipFill>
        <p:spPr>
          <a:xfrm>
            <a:off x="4776775" y="1220825"/>
            <a:ext cx="2629275" cy="26292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5"/>
          <p:cNvSpPr txBox="1"/>
          <p:nvPr>
            <p:ph type="title"/>
          </p:nvPr>
        </p:nvSpPr>
        <p:spPr>
          <a:xfrm>
            <a:off x="265500" y="240625"/>
            <a:ext cx="4045200" cy="4549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400"/>
              <a:t>Research </a:t>
            </a:r>
            <a:r>
              <a:rPr b="0" lang="en" sz="2400"/>
              <a:t>is a process used to collect and analyze information to increase our understanding of a topic or an issue.</a:t>
            </a:r>
            <a:endParaRPr b="0" sz="2400"/>
          </a:p>
          <a:p>
            <a:pPr indent="0" lvl="0" marL="0" rtl="0" algn="l">
              <a:spcBef>
                <a:spcPts val="0"/>
              </a:spcBef>
              <a:spcAft>
                <a:spcPts val="0"/>
              </a:spcAft>
              <a:buNone/>
            </a:pPr>
            <a:r>
              <a:t/>
            </a:r>
            <a:endParaRPr b="0" sz="2400"/>
          </a:p>
          <a:p>
            <a:pPr indent="0" lvl="0" marL="0" rtl="0" algn="l">
              <a:spcBef>
                <a:spcPts val="0"/>
              </a:spcBef>
              <a:spcAft>
                <a:spcPts val="0"/>
              </a:spcAft>
              <a:buNone/>
            </a:pPr>
            <a:r>
              <a:rPr b="0" lang="en" sz="2400" u="sng"/>
              <a:t>Re</a:t>
            </a:r>
            <a:r>
              <a:rPr b="0" lang="en" sz="2400"/>
              <a:t>: Again</a:t>
            </a:r>
            <a:endParaRPr b="0" sz="2400"/>
          </a:p>
          <a:p>
            <a:pPr indent="0" lvl="0" marL="0" rtl="0" algn="l">
              <a:spcBef>
                <a:spcPts val="0"/>
              </a:spcBef>
              <a:spcAft>
                <a:spcPts val="0"/>
              </a:spcAft>
              <a:buNone/>
            </a:pPr>
            <a:r>
              <a:rPr b="0" lang="en" sz="2400" u="sng"/>
              <a:t>Search</a:t>
            </a:r>
            <a:r>
              <a:rPr b="0" lang="en" sz="2400"/>
              <a:t>: Find</a:t>
            </a:r>
            <a:endParaRPr b="0" sz="2400"/>
          </a:p>
        </p:txBody>
      </p:sp>
      <p:sp>
        <p:nvSpPr>
          <p:cNvPr id="72" name="Google Shape;72;p15"/>
          <p:cNvSpPr txBox="1"/>
          <p:nvPr>
            <p:ph idx="2" type="body"/>
          </p:nvPr>
        </p:nvSpPr>
        <p:spPr>
          <a:xfrm>
            <a:off x="4685625" y="1129825"/>
            <a:ext cx="4458300" cy="3464700"/>
          </a:xfrm>
          <a:prstGeom prst="rect">
            <a:avLst/>
          </a:prstGeom>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2100"/>
              <a:t>It consists of three steps:</a:t>
            </a:r>
            <a:endParaRPr b="1" sz="2100"/>
          </a:p>
          <a:p>
            <a:pPr indent="0" lvl="0" marL="0" marR="0" rtl="0" algn="l">
              <a:lnSpc>
                <a:spcPct val="115000"/>
              </a:lnSpc>
              <a:spcBef>
                <a:spcPts val="1600"/>
              </a:spcBef>
              <a:spcAft>
                <a:spcPts val="0"/>
              </a:spcAft>
              <a:buNone/>
            </a:pPr>
            <a:r>
              <a:rPr b="1" lang="en" sz="2100"/>
              <a:t>1) Pose a research question</a:t>
            </a:r>
            <a:endParaRPr b="1" sz="2100"/>
          </a:p>
          <a:p>
            <a:pPr indent="0" lvl="0" marL="0" marR="0" rtl="0" algn="l">
              <a:lnSpc>
                <a:spcPct val="115000"/>
              </a:lnSpc>
              <a:spcBef>
                <a:spcPts val="1600"/>
              </a:spcBef>
              <a:spcAft>
                <a:spcPts val="0"/>
              </a:spcAft>
              <a:buNone/>
            </a:pPr>
            <a:r>
              <a:rPr b="1" lang="en" sz="2100"/>
              <a:t>2) Collect data to answer the question</a:t>
            </a:r>
            <a:endParaRPr b="1" sz="2100"/>
          </a:p>
          <a:p>
            <a:pPr indent="0" lvl="0" marL="0" marR="0" rtl="0" algn="l">
              <a:lnSpc>
                <a:spcPct val="115000"/>
              </a:lnSpc>
              <a:spcBef>
                <a:spcPts val="1600"/>
              </a:spcBef>
              <a:spcAft>
                <a:spcPts val="0"/>
              </a:spcAft>
              <a:buNone/>
            </a:pPr>
            <a:r>
              <a:rPr b="1" lang="en" sz="2100"/>
              <a:t>3) Present an answer to the question</a:t>
            </a:r>
            <a:endParaRPr b="1" sz="2100"/>
          </a:p>
          <a:p>
            <a:pPr indent="0" lvl="0" marL="0" rtl="0" algn="l">
              <a:spcBef>
                <a:spcPts val="160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6"/>
          <p:cNvSpPr txBox="1"/>
          <p:nvPr>
            <p:ph type="title"/>
          </p:nvPr>
        </p:nvSpPr>
        <p:spPr>
          <a:xfrm>
            <a:off x="429375" y="0"/>
            <a:ext cx="2808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Applied Research</a:t>
            </a:r>
            <a:endParaRPr/>
          </a:p>
        </p:txBody>
      </p:sp>
      <p:sp>
        <p:nvSpPr>
          <p:cNvPr id="78" name="Google Shape;78;p16"/>
          <p:cNvSpPr txBox="1"/>
          <p:nvPr>
            <p:ph idx="1" type="body"/>
          </p:nvPr>
        </p:nvSpPr>
        <p:spPr>
          <a:xfrm>
            <a:off x="176425" y="896300"/>
            <a:ext cx="3891000" cy="38088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rgbClr val="222222"/>
              </a:buClr>
              <a:buSzPts val="1200"/>
              <a:buFont typeface="Arial"/>
              <a:buChar char="●"/>
            </a:pPr>
            <a:r>
              <a:rPr lang="en">
                <a:solidFill>
                  <a:srgbClr val="222222"/>
                </a:solidFill>
                <a:highlight>
                  <a:srgbClr val="FFFFFF"/>
                </a:highlight>
                <a:latin typeface="Arial"/>
                <a:ea typeface="Arial"/>
                <a:cs typeface="Arial"/>
                <a:sym typeface="Arial"/>
              </a:rPr>
              <a:t>Applied research is designed to solve practical problem of the modern world. </a:t>
            </a:r>
            <a:endParaRPr>
              <a:solidFill>
                <a:srgbClr val="222222"/>
              </a:solidFill>
              <a:highlight>
                <a:srgbClr val="FFFFFF"/>
              </a:highlight>
              <a:latin typeface="Arial"/>
              <a:ea typeface="Arial"/>
              <a:cs typeface="Arial"/>
              <a:sym typeface="Arial"/>
            </a:endParaRPr>
          </a:p>
          <a:p>
            <a:pPr indent="-304800" lvl="0" marL="457200" rtl="0" algn="l">
              <a:spcBef>
                <a:spcPts val="0"/>
              </a:spcBef>
              <a:spcAft>
                <a:spcPts val="0"/>
              </a:spcAft>
              <a:buClr>
                <a:srgbClr val="222222"/>
              </a:buClr>
              <a:buSzPts val="1200"/>
              <a:buFont typeface="Arial"/>
              <a:buChar char="●"/>
            </a:pPr>
            <a:r>
              <a:rPr lang="en">
                <a:solidFill>
                  <a:srgbClr val="222222"/>
                </a:solidFill>
                <a:highlight>
                  <a:srgbClr val="FFFFFF"/>
                </a:highlight>
                <a:latin typeface="Arial"/>
                <a:ea typeface="Arial"/>
                <a:cs typeface="Arial"/>
                <a:sym typeface="Arial"/>
              </a:rPr>
              <a:t>The goal is to improve the human condition. </a:t>
            </a:r>
            <a:endParaRPr>
              <a:solidFill>
                <a:srgbClr val="222222"/>
              </a:solidFill>
              <a:highlight>
                <a:srgbClr val="FFFFFF"/>
              </a:highlight>
              <a:latin typeface="Arial"/>
              <a:ea typeface="Arial"/>
              <a:cs typeface="Arial"/>
              <a:sym typeface="Arial"/>
            </a:endParaRPr>
          </a:p>
          <a:p>
            <a:pPr indent="-304800" lvl="0" marL="457200" rtl="0" algn="l">
              <a:spcBef>
                <a:spcPts val="0"/>
              </a:spcBef>
              <a:spcAft>
                <a:spcPts val="0"/>
              </a:spcAft>
              <a:buClr>
                <a:srgbClr val="222222"/>
              </a:buClr>
              <a:buSzPts val="1200"/>
              <a:buFont typeface="Arial"/>
              <a:buChar char="●"/>
            </a:pPr>
            <a:r>
              <a:rPr lang="en">
                <a:solidFill>
                  <a:srgbClr val="222222"/>
                </a:solidFill>
                <a:highlight>
                  <a:srgbClr val="FFFFFF"/>
                </a:highlight>
                <a:latin typeface="Arial"/>
                <a:ea typeface="Arial"/>
                <a:cs typeface="Arial"/>
                <a:sym typeface="Arial"/>
              </a:rPr>
              <a:t>It focuses on analysis and solving social and real life problems.</a:t>
            </a:r>
            <a:endParaRPr>
              <a:solidFill>
                <a:srgbClr val="222222"/>
              </a:solidFill>
              <a:highlight>
                <a:srgbClr val="FFFFFF"/>
              </a:highlight>
              <a:latin typeface="Arial"/>
              <a:ea typeface="Arial"/>
              <a:cs typeface="Arial"/>
              <a:sym typeface="Arial"/>
            </a:endParaRPr>
          </a:p>
          <a:p>
            <a:pPr indent="-304800" lvl="0" marL="457200" rtl="0" algn="l">
              <a:spcBef>
                <a:spcPts val="0"/>
              </a:spcBef>
              <a:spcAft>
                <a:spcPts val="0"/>
              </a:spcAft>
              <a:buClr>
                <a:srgbClr val="222222"/>
              </a:buClr>
              <a:buSzPts val="1200"/>
              <a:buFont typeface="Arial"/>
              <a:buChar char="●"/>
            </a:pPr>
            <a:r>
              <a:rPr lang="en">
                <a:solidFill>
                  <a:srgbClr val="222222"/>
                </a:solidFill>
                <a:highlight>
                  <a:srgbClr val="FFFFFF"/>
                </a:highlight>
                <a:latin typeface="Arial"/>
                <a:ea typeface="Arial"/>
                <a:cs typeface="Arial"/>
                <a:sym typeface="Arial"/>
              </a:rPr>
              <a:t>Eg.: increase corn production, improve home energy efficiency, decrease </a:t>
            </a:r>
            <a:r>
              <a:rPr lang="en">
                <a:solidFill>
                  <a:srgbClr val="222222"/>
                </a:solidFill>
                <a:highlight>
                  <a:srgbClr val="FFFFFF"/>
                </a:highlight>
                <a:latin typeface="Arial"/>
                <a:ea typeface="Arial"/>
                <a:cs typeface="Arial"/>
                <a:sym typeface="Arial"/>
              </a:rPr>
              <a:t>inequality</a:t>
            </a:r>
            <a:r>
              <a:rPr lang="en">
                <a:solidFill>
                  <a:srgbClr val="222222"/>
                </a:solidFill>
                <a:highlight>
                  <a:srgbClr val="FFFFFF"/>
                </a:highlight>
                <a:latin typeface="Arial"/>
                <a:ea typeface="Arial"/>
                <a:cs typeface="Arial"/>
                <a:sym typeface="Arial"/>
              </a:rPr>
              <a:t> in housing market, increase number of girls in STEM fields,  …</a:t>
            </a:r>
            <a:endParaRPr>
              <a:solidFill>
                <a:srgbClr val="222222"/>
              </a:solidFill>
              <a:highlight>
                <a:srgbClr val="FFFFFF"/>
              </a:highlight>
              <a:latin typeface="Arial"/>
              <a:ea typeface="Arial"/>
              <a:cs typeface="Arial"/>
              <a:sym typeface="Arial"/>
            </a:endParaRPr>
          </a:p>
          <a:p>
            <a:pPr indent="0" lvl="0" marL="0" rtl="0" algn="l">
              <a:spcBef>
                <a:spcPts val="1600"/>
              </a:spcBef>
              <a:spcAft>
                <a:spcPts val="0"/>
              </a:spcAft>
              <a:buNone/>
            </a:pPr>
            <a:r>
              <a:rPr lang="en">
                <a:solidFill>
                  <a:srgbClr val="222222"/>
                </a:solidFill>
                <a:highlight>
                  <a:srgbClr val="FFFFFF"/>
                </a:highlight>
                <a:latin typeface="Arial"/>
                <a:ea typeface="Arial"/>
                <a:cs typeface="Arial"/>
                <a:sym typeface="Arial"/>
              </a:rPr>
              <a:t>Applied research can be further classified, a relevant </a:t>
            </a:r>
            <a:r>
              <a:rPr lang="en">
                <a:solidFill>
                  <a:srgbClr val="222222"/>
                </a:solidFill>
                <a:highlight>
                  <a:srgbClr val="FFFFFF"/>
                </a:highlight>
                <a:latin typeface="Arial"/>
                <a:ea typeface="Arial"/>
                <a:cs typeface="Arial"/>
                <a:sym typeface="Arial"/>
              </a:rPr>
              <a:t>category</a:t>
            </a:r>
            <a:r>
              <a:rPr lang="en">
                <a:solidFill>
                  <a:srgbClr val="222222"/>
                </a:solidFill>
                <a:highlight>
                  <a:srgbClr val="FFFFFF"/>
                </a:highlight>
                <a:latin typeface="Arial"/>
                <a:ea typeface="Arial"/>
                <a:cs typeface="Arial"/>
                <a:sym typeface="Arial"/>
              </a:rPr>
              <a:t>: </a:t>
            </a:r>
            <a:endParaRPr>
              <a:solidFill>
                <a:srgbClr val="222222"/>
              </a:solidFill>
              <a:highlight>
                <a:srgbClr val="FFFFFF"/>
              </a:highlight>
              <a:latin typeface="Arial"/>
              <a:ea typeface="Arial"/>
              <a:cs typeface="Arial"/>
              <a:sym typeface="Arial"/>
            </a:endParaRPr>
          </a:p>
          <a:p>
            <a:pPr indent="-304800" lvl="0" marL="457200" rtl="0" algn="l">
              <a:spcBef>
                <a:spcPts val="1600"/>
              </a:spcBef>
              <a:spcAft>
                <a:spcPts val="0"/>
              </a:spcAft>
              <a:buClr>
                <a:srgbClr val="222222"/>
              </a:buClr>
              <a:buSzPts val="1200"/>
              <a:buFont typeface="Arial"/>
              <a:buChar char="●"/>
            </a:pPr>
            <a:r>
              <a:rPr lang="en">
                <a:solidFill>
                  <a:srgbClr val="222222"/>
                </a:solidFill>
                <a:highlight>
                  <a:srgbClr val="FFFFFF"/>
                </a:highlight>
                <a:latin typeface="Arial"/>
                <a:ea typeface="Arial"/>
                <a:cs typeface="Arial"/>
                <a:sym typeface="Arial"/>
              </a:rPr>
              <a:t>Problem oriented research: sorting out problems to reach a conclusive finding to identify what is the exact problem </a:t>
            </a:r>
            <a:endParaRPr>
              <a:solidFill>
                <a:srgbClr val="222222"/>
              </a:solidFill>
              <a:highlight>
                <a:srgbClr val="FFFFFF"/>
              </a:highlight>
              <a:latin typeface="Arial"/>
              <a:ea typeface="Arial"/>
              <a:cs typeface="Arial"/>
              <a:sym typeface="Arial"/>
            </a:endParaRPr>
          </a:p>
          <a:p>
            <a:pPr indent="0" lvl="0" marL="457200" rtl="0" algn="l">
              <a:spcBef>
                <a:spcPts val="1600"/>
              </a:spcBef>
              <a:spcAft>
                <a:spcPts val="0"/>
              </a:spcAft>
              <a:buNone/>
            </a:pPr>
            <a:r>
              <a:t/>
            </a:r>
            <a:endParaRPr>
              <a:solidFill>
                <a:srgbClr val="222222"/>
              </a:solidFill>
              <a:highlight>
                <a:srgbClr val="FFFFFF"/>
              </a:highlight>
              <a:latin typeface="Arial"/>
              <a:ea typeface="Arial"/>
              <a:cs typeface="Arial"/>
              <a:sym typeface="Arial"/>
            </a:endParaRPr>
          </a:p>
          <a:p>
            <a:pPr indent="0" lvl="0" marL="0" rtl="0" algn="l">
              <a:spcBef>
                <a:spcPts val="1600"/>
              </a:spcBef>
              <a:spcAft>
                <a:spcPts val="1600"/>
              </a:spcAft>
              <a:buNone/>
            </a:pPr>
            <a:r>
              <a:t/>
            </a:r>
            <a:endParaRPr sz="1600"/>
          </a:p>
        </p:txBody>
      </p:sp>
      <p:pic>
        <p:nvPicPr>
          <p:cNvPr id="79" name="Google Shape;79;p16"/>
          <p:cNvPicPr preferRelativeResize="0"/>
          <p:nvPr/>
        </p:nvPicPr>
        <p:blipFill>
          <a:blip r:embed="rId3">
            <a:alphaModFix/>
          </a:blip>
          <a:stretch>
            <a:fillRect/>
          </a:stretch>
        </p:blipFill>
        <p:spPr>
          <a:xfrm>
            <a:off x="4159650" y="573500"/>
            <a:ext cx="4642150" cy="34771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7"/>
          <p:cNvSpPr txBox="1"/>
          <p:nvPr>
            <p:ph type="title"/>
          </p:nvPr>
        </p:nvSpPr>
        <p:spPr>
          <a:xfrm>
            <a:off x="265500" y="240625"/>
            <a:ext cx="4045200" cy="4549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400"/>
              <a:t>Qualitative Research: </a:t>
            </a:r>
            <a:r>
              <a:rPr b="0" lang="en" sz="1800"/>
              <a:t>is used for collecting, analyzing, and interpreting data by observing what people do and say. It is much more subjective and uses different data collection methods. The nature of this type of research is exploratory and open ended. </a:t>
            </a:r>
            <a:endParaRPr b="0" sz="1800"/>
          </a:p>
        </p:txBody>
      </p:sp>
      <p:sp>
        <p:nvSpPr>
          <p:cNvPr id="85" name="Google Shape;85;p17"/>
          <p:cNvSpPr txBox="1"/>
          <p:nvPr>
            <p:ph idx="2" type="body"/>
          </p:nvPr>
        </p:nvSpPr>
        <p:spPr>
          <a:xfrm>
            <a:off x="4685625" y="1129825"/>
            <a:ext cx="4458300" cy="3464700"/>
          </a:xfrm>
          <a:prstGeom prst="rect">
            <a:avLst/>
          </a:prstGeom>
        </p:spPr>
        <p:txBody>
          <a:bodyPr anchorCtr="0" anchor="ctr" bIns="91425" lIns="91425" spcFirstLastPara="1" rIns="91425" wrap="square" tIns="91425">
            <a:noAutofit/>
          </a:bodyPr>
          <a:lstStyle/>
          <a:p>
            <a:pPr indent="0" lvl="0" marL="0" marR="0" rtl="0" algn="l">
              <a:lnSpc>
                <a:spcPct val="115000"/>
              </a:lnSpc>
              <a:spcBef>
                <a:spcPts val="0"/>
              </a:spcBef>
              <a:spcAft>
                <a:spcPts val="0"/>
              </a:spcAft>
              <a:buNone/>
            </a:pPr>
            <a:r>
              <a:rPr b="1" lang="en" sz="2100"/>
              <a:t>For example:</a:t>
            </a:r>
            <a:endParaRPr b="1" sz="2100"/>
          </a:p>
          <a:p>
            <a:pPr indent="0" lvl="0" marL="0" marR="0" rtl="0" algn="l">
              <a:lnSpc>
                <a:spcPct val="115000"/>
              </a:lnSpc>
              <a:spcBef>
                <a:spcPts val="1600"/>
              </a:spcBef>
              <a:spcAft>
                <a:spcPts val="0"/>
              </a:spcAft>
              <a:buNone/>
            </a:pPr>
            <a:r>
              <a:rPr b="1" lang="en" sz="2100"/>
              <a:t>1) Phenomenology</a:t>
            </a:r>
            <a:endParaRPr b="1" sz="2100"/>
          </a:p>
          <a:p>
            <a:pPr indent="0" lvl="0" marL="0" marR="0" rtl="0" algn="l">
              <a:lnSpc>
                <a:spcPct val="115000"/>
              </a:lnSpc>
              <a:spcBef>
                <a:spcPts val="1600"/>
              </a:spcBef>
              <a:spcAft>
                <a:spcPts val="0"/>
              </a:spcAft>
              <a:buNone/>
            </a:pPr>
            <a:r>
              <a:rPr b="1" lang="en" sz="2100"/>
              <a:t>2) Ethnography</a:t>
            </a:r>
            <a:endParaRPr b="1" sz="2100"/>
          </a:p>
          <a:p>
            <a:pPr indent="0" lvl="0" marL="0" marR="0" rtl="0" algn="l">
              <a:lnSpc>
                <a:spcPct val="115000"/>
              </a:lnSpc>
              <a:spcBef>
                <a:spcPts val="1600"/>
              </a:spcBef>
              <a:spcAft>
                <a:spcPts val="0"/>
              </a:spcAft>
              <a:buNone/>
            </a:pPr>
            <a:r>
              <a:rPr b="1" lang="en" sz="2100"/>
              <a:t>3) Case study</a:t>
            </a:r>
            <a:endParaRPr b="1" sz="2100"/>
          </a:p>
          <a:p>
            <a:pPr indent="0" lvl="0" marL="0" rtl="0" algn="l">
              <a:spcBef>
                <a:spcPts val="1600"/>
              </a:spcBef>
              <a:spcAft>
                <a:spcPts val="16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8"/>
          <p:cNvSpPr txBox="1"/>
          <p:nvPr>
            <p:ph type="title"/>
          </p:nvPr>
        </p:nvSpPr>
        <p:spPr>
          <a:xfrm>
            <a:off x="429375" y="0"/>
            <a:ext cx="28080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Phenomenology</a:t>
            </a:r>
            <a:endParaRPr/>
          </a:p>
        </p:txBody>
      </p:sp>
      <p:sp>
        <p:nvSpPr>
          <p:cNvPr id="91" name="Google Shape;91;p18"/>
          <p:cNvSpPr txBox="1"/>
          <p:nvPr>
            <p:ph idx="1" type="body"/>
          </p:nvPr>
        </p:nvSpPr>
        <p:spPr>
          <a:xfrm>
            <a:off x="0" y="896300"/>
            <a:ext cx="8867700" cy="38088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rgbClr val="222222"/>
              </a:buClr>
              <a:buSzPts val="1800"/>
              <a:buFont typeface="Arial"/>
              <a:buChar char="●"/>
            </a:pPr>
            <a:r>
              <a:rPr lang="en" sz="1800">
                <a:solidFill>
                  <a:srgbClr val="222222"/>
                </a:solidFill>
                <a:highlight>
                  <a:srgbClr val="FFFFFF"/>
                </a:highlight>
                <a:latin typeface="Arial"/>
                <a:ea typeface="Arial"/>
                <a:cs typeface="Arial"/>
                <a:sym typeface="Arial"/>
              </a:rPr>
              <a:t>Focuses on the commonality of a lived experience within a particular group. </a:t>
            </a:r>
            <a:endParaRPr sz="1800">
              <a:solidFill>
                <a:srgbClr val="222222"/>
              </a:solidFill>
              <a:highlight>
                <a:srgbClr val="FFFFFF"/>
              </a:highlight>
              <a:latin typeface="Arial"/>
              <a:ea typeface="Arial"/>
              <a:cs typeface="Arial"/>
              <a:sym typeface="Arial"/>
            </a:endParaRPr>
          </a:p>
          <a:p>
            <a:pPr indent="-342900" lvl="0" marL="457200" marR="0" rtl="0" algn="l">
              <a:lnSpc>
                <a:spcPct val="115000"/>
              </a:lnSpc>
              <a:spcBef>
                <a:spcPts val="0"/>
              </a:spcBef>
              <a:spcAft>
                <a:spcPts val="0"/>
              </a:spcAft>
              <a:buClr>
                <a:srgbClr val="222222"/>
              </a:buClr>
              <a:buSzPts val="1800"/>
              <a:buFont typeface="Arial"/>
              <a:buChar char="●"/>
            </a:pPr>
            <a:r>
              <a:rPr lang="en" sz="1800">
                <a:solidFill>
                  <a:srgbClr val="222222"/>
                </a:solidFill>
                <a:highlight>
                  <a:srgbClr val="FFFFFF"/>
                </a:highlight>
                <a:latin typeface="Arial"/>
                <a:ea typeface="Arial"/>
                <a:cs typeface="Arial"/>
                <a:sym typeface="Arial"/>
              </a:rPr>
              <a:t>The fundamental goal of the approach is to arrive at a description of the nature of the particular phenomenon (Creswell, 2013). </a:t>
            </a:r>
            <a:endParaRPr sz="1800">
              <a:solidFill>
                <a:srgbClr val="222222"/>
              </a:solidFill>
              <a:highlight>
                <a:srgbClr val="FFFFFF"/>
              </a:highlight>
              <a:latin typeface="Arial"/>
              <a:ea typeface="Arial"/>
              <a:cs typeface="Arial"/>
              <a:sym typeface="Arial"/>
            </a:endParaRPr>
          </a:p>
          <a:p>
            <a:pPr indent="-342900" lvl="0" marL="457200" marR="0" rtl="0" algn="l">
              <a:lnSpc>
                <a:spcPct val="115000"/>
              </a:lnSpc>
              <a:spcBef>
                <a:spcPts val="0"/>
              </a:spcBef>
              <a:spcAft>
                <a:spcPts val="0"/>
              </a:spcAft>
              <a:buClr>
                <a:srgbClr val="222222"/>
              </a:buClr>
              <a:buSzPts val="1800"/>
              <a:buFont typeface="Arial"/>
              <a:buChar char="●"/>
            </a:pPr>
            <a:r>
              <a:rPr lang="en" sz="1800">
                <a:solidFill>
                  <a:srgbClr val="222222"/>
                </a:solidFill>
                <a:highlight>
                  <a:srgbClr val="FFFFFF"/>
                </a:highlight>
                <a:latin typeface="Arial"/>
                <a:ea typeface="Arial"/>
                <a:cs typeface="Arial"/>
                <a:sym typeface="Arial"/>
              </a:rPr>
              <a:t>Typically, interviews are conducted with a group of individuals who have first-hand knowledge of the situation or experience. </a:t>
            </a:r>
            <a:endParaRPr sz="1800">
              <a:solidFill>
                <a:srgbClr val="222222"/>
              </a:solidFill>
              <a:highlight>
                <a:srgbClr val="FFFFFF"/>
              </a:highlight>
              <a:latin typeface="Arial"/>
              <a:ea typeface="Arial"/>
              <a:cs typeface="Arial"/>
              <a:sym typeface="Arial"/>
            </a:endParaRPr>
          </a:p>
          <a:p>
            <a:pPr indent="-342900" lvl="0" marL="457200" marR="0" rtl="0" algn="l">
              <a:lnSpc>
                <a:spcPct val="115000"/>
              </a:lnSpc>
              <a:spcBef>
                <a:spcPts val="0"/>
              </a:spcBef>
              <a:spcAft>
                <a:spcPts val="0"/>
              </a:spcAft>
              <a:buClr>
                <a:srgbClr val="222222"/>
              </a:buClr>
              <a:buSzPts val="1800"/>
              <a:buFont typeface="Arial"/>
              <a:buChar char="●"/>
            </a:pPr>
            <a:r>
              <a:rPr lang="en" sz="1800">
                <a:solidFill>
                  <a:srgbClr val="222222"/>
                </a:solidFill>
                <a:highlight>
                  <a:srgbClr val="FFFFFF"/>
                </a:highlight>
                <a:latin typeface="Arial"/>
                <a:ea typeface="Arial"/>
                <a:cs typeface="Arial"/>
                <a:sym typeface="Arial"/>
              </a:rPr>
              <a:t>Other forms of data such as documents, observations and art may also be used.</a:t>
            </a:r>
            <a:endParaRPr sz="1800">
              <a:solidFill>
                <a:srgbClr val="222222"/>
              </a:solidFill>
              <a:highlight>
                <a:srgbClr val="FFFFFF"/>
              </a:highlight>
              <a:latin typeface="Arial"/>
              <a:ea typeface="Arial"/>
              <a:cs typeface="Arial"/>
              <a:sym typeface="Arial"/>
            </a:endParaRPr>
          </a:p>
          <a:p>
            <a:pPr indent="-342900" lvl="0" marL="457200" marR="0" rtl="0" algn="l">
              <a:lnSpc>
                <a:spcPct val="115000"/>
              </a:lnSpc>
              <a:spcBef>
                <a:spcPts val="0"/>
              </a:spcBef>
              <a:spcAft>
                <a:spcPts val="0"/>
              </a:spcAft>
              <a:buClr>
                <a:srgbClr val="222222"/>
              </a:buClr>
              <a:buSzPts val="1800"/>
              <a:buFont typeface="Arial"/>
              <a:buChar char="●"/>
            </a:pPr>
            <a:r>
              <a:rPr lang="en" sz="1800">
                <a:solidFill>
                  <a:srgbClr val="222222"/>
                </a:solidFill>
                <a:highlight>
                  <a:srgbClr val="FFFFFF"/>
                </a:highlight>
                <a:latin typeface="Arial"/>
                <a:ea typeface="Arial"/>
                <a:cs typeface="Arial"/>
                <a:sym typeface="Arial"/>
              </a:rPr>
              <a:t>With roots in philosophy, psychology and education, phenomenology attempts to extract the most pure, untainted data.</a:t>
            </a:r>
            <a:endParaRPr sz="1800">
              <a:solidFill>
                <a:srgbClr val="222222"/>
              </a:solidFill>
              <a:highlight>
                <a:srgbClr val="FFFFFF"/>
              </a:highlight>
              <a:latin typeface="Arial"/>
              <a:ea typeface="Arial"/>
              <a:cs typeface="Arial"/>
              <a:sym typeface="Arial"/>
            </a:endParaRPr>
          </a:p>
          <a:p>
            <a:pPr indent="0" lvl="0" marL="914400" marR="0" rtl="0" algn="l">
              <a:lnSpc>
                <a:spcPct val="115000"/>
              </a:lnSpc>
              <a:spcBef>
                <a:spcPts val="1600"/>
              </a:spcBef>
              <a:spcAft>
                <a:spcPts val="1600"/>
              </a:spcAft>
              <a:buNone/>
            </a:pPr>
            <a:r>
              <a:rPr lang="en" sz="1800">
                <a:solidFill>
                  <a:srgbClr val="222222"/>
                </a:solidFill>
                <a:highlight>
                  <a:srgbClr val="FFFFFF"/>
                </a:highlight>
                <a:latin typeface="Arial"/>
                <a:ea typeface="Arial"/>
                <a:cs typeface="Arial"/>
                <a:sym typeface="Arial"/>
              </a:rPr>
              <a:t> </a:t>
            </a:r>
            <a:endParaRPr sz="1800">
              <a:solidFill>
                <a:srgbClr val="222222"/>
              </a:solidFill>
              <a:highlight>
                <a:srgbClr val="FFFFFF"/>
              </a:highlight>
              <a:latin typeface="Arial"/>
              <a:ea typeface="Arial"/>
              <a:cs typeface="Arial"/>
              <a:sym typeface="Arial"/>
            </a:endParaRPr>
          </a:p>
        </p:txBody>
      </p:sp>
      <p:pic>
        <p:nvPicPr>
          <p:cNvPr id="92" name="Google Shape;92;p18"/>
          <p:cNvPicPr preferRelativeResize="0"/>
          <p:nvPr/>
        </p:nvPicPr>
        <p:blipFill>
          <a:blip r:embed="rId3">
            <a:alphaModFix/>
          </a:blip>
          <a:stretch>
            <a:fillRect/>
          </a:stretch>
        </p:blipFill>
        <p:spPr>
          <a:xfrm>
            <a:off x="4762600" y="3190325"/>
            <a:ext cx="3299650" cy="18552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9"/>
          <p:cNvSpPr txBox="1"/>
          <p:nvPr>
            <p:ph type="title"/>
          </p:nvPr>
        </p:nvSpPr>
        <p:spPr>
          <a:xfrm>
            <a:off x="265500" y="240625"/>
            <a:ext cx="4045200" cy="4549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sz="2400"/>
              <a:t>Bracketing: </a:t>
            </a:r>
            <a:r>
              <a:rPr b="0" lang="en" sz="1800"/>
              <a:t>The researcher sets aside their experiences, biases, and preconceived notions to understand the </a:t>
            </a:r>
            <a:r>
              <a:rPr b="0" lang="en" sz="1800"/>
              <a:t>phenomenon</a:t>
            </a:r>
            <a:r>
              <a:rPr b="0" lang="en" sz="1800"/>
              <a:t> appears to the participants not how it is perceived by the researchers.  </a:t>
            </a:r>
            <a:endParaRPr b="0" sz="1800"/>
          </a:p>
        </p:txBody>
      </p:sp>
      <p:sp>
        <p:nvSpPr>
          <p:cNvPr id="98" name="Google Shape;98;p19"/>
          <p:cNvSpPr txBox="1"/>
          <p:nvPr>
            <p:ph idx="2" type="body"/>
          </p:nvPr>
        </p:nvSpPr>
        <p:spPr>
          <a:xfrm>
            <a:off x="4685700" y="782275"/>
            <a:ext cx="4458300" cy="4008300"/>
          </a:xfrm>
          <a:prstGeom prst="rect">
            <a:avLst/>
          </a:prstGeom>
        </p:spPr>
        <p:txBody>
          <a:bodyPr anchorCtr="0" anchor="ctr" bIns="91425" lIns="91425" spcFirstLastPara="1" rIns="91425" wrap="square" tIns="91425">
            <a:noAutofit/>
          </a:bodyPr>
          <a:lstStyle/>
          <a:p>
            <a:pPr indent="-361950" lvl="0" marL="457200" marR="0" rtl="0" algn="l">
              <a:lnSpc>
                <a:spcPct val="115000"/>
              </a:lnSpc>
              <a:spcBef>
                <a:spcPts val="0"/>
              </a:spcBef>
              <a:spcAft>
                <a:spcPts val="0"/>
              </a:spcAft>
              <a:buSzPts val="2100"/>
              <a:buAutoNum type="arabicParenR"/>
            </a:pPr>
            <a:r>
              <a:rPr b="1" lang="en" sz="2100"/>
              <a:t>Recruit participants who have had lived experience with the concept or phenomenon being researched. </a:t>
            </a:r>
            <a:endParaRPr b="1" sz="2100"/>
          </a:p>
          <a:p>
            <a:pPr indent="-361950" lvl="0" marL="457200" marR="0" rtl="0" algn="l">
              <a:lnSpc>
                <a:spcPct val="115000"/>
              </a:lnSpc>
              <a:spcBef>
                <a:spcPts val="0"/>
              </a:spcBef>
              <a:spcAft>
                <a:spcPts val="0"/>
              </a:spcAft>
              <a:buSzPts val="2100"/>
              <a:buAutoNum type="arabicParenR"/>
            </a:pPr>
            <a:r>
              <a:rPr b="1" lang="en" sz="2100"/>
              <a:t> Researcher develops clusters of meanings into themes. </a:t>
            </a:r>
            <a:endParaRPr b="1" sz="2100"/>
          </a:p>
          <a:p>
            <a:pPr indent="-361950" lvl="0" marL="457200" marR="0" rtl="0" algn="l">
              <a:lnSpc>
                <a:spcPct val="115000"/>
              </a:lnSpc>
              <a:spcBef>
                <a:spcPts val="0"/>
              </a:spcBef>
              <a:spcAft>
                <a:spcPts val="0"/>
              </a:spcAft>
              <a:buSzPts val="2100"/>
              <a:buAutoNum type="arabicParenR"/>
            </a:pPr>
            <a:r>
              <a:rPr b="1" lang="en" sz="2100"/>
              <a:t>Write the essence of the phenomenon.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0"/>
          <p:cNvSpPr txBox="1"/>
          <p:nvPr>
            <p:ph type="title"/>
          </p:nvPr>
        </p:nvSpPr>
        <p:spPr>
          <a:xfrm>
            <a:off x="311700" y="445025"/>
            <a:ext cx="8520600" cy="6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Sample Research Questions</a:t>
            </a:r>
            <a:endParaRPr/>
          </a:p>
        </p:txBody>
      </p:sp>
      <p:sp>
        <p:nvSpPr>
          <p:cNvPr id="104" name="Google Shape;104;p20"/>
          <p:cNvSpPr txBox="1"/>
          <p:nvPr>
            <p:ph idx="1" type="body"/>
          </p:nvPr>
        </p:nvSpPr>
        <p:spPr>
          <a:xfrm>
            <a:off x="236575" y="1152475"/>
            <a:ext cx="8281200" cy="34164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a:solidFill>
                  <a:schemeClr val="dk2"/>
                </a:solidFill>
                <a:latin typeface="Raleway"/>
                <a:ea typeface="Raleway"/>
                <a:cs typeface="Raleway"/>
                <a:sym typeface="Raleway"/>
              </a:rPr>
              <a:t>You are concerned whether today’s rapid evolution of information and communication technologies lessen the digital divide or contribute to </a:t>
            </a:r>
            <a:r>
              <a:rPr lang="en">
                <a:solidFill>
                  <a:schemeClr val="dk2"/>
                </a:solidFill>
                <a:latin typeface="Raleway"/>
                <a:ea typeface="Raleway"/>
                <a:cs typeface="Raleway"/>
                <a:sym typeface="Raleway"/>
              </a:rPr>
              <a:t>its</a:t>
            </a:r>
            <a:r>
              <a:rPr lang="en">
                <a:solidFill>
                  <a:schemeClr val="dk2"/>
                </a:solidFill>
                <a:latin typeface="Raleway"/>
                <a:ea typeface="Raleway"/>
                <a:cs typeface="Raleway"/>
                <a:sym typeface="Raleway"/>
              </a:rPr>
              <a:t> growth in America. </a:t>
            </a:r>
            <a:endParaRPr>
              <a:solidFill>
                <a:schemeClr val="dk2"/>
              </a:solidFill>
              <a:latin typeface="Raleway"/>
              <a:ea typeface="Raleway"/>
              <a:cs typeface="Raleway"/>
              <a:sym typeface="Raleway"/>
            </a:endParaRPr>
          </a:p>
          <a:p>
            <a:pPr indent="-317500" lvl="0" marL="457200" rtl="0" algn="l">
              <a:lnSpc>
                <a:spcPct val="100000"/>
              </a:lnSpc>
              <a:spcBef>
                <a:spcPts val="0"/>
              </a:spcBef>
              <a:spcAft>
                <a:spcPts val="0"/>
              </a:spcAft>
              <a:buClr>
                <a:srgbClr val="222222"/>
              </a:buClr>
              <a:buSzPts val="1400"/>
              <a:buFont typeface="Arial"/>
              <a:buChar char="●"/>
            </a:pPr>
            <a:r>
              <a:rPr lang="en" sz="1400">
                <a:solidFill>
                  <a:schemeClr val="dk2"/>
                </a:solidFill>
                <a:latin typeface="Raleway"/>
                <a:ea typeface="Raleway"/>
                <a:cs typeface="Raleway"/>
                <a:sym typeface="Raleway"/>
              </a:rPr>
              <a:t>Will addressing resource inequalities (such as providing a computer that can get online) help decrease digital divide? </a:t>
            </a:r>
            <a:endParaRPr sz="1400">
              <a:solidFill>
                <a:schemeClr val="dk2"/>
              </a:solidFill>
              <a:latin typeface="Raleway"/>
              <a:ea typeface="Raleway"/>
              <a:cs typeface="Raleway"/>
              <a:sym typeface="Raleway"/>
            </a:endParaRPr>
          </a:p>
          <a:p>
            <a:pPr indent="-317500" lvl="0" marL="457200" rtl="0" algn="l">
              <a:lnSpc>
                <a:spcPct val="100000"/>
              </a:lnSpc>
              <a:spcBef>
                <a:spcPts val="0"/>
              </a:spcBef>
              <a:spcAft>
                <a:spcPts val="0"/>
              </a:spcAft>
              <a:buClr>
                <a:srgbClr val="222222"/>
              </a:buClr>
              <a:buSzPts val="1400"/>
              <a:buFont typeface="Arial"/>
              <a:buChar char="●"/>
            </a:pPr>
            <a:r>
              <a:rPr lang="en" sz="1400">
                <a:solidFill>
                  <a:schemeClr val="dk2"/>
                </a:solidFill>
                <a:latin typeface="Raleway"/>
                <a:ea typeface="Raleway"/>
                <a:cs typeface="Raleway"/>
                <a:sym typeface="Raleway"/>
              </a:rPr>
              <a:t>How do teachers and parents perceive about use of social network services to encourage connected learning culture in K-12 contexts? Are there any benefits of doing so? Do people with different social status have different perceptions?</a:t>
            </a:r>
            <a:endParaRPr sz="1400">
              <a:solidFill>
                <a:schemeClr val="dk2"/>
              </a:solidFill>
              <a:latin typeface="Raleway"/>
              <a:ea typeface="Raleway"/>
              <a:cs typeface="Raleway"/>
              <a:sym typeface="Raleway"/>
            </a:endParaRPr>
          </a:p>
          <a:p>
            <a:pPr indent="-317500" lvl="0" marL="457200" rtl="0" algn="l">
              <a:lnSpc>
                <a:spcPct val="100000"/>
              </a:lnSpc>
              <a:spcBef>
                <a:spcPts val="0"/>
              </a:spcBef>
              <a:spcAft>
                <a:spcPts val="0"/>
              </a:spcAft>
              <a:buClr>
                <a:srgbClr val="222222"/>
              </a:buClr>
              <a:buSzPts val="1400"/>
              <a:buFont typeface="Arial"/>
              <a:buChar char="●"/>
            </a:pPr>
            <a:r>
              <a:rPr lang="en" sz="1400">
                <a:solidFill>
                  <a:schemeClr val="dk2"/>
                </a:solidFill>
                <a:latin typeface="Raleway"/>
                <a:ea typeface="Raleway"/>
                <a:cs typeface="Raleway"/>
                <a:sym typeface="Raleway"/>
              </a:rPr>
              <a:t>What are the burning issues of older adults when it comes to technology use and online resource access?</a:t>
            </a:r>
            <a:endParaRPr sz="1400">
              <a:solidFill>
                <a:schemeClr val="dk2"/>
              </a:solidFill>
              <a:latin typeface="Raleway"/>
              <a:ea typeface="Raleway"/>
              <a:cs typeface="Raleway"/>
              <a:sym typeface="Raleway"/>
            </a:endParaRPr>
          </a:p>
          <a:p>
            <a:pPr indent="-317500" lvl="0" marL="457200" rtl="0" algn="l">
              <a:lnSpc>
                <a:spcPct val="100000"/>
              </a:lnSpc>
              <a:spcBef>
                <a:spcPts val="0"/>
              </a:spcBef>
              <a:spcAft>
                <a:spcPts val="0"/>
              </a:spcAft>
              <a:buClr>
                <a:srgbClr val="222222"/>
              </a:buClr>
              <a:buSzPts val="1400"/>
              <a:buFont typeface="Arial"/>
              <a:buChar char="●"/>
            </a:pPr>
            <a:r>
              <a:rPr lang="en" sz="1400">
                <a:solidFill>
                  <a:schemeClr val="dk2"/>
                </a:solidFill>
                <a:latin typeface="Raleway"/>
                <a:ea typeface="Raleway"/>
                <a:cs typeface="Raleway"/>
                <a:sym typeface="Raleway"/>
              </a:rPr>
              <a:t>What factors beyond coincidence or economics explain why digital divide exists?</a:t>
            </a:r>
            <a:endParaRPr sz="1400">
              <a:solidFill>
                <a:schemeClr val="dk2"/>
              </a:solidFill>
              <a:latin typeface="Raleway"/>
              <a:ea typeface="Raleway"/>
              <a:cs typeface="Raleway"/>
              <a:sym typeface="Raleway"/>
            </a:endParaRPr>
          </a:p>
          <a:p>
            <a:pPr indent="0" lvl="0" marL="0" rtl="0" algn="l">
              <a:lnSpc>
                <a:spcPct val="100000"/>
              </a:lnSpc>
              <a:spcBef>
                <a:spcPts val="0"/>
              </a:spcBef>
              <a:spcAft>
                <a:spcPts val="0"/>
              </a:spcAft>
              <a:buNone/>
            </a:pPr>
            <a:r>
              <a:t/>
            </a:r>
            <a:endParaRPr>
              <a:solidFill>
                <a:schemeClr val="dk2"/>
              </a:solidFill>
              <a:latin typeface="Raleway"/>
              <a:ea typeface="Raleway"/>
              <a:cs typeface="Raleway"/>
              <a:sym typeface="Raleway"/>
            </a:endParaRPr>
          </a:p>
          <a:p>
            <a:pPr indent="0" lvl="0" marL="0" rtl="0" algn="l">
              <a:lnSpc>
                <a:spcPct val="100000"/>
              </a:lnSpc>
              <a:spcBef>
                <a:spcPts val="0"/>
              </a:spcBef>
              <a:spcAft>
                <a:spcPts val="0"/>
              </a:spcAft>
              <a:buNone/>
            </a:pPr>
            <a:r>
              <a:rPr lang="en">
                <a:solidFill>
                  <a:schemeClr val="dk2"/>
                </a:solidFill>
                <a:latin typeface="Raleway"/>
                <a:ea typeface="Raleway"/>
                <a:cs typeface="Raleway"/>
                <a:sym typeface="Raleway"/>
              </a:rPr>
              <a:t>Are there any other questions that could be part of your research project?</a:t>
            </a:r>
            <a:endParaRPr>
              <a:solidFill>
                <a:schemeClr val="dk2"/>
              </a:solidFill>
              <a:latin typeface="Raleway"/>
              <a:ea typeface="Raleway"/>
              <a:cs typeface="Raleway"/>
              <a:sym typeface="Raleway"/>
            </a:endParaRPr>
          </a:p>
          <a:p>
            <a:pPr indent="0" lvl="0" marL="457200" marR="0" rtl="0" algn="l">
              <a:lnSpc>
                <a:spcPct val="115000"/>
              </a:lnSpc>
              <a:spcBef>
                <a:spcPts val="0"/>
              </a:spcBef>
              <a:spcAft>
                <a:spcPts val="0"/>
              </a:spcAft>
              <a:buNone/>
            </a:pPr>
            <a:r>
              <a:t/>
            </a:r>
            <a:endParaRPr/>
          </a:p>
          <a:p>
            <a:pPr indent="0" lvl="0" marL="457200" marR="0" rtl="0" algn="l">
              <a:lnSpc>
                <a:spcPct val="115000"/>
              </a:lnSpc>
              <a:spcBef>
                <a:spcPts val="1600"/>
              </a:spcBef>
              <a:spcAft>
                <a:spcPts val="16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1"/>
          <p:cNvSpPr txBox="1"/>
          <p:nvPr>
            <p:ph type="title"/>
          </p:nvPr>
        </p:nvSpPr>
        <p:spPr>
          <a:xfrm>
            <a:off x="311700" y="445025"/>
            <a:ext cx="8520600" cy="62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Other perception level questions</a:t>
            </a:r>
            <a:endParaRPr/>
          </a:p>
        </p:txBody>
      </p:sp>
      <p:sp>
        <p:nvSpPr>
          <p:cNvPr id="110" name="Google Shape;110;p21"/>
          <p:cNvSpPr txBox="1"/>
          <p:nvPr>
            <p:ph idx="1" type="body"/>
          </p:nvPr>
        </p:nvSpPr>
        <p:spPr>
          <a:xfrm>
            <a:off x="236575" y="1152475"/>
            <a:ext cx="5217000" cy="34164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rgbClr val="222222"/>
              </a:buClr>
              <a:buSzPts val="1800"/>
              <a:buFont typeface="Arial"/>
              <a:buChar char="●"/>
            </a:pPr>
            <a:r>
              <a:rPr lang="en">
                <a:solidFill>
                  <a:schemeClr val="dk2"/>
                </a:solidFill>
                <a:latin typeface="Raleway"/>
                <a:ea typeface="Raleway"/>
                <a:cs typeface="Raleway"/>
                <a:sym typeface="Raleway"/>
              </a:rPr>
              <a:t>What have you experienced in terms of the phenomenon? </a:t>
            </a:r>
            <a:endParaRPr>
              <a:solidFill>
                <a:schemeClr val="dk2"/>
              </a:solidFill>
              <a:latin typeface="Raleway"/>
              <a:ea typeface="Raleway"/>
              <a:cs typeface="Raleway"/>
              <a:sym typeface="Raleway"/>
            </a:endParaRPr>
          </a:p>
          <a:p>
            <a:pPr indent="-342900" lvl="0" marL="457200" marR="0" rtl="0" algn="l">
              <a:lnSpc>
                <a:spcPct val="115000"/>
              </a:lnSpc>
              <a:spcBef>
                <a:spcPts val="0"/>
              </a:spcBef>
              <a:spcAft>
                <a:spcPts val="0"/>
              </a:spcAft>
              <a:buClr>
                <a:srgbClr val="222222"/>
              </a:buClr>
              <a:buSzPts val="1800"/>
              <a:buFont typeface="Arial"/>
              <a:buChar char="●"/>
            </a:pPr>
            <a:r>
              <a:rPr lang="en">
                <a:solidFill>
                  <a:schemeClr val="dk2"/>
                </a:solidFill>
                <a:latin typeface="Raleway"/>
                <a:ea typeface="Raleway"/>
                <a:cs typeface="Raleway"/>
                <a:sym typeface="Raleway"/>
              </a:rPr>
              <a:t>What contexts or situation have typically influenced your experiences of the phenomenon? </a:t>
            </a:r>
            <a:endParaRPr>
              <a:solidFill>
                <a:schemeClr val="dk2"/>
              </a:solidFill>
              <a:latin typeface="Raleway"/>
              <a:ea typeface="Raleway"/>
              <a:cs typeface="Raleway"/>
              <a:sym typeface="Raleway"/>
            </a:endParaRPr>
          </a:p>
          <a:p>
            <a:pPr indent="-342900" lvl="0" marL="457200" marR="0" rtl="0" algn="l">
              <a:lnSpc>
                <a:spcPct val="115000"/>
              </a:lnSpc>
              <a:spcBef>
                <a:spcPts val="0"/>
              </a:spcBef>
              <a:spcAft>
                <a:spcPts val="0"/>
              </a:spcAft>
              <a:buClr>
                <a:srgbClr val="222222"/>
              </a:buClr>
              <a:buSzPts val="1800"/>
              <a:buFont typeface="Arial"/>
              <a:buChar char="●"/>
            </a:pPr>
            <a:r>
              <a:rPr lang="en">
                <a:solidFill>
                  <a:schemeClr val="dk2"/>
                </a:solidFill>
                <a:latin typeface="Raleway"/>
                <a:ea typeface="Raleway"/>
                <a:cs typeface="Raleway"/>
                <a:sym typeface="Raleway"/>
              </a:rPr>
              <a:t>What is the lived experience of the phenomenon (e.g. digital divide) and how has this affected their perceptions of self? </a:t>
            </a:r>
            <a:endParaRPr>
              <a:solidFill>
                <a:srgbClr val="222222"/>
              </a:solidFill>
              <a:highlight>
                <a:schemeClr val="lt1"/>
              </a:highlight>
              <a:latin typeface="Arial"/>
              <a:ea typeface="Arial"/>
              <a:cs typeface="Arial"/>
              <a:sym typeface="Arial"/>
            </a:endParaRPr>
          </a:p>
          <a:p>
            <a:pPr indent="0" lvl="0" marL="457200" marR="0" rtl="0" algn="l">
              <a:lnSpc>
                <a:spcPct val="115000"/>
              </a:lnSpc>
              <a:spcBef>
                <a:spcPts val="1600"/>
              </a:spcBef>
              <a:spcAft>
                <a:spcPts val="0"/>
              </a:spcAft>
              <a:buNone/>
            </a:pPr>
            <a:r>
              <a:t/>
            </a:r>
            <a:endParaRPr/>
          </a:p>
          <a:p>
            <a:pPr indent="0" lvl="0" marL="457200" marR="0" rtl="0" algn="l">
              <a:lnSpc>
                <a:spcPct val="115000"/>
              </a:lnSpc>
              <a:spcBef>
                <a:spcPts val="1600"/>
              </a:spcBef>
              <a:spcAft>
                <a:spcPts val="1600"/>
              </a:spcAft>
              <a:buNone/>
            </a:pPr>
            <a:r>
              <a:t/>
            </a:r>
            <a:endParaRPr/>
          </a:p>
        </p:txBody>
      </p:sp>
      <p:pic>
        <p:nvPicPr>
          <p:cNvPr id="111" name="Google Shape;111;p21"/>
          <p:cNvPicPr preferRelativeResize="0"/>
          <p:nvPr/>
        </p:nvPicPr>
        <p:blipFill>
          <a:blip r:embed="rId3">
            <a:alphaModFix/>
          </a:blip>
          <a:stretch>
            <a:fillRect/>
          </a:stretch>
        </p:blipFill>
        <p:spPr>
          <a:xfrm>
            <a:off x="5748125" y="1647188"/>
            <a:ext cx="2867025" cy="15906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828000" y="477150"/>
            <a:ext cx="70677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Steps of conducting research</a:t>
            </a:r>
            <a:endParaRPr/>
          </a:p>
        </p:txBody>
      </p:sp>
      <p:sp>
        <p:nvSpPr>
          <p:cNvPr id="117" name="Google Shape;117;p22"/>
          <p:cNvSpPr txBox="1"/>
          <p:nvPr>
            <p:ph idx="1" type="body"/>
          </p:nvPr>
        </p:nvSpPr>
        <p:spPr>
          <a:xfrm>
            <a:off x="366725" y="1389600"/>
            <a:ext cx="5557200" cy="3179400"/>
          </a:xfrm>
          <a:prstGeom prst="rect">
            <a:avLst/>
          </a:prstGeom>
        </p:spPr>
        <p:txBody>
          <a:bodyPr anchorCtr="0" anchor="t" bIns="91425" lIns="91425" spcFirstLastPara="1" rIns="91425" wrap="square" tIns="91425">
            <a:noAutofit/>
          </a:bodyPr>
          <a:lstStyle/>
          <a:p>
            <a:pPr indent="-342900" lvl="0" marL="400050" marR="0" rtl="0" algn="l">
              <a:lnSpc>
                <a:spcPct val="115000"/>
              </a:lnSpc>
              <a:spcBef>
                <a:spcPts val="0"/>
              </a:spcBef>
              <a:spcAft>
                <a:spcPts val="0"/>
              </a:spcAft>
              <a:buClr>
                <a:schemeClr val="dk2"/>
              </a:buClr>
              <a:buSzPts val="1800"/>
              <a:buFont typeface="Raleway"/>
              <a:buChar char="●"/>
            </a:pPr>
            <a:r>
              <a:rPr lang="en" sz="1800">
                <a:solidFill>
                  <a:schemeClr val="dk2"/>
                </a:solidFill>
                <a:latin typeface="Raleway"/>
                <a:ea typeface="Raleway"/>
                <a:cs typeface="Raleway"/>
                <a:sym typeface="Raleway"/>
              </a:rPr>
              <a:t>Get background information and formulate your questions</a:t>
            </a:r>
            <a:endParaRPr sz="1800">
              <a:solidFill>
                <a:schemeClr val="dk2"/>
              </a:solidFill>
              <a:latin typeface="Raleway"/>
              <a:ea typeface="Raleway"/>
              <a:cs typeface="Raleway"/>
              <a:sym typeface="Raleway"/>
            </a:endParaRPr>
          </a:p>
          <a:p>
            <a:pPr indent="-342900" lvl="0" marL="400050" marR="0" rtl="0" algn="l">
              <a:lnSpc>
                <a:spcPct val="115000"/>
              </a:lnSpc>
              <a:spcBef>
                <a:spcPts val="0"/>
              </a:spcBef>
              <a:spcAft>
                <a:spcPts val="0"/>
              </a:spcAft>
              <a:buClr>
                <a:srgbClr val="222222"/>
              </a:buClr>
              <a:buSzPts val="1800"/>
              <a:buFont typeface="Arial"/>
              <a:buChar char="●"/>
            </a:pPr>
            <a:r>
              <a:rPr lang="en" sz="1800">
                <a:solidFill>
                  <a:schemeClr val="dk2"/>
                </a:solidFill>
                <a:latin typeface="Raleway"/>
                <a:ea typeface="Raleway"/>
                <a:cs typeface="Raleway"/>
                <a:sym typeface="Raleway"/>
              </a:rPr>
              <a:t>Do literature review and refine your research questions</a:t>
            </a:r>
            <a:endParaRPr sz="1800">
              <a:solidFill>
                <a:schemeClr val="dk2"/>
              </a:solidFill>
              <a:latin typeface="Raleway"/>
              <a:ea typeface="Raleway"/>
              <a:cs typeface="Raleway"/>
              <a:sym typeface="Raleway"/>
            </a:endParaRPr>
          </a:p>
          <a:p>
            <a:pPr indent="-342900" lvl="0" marL="400050" marR="0" rtl="0" algn="l">
              <a:lnSpc>
                <a:spcPct val="115000"/>
              </a:lnSpc>
              <a:spcBef>
                <a:spcPts val="0"/>
              </a:spcBef>
              <a:spcAft>
                <a:spcPts val="0"/>
              </a:spcAft>
              <a:buClr>
                <a:srgbClr val="222222"/>
              </a:buClr>
              <a:buSzPts val="1800"/>
              <a:buFont typeface="Arial"/>
              <a:buChar char="●"/>
            </a:pPr>
            <a:r>
              <a:rPr lang="en" sz="1800">
                <a:solidFill>
                  <a:schemeClr val="dk2"/>
                </a:solidFill>
                <a:latin typeface="Raleway"/>
                <a:ea typeface="Raleway"/>
                <a:cs typeface="Raleway"/>
                <a:sym typeface="Raleway"/>
              </a:rPr>
              <a:t>Select appropriate data collection methods</a:t>
            </a:r>
            <a:endParaRPr sz="1800">
              <a:solidFill>
                <a:schemeClr val="dk2"/>
              </a:solidFill>
              <a:latin typeface="Raleway"/>
              <a:ea typeface="Raleway"/>
              <a:cs typeface="Raleway"/>
              <a:sym typeface="Raleway"/>
            </a:endParaRPr>
          </a:p>
          <a:p>
            <a:pPr indent="-342900" lvl="0" marL="400050" marR="0" rtl="0" algn="l">
              <a:lnSpc>
                <a:spcPct val="115000"/>
              </a:lnSpc>
              <a:spcBef>
                <a:spcPts val="0"/>
              </a:spcBef>
              <a:spcAft>
                <a:spcPts val="0"/>
              </a:spcAft>
              <a:buClr>
                <a:srgbClr val="222222"/>
              </a:buClr>
              <a:buSzPts val="1800"/>
              <a:buFont typeface="Arial"/>
              <a:buChar char="●"/>
            </a:pPr>
            <a:r>
              <a:rPr lang="en" sz="1800">
                <a:solidFill>
                  <a:schemeClr val="dk2"/>
                </a:solidFill>
                <a:latin typeface="Raleway"/>
                <a:ea typeface="Raleway"/>
                <a:cs typeface="Raleway"/>
                <a:sym typeface="Raleway"/>
              </a:rPr>
              <a:t>Analyze your data</a:t>
            </a:r>
            <a:endParaRPr sz="1800">
              <a:solidFill>
                <a:schemeClr val="dk2"/>
              </a:solidFill>
              <a:latin typeface="Raleway"/>
              <a:ea typeface="Raleway"/>
              <a:cs typeface="Raleway"/>
              <a:sym typeface="Raleway"/>
            </a:endParaRPr>
          </a:p>
          <a:p>
            <a:pPr indent="-342900" lvl="0" marL="400050" marR="0" rtl="0" algn="l">
              <a:lnSpc>
                <a:spcPct val="115000"/>
              </a:lnSpc>
              <a:spcBef>
                <a:spcPts val="0"/>
              </a:spcBef>
              <a:spcAft>
                <a:spcPts val="0"/>
              </a:spcAft>
              <a:buClr>
                <a:srgbClr val="222222"/>
              </a:buClr>
              <a:buSzPts val="1800"/>
              <a:buFont typeface="Arial"/>
              <a:buChar char="●"/>
            </a:pPr>
            <a:r>
              <a:rPr lang="en" sz="1800">
                <a:solidFill>
                  <a:schemeClr val="dk2"/>
                </a:solidFill>
                <a:latin typeface="Raleway"/>
                <a:ea typeface="Raleway"/>
                <a:cs typeface="Raleway"/>
                <a:sym typeface="Raleway"/>
              </a:rPr>
              <a:t>Summarize your findings and conclude </a:t>
            </a:r>
            <a:endParaRPr sz="1800">
              <a:solidFill>
                <a:schemeClr val="dk2"/>
              </a:solidFill>
              <a:latin typeface="Raleway"/>
              <a:ea typeface="Raleway"/>
              <a:cs typeface="Raleway"/>
              <a:sym typeface="Raleway"/>
            </a:endParaRPr>
          </a:p>
          <a:p>
            <a:pPr indent="-342900" lvl="0" marL="400050" marR="0" rtl="0" algn="l">
              <a:lnSpc>
                <a:spcPct val="115000"/>
              </a:lnSpc>
              <a:spcBef>
                <a:spcPts val="0"/>
              </a:spcBef>
              <a:spcAft>
                <a:spcPts val="0"/>
              </a:spcAft>
              <a:buClr>
                <a:srgbClr val="222222"/>
              </a:buClr>
              <a:buSzPts val="1800"/>
              <a:buFont typeface="Arial"/>
              <a:buChar char="●"/>
            </a:pPr>
            <a:r>
              <a:rPr lang="en" sz="1800">
                <a:solidFill>
                  <a:schemeClr val="dk2"/>
                </a:solidFill>
                <a:latin typeface="Raleway"/>
                <a:ea typeface="Raleway"/>
                <a:cs typeface="Raleway"/>
                <a:sym typeface="Raleway"/>
              </a:rPr>
              <a:t>Compose your references along the way</a:t>
            </a:r>
            <a:endParaRPr sz="1600"/>
          </a:p>
          <a:p>
            <a:pPr indent="0" lvl="0" marL="0" rtl="0" algn="l">
              <a:spcBef>
                <a:spcPts val="1600"/>
              </a:spcBef>
              <a:spcAft>
                <a:spcPts val="0"/>
              </a:spcAft>
              <a:buNone/>
            </a:pPr>
            <a:r>
              <a:t/>
            </a:r>
            <a:endParaRPr sz="1600"/>
          </a:p>
        </p:txBody>
      </p:sp>
      <p:pic>
        <p:nvPicPr>
          <p:cNvPr id="118" name="Google Shape;118;p22"/>
          <p:cNvPicPr preferRelativeResize="0"/>
          <p:nvPr/>
        </p:nvPicPr>
        <p:blipFill>
          <a:blip r:embed="rId3">
            <a:alphaModFix/>
          </a:blip>
          <a:stretch>
            <a:fillRect/>
          </a:stretch>
        </p:blipFill>
        <p:spPr>
          <a:xfrm>
            <a:off x="5523900" y="1799788"/>
            <a:ext cx="2371725" cy="19335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txBox="1"/>
          <p:nvPr>
            <p:ph type="title"/>
          </p:nvPr>
        </p:nvSpPr>
        <p:spPr>
          <a:xfrm>
            <a:off x="828000" y="477150"/>
            <a:ext cx="70677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Literature Review</a:t>
            </a:r>
            <a:endParaRPr/>
          </a:p>
        </p:txBody>
      </p:sp>
      <p:sp>
        <p:nvSpPr>
          <p:cNvPr id="124" name="Google Shape;124;p23"/>
          <p:cNvSpPr txBox="1"/>
          <p:nvPr>
            <p:ph idx="1" type="body"/>
          </p:nvPr>
        </p:nvSpPr>
        <p:spPr>
          <a:xfrm>
            <a:off x="368875" y="1322938"/>
            <a:ext cx="5293800" cy="31794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2"/>
              </a:buClr>
              <a:buSzPts val="1800"/>
              <a:buFont typeface="Raleway"/>
              <a:buChar char="●"/>
            </a:pPr>
            <a:r>
              <a:rPr lang="en" sz="1800">
                <a:solidFill>
                  <a:schemeClr val="dk2"/>
                </a:solidFill>
                <a:latin typeface="Raleway"/>
                <a:ea typeface="Raleway"/>
                <a:cs typeface="Raleway"/>
                <a:sym typeface="Raleway"/>
              </a:rPr>
              <a:t>Choose a topic and define your research questions;</a:t>
            </a:r>
            <a:endParaRPr sz="1800">
              <a:solidFill>
                <a:schemeClr val="dk2"/>
              </a:solidFill>
              <a:latin typeface="Raleway"/>
              <a:ea typeface="Raleway"/>
              <a:cs typeface="Raleway"/>
              <a:sym typeface="Raleway"/>
            </a:endParaRPr>
          </a:p>
          <a:p>
            <a:pPr indent="-342900" lvl="0" marL="457200" marR="0" rtl="0" algn="l">
              <a:lnSpc>
                <a:spcPct val="115000"/>
              </a:lnSpc>
              <a:spcBef>
                <a:spcPts val="0"/>
              </a:spcBef>
              <a:spcAft>
                <a:spcPts val="0"/>
              </a:spcAft>
              <a:buClr>
                <a:schemeClr val="dk2"/>
              </a:buClr>
              <a:buSzPts val="1800"/>
              <a:buFont typeface="Raleway"/>
              <a:buChar char="●"/>
            </a:pPr>
            <a:r>
              <a:rPr lang="en" sz="1800">
                <a:solidFill>
                  <a:schemeClr val="dk2"/>
                </a:solidFill>
                <a:latin typeface="Raleway"/>
                <a:ea typeface="Raleway"/>
                <a:cs typeface="Raleway"/>
                <a:sym typeface="Raleway"/>
              </a:rPr>
              <a:t>Decide on a scope of your review;</a:t>
            </a:r>
            <a:endParaRPr sz="1800">
              <a:solidFill>
                <a:schemeClr val="dk2"/>
              </a:solidFill>
              <a:latin typeface="Raleway"/>
              <a:ea typeface="Raleway"/>
              <a:cs typeface="Raleway"/>
              <a:sym typeface="Raleway"/>
            </a:endParaRPr>
          </a:p>
          <a:p>
            <a:pPr indent="-342900" lvl="0" marL="457200" marR="0" rtl="0" algn="l">
              <a:lnSpc>
                <a:spcPct val="115000"/>
              </a:lnSpc>
              <a:spcBef>
                <a:spcPts val="0"/>
              </a:spcBef>
              <a:spcAft>
                <a:spcPts val="0"/>
              </a:spcAft>
              <a:buClr>
                <a:schemeClr val="dk2"/>
              </a:buClr>
              <a:buSzPts val="1800"/>
              <a:buFont typeface="Raleway"/>
              <a:buChar char="●"/>
            </a:pPr>
            <a:r>
              <a:rPr lang="en" sz="1800">
                <a:solidFill>
                  <a:schemeClr val="dk2"/>
                </a:solidFill>
                <a:latin typeface="Raleway"/>
                <a:ea typeface="Raleway"/>
                <a:cs typeface="Raleway"/>
                <a:sym typeface="Raleway"/>
              </a:rPr>
              <a:t>Search relevant policies and publications. Keep track of your searches!</a:t>
            </a:r>
            <a:endParaRPr sz="1800">
              <a:solidFill>
                <a:schemeClr val="dk2"/>
              </a:solidFill>
              <a:latin typeface="Raleway"/>
              <a:ea typeface="Raleway"/>
              <a:cs typeface="Raleway"/>
              <a:sym typeface="Raleway"/>
            </a:endParaRPr>
          </a:p>
          <a:p>
            <a:pPr indent="-342900" lvl="0" marL="457200" marR="0" rtl="0" algn="l">
              <a:lnSpc>
                <a:spcPct val="115000"/>
              </a:lnSpc>
              <a:spcBef>
                <a:spcPts val="0"/>
              </a:spcBef>
              <a:spcAft>
                <a:spcPts val="0"/>
              </a:spcAft>
              <a:buClr>
                <a:schemeClr val="dk2"/>
              </a:buClr>
              <a:buSzPts val="1800"/>
              <a:buFont typeface="Raleway"/>
              <a:buChar char="●"/>
            </a:pPr>
            <a:r>
              <a:rPr lang="en" sz="1800">
                <a:solidFill>
                  <a:schemeClr val="dk2"/>
                </a:solidFill>
                <a:latin typeface="Raleway"/>
                <a:ea typeface="Raleway"/>
                <a:cs typeface="Raleway"/>
                <a:sym typeface="Raleway"/>
              </a:rPr>
              <a:t>Skim through the abstracts to decide whether you should read the paper carefully; </a:t>
            </a:r>
            <a:endParaRPr sz="1800">
              <a:solidFill>
                <a:schemeClr val="dk2"/>
              </a:solidFill>
              <a:latin typeface="Raleway"/>
              <a:ea typeface="Raleway"/>
              <a:cs typeface="Raleway"/>
              <a:sym typeface="Raleway"/>
            </a:endParaRPr>
          </a:p>
          <a:p>
            <a:pPr indent="-342900" lvl="0" marL="457200" marR="0" rtl="0" algn="l">
              <a:lnSpc>
                <a:spcPct val="115000"/>
              </a:lnSpc>
              <a:spcBef>
                <a:spcPts val="0"/>
              </a:spcBef>
              <a:spcAft>
                <a:spcPts val="0"/>
              </a:spcAft>
              <a:buClr>
                <a:schemeClr val="dk2"/>
              </a:buClr>
              <a:buSzPts val="1800"/>
              <a:buFont typeface="Raleway"/>
              <a:buChar char="●"/>
            </a:pPr>
            <a:r>
              <a:rPr lang="en" sz="1800">
                <a:solidFill>
                  <a:schemeClr val="dk2"/>
                </a:solidFill>
                <a:latin typeface="Raleway"/>
                <a:ea typeface="Raleway"/>
                <a:cs typeface="Raleway"/>
                <a:sym typeface="Raleway"/>
              </a:rPr>
              <a:t>Review the literature and keep notes so that you could track your thought processes better;</a:t>
            </a:r>
            <a:endParaRPr sz="1800">
              <a:solidFill>
                <a:schemeClr val="dk2"/>
              </a:solidFill>
              <a:latin typeface="Raleway"/>
              <a:ea typeface="Raleway"/>
              <a:cs typeface="Raleway"/>
              <a:sym typeface="Raleway"/>
            </a:endParaRPr>
          </a:p>
          <a:p>
            <a:pPr indent="0" lvl="0" marL="0" rtl="0" algn="l">
              <a:spcBef>
                <a:spcPts val="1600"/>
              </a:spcBef>
              <a:spcAft>
                <a:spcPts val="0"/>
              </a:spcAft>
              <a:buNone/>
            </a:pPr>
            <a:r>
              <a:t/>
            </a:r>
            <a:endParaRPr sz="1600"/>
          </a:p>
        </p:txBody>
      </p:sp>
      <p:pic>
        <p:nvPicPr>
          <p:cNvPr id="125" name="Google Shape;125;p23"/>
          <p:cNvPicPr preferRelativeResize="0"/>
          <p:nvPr/>
        </p:nvPicPr>
        <p:blipFill>
          <a:blip r:embed="rId3">
            <a:alphaModFix/>
          </a:blip>
          <a:stretch>
            <a:fillRect/>
          </a:stretch>
        </p:blipFill>
        <p:spPr>
          <a:xfrm>
            <a:off x="5899025" y="1322950"/>
            <a:ext cx="3244975" cy="33595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4"/>
          <p:cNvSpPr txBox="1"/>
          <p:nvPr>
            <p:ph type="title"/>
          </p:nvPr>
        </p:nvSpPr>
        <p:spPr>
          <a:xfrm>
            <a:off x="828000" y="477150"/>
            <a:ext cx="70677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Observation</a:t>
            </a:r>
            <a:endParaRPr/>
          </a:p>
        </p:txBody>
      </p:sp>
      <p:sp>
        <p:nvSpPr>
          <p:cNvPr id="131" name="Google Shape;131;p24"/>
          <p:cNvSpPr txBox="1"/>
          <p:nvPr>
            <p:ph idx="1" type="body"/>
          </p:nvPr>
        </p:nvSpPr>
        <p:spPr>
          <a:xfrm>
            <a:off x="828000" y="1329450"/>
            <a:ext cx="5446800" cy="3179400"/>
          </a:xfrm>
          <a:prstGeom prst="rect">
            <a:avLst/>
          </a:prstGeom>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lang="en" sz="1800">
                <a:solidFill>
                  <a:schemeClr val="dk2"/>
                </a:solidFill>
                <a:latin typeface="Raleway"/>
                <a:ea typeface="Raleway"/>
                <a:cs typeface="Raleway"/>
                <a:sym typeface="Raleway"/>
              </a:rPr>
              <a:t>Observation research is the systematic process of recording the behavioral patterns of people, objects, and occurrences as they are witnessed. </a:t>
            </a:r>
            <a:endParaRPr sz="1800">
              <a:solidFill>
                <a:schemeClr val="dk2"/>
              </a:solidFill>
              <a:latin typeface="Raleway"/>
              <a:ea typeface="Raleway"/>
              <a:cs typeface="Raleway"/>
              <a:sym typeface="Raleway"/>
            </a:endParaRPr>
          </a:p>
          <a:p>
            <a:pPr indent="-342900" lvl="0" marL="457200" marR="0" rtl="0" algn="l">
              <a:lnSpc>
                <a:spcPct val="115000"/>
              </a:lnSpc>
              <a:spcBef>
                <a:spcPts val="1600"/>
              </a:spcBef>
              <a:spcAft>
                <a:spcPts val="0"/>
              </a:spcAft>
              <a:buClr>
                <a:schemeClr val="dk2"/>
              </a:buClr>
              <a:buSzPts val="1800"/>
              <a:buFont typeface="Raleway"/>
              <a:buAutoNum type="arabicPeriod"/>
            </a:pPr>
            <a:r>
              <a:rPr lang="en" sz="1800">
                <a:solidFill>
                  <a:schemeClr val="dk2"/>
                </a:solidFill>
                <a:latin typeface="Raleway"/>
                <a:ea typeface="Raleway"/>
                <a:cs typeface="Raleway"/>
                <a:sym typeface="Raleway"/>
              </a:rPr>
              <a:t>Identify objective (decide what you want to observe, develop questions and techniques)</a:t>
            </a:r>
            <a:endParaRPr sz="1800">
              <a:solidFill>
                <a:schemeClr val="dk2"/>
              </a:solidFill>
              <a:latin typeface="Raleway"/>
              <a:ea typeface="Raleway"/>
              <a:cs typeface="Raleway"/>
              <a:sym typeface="Raleway"/>
            </a:endParaRPr>
          </a:p>
          <a:p>
            <a:pPr indent="-342900" lvl="0" marL="457200" marR="0" rtl="0" algn="l">
              <a:lnSpc>
                <a:spcPct val="115000"/>
              </a:lnSpc>
              <a:spcBef>
                <a:spcPts val="0"/>
              </a:spcBef>
              <a:spcAft>
                <a:spcPts val="0"/>
              </a:spcAft>
              <a:buClr>
                <a:schemeClr val="dk2"/>
              </a:buClr>
              <a:buSzPts val="1800"/>
              <a:buFont typeface="Raleway"/>
              <a:buAutoNum type="arabicPeriod"/>
            </a:pPr>
            <a:r>
              <a:rPr lang="en" sz="1800">
                <a:solidFill>
                  <a:schemeClr val="dk2"/>
                </a:solidFill>
                <a:latin typeface="Raleway"/>
                <a:ea typeface="Raleway"/>
                <a:cs typeface="Raleway"/>
                <a:sym typeface="Raleway"/>
              </a:rPr>
              <a:t>Establish recording method</a:t>
            </a:r>
            <a:endParaRPr sz="1800">
              <a:solidFill>
                <a:schemeClr val="dk2"/>
              </a:solidFill>
              <a:latin typeface="Raleway"/>
              <a:ea typeface="Raleway"/>
              <a:cs typeface="Raleway"/>
              <a:sym typeface="Raleway"/>
            </a:endParaRPr>
          </a:p>
          <a:p>
            <a:pPr indent="-342900" lvl="0" marL="457200" marR="0" rtl="0" algn="l">
              <a:lnSpc>
                <a:spcPct val="115000"/>
              </a:lnSpc>
              <a:spcBef>
                <a:spcPts val="0"/>
              </a:spcBef>
              <a:spcAft>
                <a:spcPts val="0"/>
              </a:spcAft>
              <a:buClr>
                <a:schemeClr val="dk2"/>
              </a:buClr>
              <a:buSzPts val="1800"/>
              <a:buFont typeface="Raleway"/>
              <a:buAutoNum type="arabicPeriod"/>
            </a:pPr>
            <a:r>
              <a:rPr lang="en" sz="1800">
                <a:solidFill>
                  <a:schemeClr val="dk2"/>
                </a:solidFill>
                <a:latin typeface="Raleway"/>
                <a:ea typeface="Raleway"/>
                <a:cs typeface="Raleway"/>
                <a:sym typeface="Raleway"/>
              </a:rPr>
              <a:t>Observe and take notes</a:t>
            </a:r>
            <a:endParaRPr sz="1800">
              <a:solidFill>
                <a:schemeClr val="dk2"/>
              </a:solidFill>
              <a:latin typeface="Raleway"/>
              <a:ea typeface="Raleway"/>
              <a:cs typeface="Raleway"/>
              <a:sym typeface="Raleway"/>
            </a:endParaRPr>
          </a:p>
          <a:p>
            <a:pPr indent="-342900" lvl="0" marL="457200" marR="0" rtl="0" algn="l">
              <a:lnSpc>
                <a:spcPct val="115000"/>
              </a:lnSpc>
              <a:spcBef>
                <a:spcPts val="0"/>
              </a:spcBef>
              <a:spcAft>
                <a:spcPts val="0"/>
              </a:spcAft>
              <a:buClr>
                <a:schemeClr val="dk2"/>
              </a:buClr>
              <a:buSzPts val="1800"/>
              <a:buFont typeface="Raleway"/>
              <a:buAutoNum type="arabicPeriod"/>
            </a:pPr>
            <a:r>
              <a:rPr lang="en" sz="1800">
                <a:solidFill>
                  <a:schemeClr val="dk2"/>
                </a:solidFill>
                <a:latin typeface="Raleway"/>
                <a:ea typeface="Raleway"/>
                <a:cs typeface="Raleway"/>
                <a:sym typeface="Raleway"/>
              </a:rPr>
              <a:t>Analyze</a:t>
            </a:r>
            <a:r>
              <a:rPr lang="en" sz="1800">
                <a:solidFill>
                  <a:schemeClr val="dk2"/>
                </a:solidFill>
                <a:latin typeface="Raleway"/>
                <a:ea typeface="Raleway"/>
                <a:cs typeface="Raleway"/>
                <a:sym typeface="Raleway"/>
              </a:rPr>
              <a:t> behaviors and inferences</a:t>
            </a:r>
            <a:endParaRPr sz="1800">
              <a:solidFill>
                <a:schemeClr val="dk2"/>
              </a:solidFill>
              <a:latin typeface="Raleway"/>
              <a:ea typeface="Raleway"/>
              <a:cs typeface="Raleway"/>
              <a:sym typeface="Raleway"/>
            </a:endParaRPr>
          </a:p>
          <a:p>
            <a:pPr indent="0" lvl="0" marL="0" rtl="0" algn="l">
              <a:spcBef>
                <a:spcPts val="1600"/>
              </a:spcBef>
              <a:spcAft>
                <a:spcPts val="0"/>
              </a:spcAft>
              <a:buNone/>
            </a:pPr>
            <a:r>
              <a:t/>
            </a:r>
            <a:endParaRPr sz="1600"/>
          </a:p>
        </p:txBody>
      </p:sp>
      <p:pic>
        <p:nvPicPr>
          <p:cNvPr id="132" name="Google Shape;132;p24"/>
          <p:cNvPicPr preferRelativeResize="0"/>
          <p:nvPr/>
        </p:nvPicPr>
        <p:blipFill>
          <a:blip r:embed="rId3">
            <a:alphaModFix/>
          </a:blip>
          <a:stretch>
            <a:fillRect/>
          </a:stretch>
        </p:blipFill>
        <p:spPr>
          <a:xfrm>
            <a:off x="6561450" y="1694538"/>
            <a:ext cx="2143125" cy="21431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5"/>
          <p:cNvSpPr txBox="1"/>
          <p:nvPr>
            <p:ph type="title"/>
          </p:nvPr>
        </p:nvSpPr>
        <p:spPr>
          <a:xfrm>
            <a:off x="828000" y="477150"/>
            <a:ext cx="70677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Interview</a:t>
            </a:r>
            <a:endParaRPr/>
          </a:p>
        </p:txBody>
      </p:sp>
      <p:sp>
        <p:nvSpPr>
          <p:cNvPr id="138" name="Google Shape;138;p25"/>
          <p:cNvSpPr txBox="1"/>
          <p:nvPr>
            <p:ph idx="1" type="body"/>
          </p:nvPr>
        </p:nvSpPr>
        <p:spPr>
          <a:xfrm>
            <a:off x="882550" y="1329450"/>
            <a:ext cx="4815600" cy="3179400"/>
          </a:xfrm>
          <a:prstGeom prst="rect">
            <a:avLst/>
          </a:prstGeom>
        </p:spPr>
        <p:txBody>
          <a:bodyPr anchorCtr="0" anchor="t" bIns="91425" lIns="91425" spcFirstLastPara="1" rIns="91425" wrap="square" tIns="91425">
            <a:noAutofit/>
          </a:bodyPr>
          <a:lstStyle/>
          <a:p>
            <a:pPr indent="-317500" lvl="0" marL="457200" marR="0" rtl="0" algn="l">
              <a:lnSpc>
                <a:spcPct val="115000"/>
              </a:lnSpc>
              <a:spcBef>
                <a:spcPts val="0"/>
              </a:spcBef>
              <a:spcAft>
                <a:spcPts val="0"/>
              </a:spcAft>
              <a:buClr>
                <a:schemeClr val="dk2"/>
              </a:buClr>
              <a:buSzPts val="1400"/>
              <a:buFont typeface="Raleway"/>
              <a:buChar char="●"/>
            </a:pPr>
            <a:r>
              <a:rPr lang="en" sz="1400">
                <a:solidFill>
                  <a:schemeClr val="dk2"/>
                </a:solidFill>
                <a:latin typeface="Raleway"/>
                <a:ea typeface="Raleway"/>
                <a:cs typeface="Raleway"/>
                <a:sym typeface="Raleway"/>
              </a:rPr>
              <a:t>Structured interview</a:t>
            </a:r>
            <a:endParaRPr sz="1400">
              <a:solidFill>
                <a:schemeClr val="dk2"/>
              </a:solidFill>
              <a:latin typeface="Raleway"/>
              <a:ea typeface="Raleway"/>
              <a:cs typeface="Raleway"/>
              <a:sym typeface="Raleway"/>
            </a:endParaRPr>
          </a:p>
          <a:p>
            <a:pPr indent="-317500" lvl="1" marL="914400" marR="0" rtl="0" algn="l">
              <a:lnSpc>
                <a:spcPct val="115000"/>
              </a:lnSpc>
              <a:spcBef>
                <a:spcPts val="0"/>
              </a:spcBef>
              <a:spcAft>
                <a:spcPts val="0"/>
              </a:spcAft>
              <a:buClr>
                <a:schemeClr val="dk2"/>
              </a:buClr>
              <a:buSzPts val="1400"/>
              <a:buFont typeface="Raleway"/>
              <a:buChar char="○"/>
            </a:pPr>
            <a:r>
              <a:rPr lang="en" sz="1400">
                <a:solidFill>
                  <a:schemeClr val="dk2"/>
                </a:solidFill>
                <a:latin typeface="Raleway"/>
                <a:ea typeface="Raleway"/>
                <a:cs typeface="Raleway"/>
                <a:sym typeface="Raleway"/>
              </a:rPr>
              <a:t>Each interviewee gets the same questions, in the same way, in the same order</a:t>
            </a:r>
            <a:endParaRPr sz="1400">
              <a:solidFill>
                <a:schemeClr val="dk2"/>
              </a:solidFill>
              <a:latin typeface="Raleway"/>
              <a:ea typeface="Raleway"/>
              <a:cs typeface="Raleway"/>
              <a:sym typeface="Raleway"/>
            </a:endParaRPr>
          </a:p>
          <a:p>
            <a:pPr indent="-317500" lvl="1" marL="914400" marR="0" rtl="0" algn="l">
              <a:lnSpc>
                <a:spcPct val="115000"/>
              </a:lnSpc>
              <a:spcBef>
                <a:spcPts val="0"/>
              </a:spcBef>
              <a:spcAft>
                <a:spcPts val="0"/>
              </a:spcAft>
              <a:buClr>
                <a:schemeClr val="dk2"/>
              </a:buClr>
              <a:buSzPts val="1400"/>
              <a:buFont typeface="Raleway"/>
              <a:buChar char="○"/>
            </a:pPr>
            <a:r>
              <a:rPr lang="en" sz="1400">
                <a:solidFill>
                  <a:schemeClr val="dk2"/>
                </a:solidFill>
                <a:latin typeface="Raleway"/>
                <a:ea typeface="Raleway"/>
                <a:cs typeface="Raleway"/>
                <a:sym typeface="Raleway"/>
              </a:rPr>
              <a:t>Fixed choice questions, no open ended questions</a:t>
            </a:r>
            <a:endParaRPr sz="1400">
              <a:solidFill>
                <a:schemeClr val="dk2"/>
              </a:solidFill>
              <a:latin typeface="Raleway"/>
              <a:ea typeface="Raleway"/>
              <a:cs typeface="Raleway"/>
              <a:sym typeface="Raleway"/>
            </a:endParaRPr>
          </a:p>
          <a:p>
            <a:pPr indent="-317500" lvl="0" marL="457200" marR="0" rtl="0" algn="l">
              <a:lnSpc>
                <a:spcPct val="115000"/>
              </a:lnSpc>
              <a:spcBef>
                <a:spcPts val="0"/>
              </a:spcBef>
              <a:spcAft>
                <a:spcPts val="0"/>
              </a:spcAft>
              <a:buClr>
                <a:schemeClr val="dk2"/>
              </a:buClr>
              <a:buSzPts val="1400"/>
              <a:buFont typeface="Raleway"/>
              <a:buChar char="●"/>
            </a:pPr>
            <a:r>
              <a:rPr lang="en" sz="1400">
                <a:solidFill>
                  <a:schemeClr val="dk2"/>
                </a:solidFill>
                <a:latin typeface="Raleway"/>
                <a:ea typeface="Raleway"/>
                <a:cs typeface="Raleway"/>
                <a:sym typeface="Raleway"/>
              </a:rPr>
              <a:t>Semi-structured interview</a:t>
            </a:r>
            <a:endParaRPr sz="1400">
              <a:solidFill>
                <a:schemeClr val="dk2"/>
              </a:solidFill>
              <a:latin typeface="Raleway"/>
              <a:ea typeface="Raleway"/>
              <a:cs typeface="Raleway"/>
              <a:sym typeface="Raleway"/>
            </a:endParaRPr>
          </a:p>
          <a:p>
            <a:pPr indent="-317500" lvl="0" marL="457200" marR="0" rtl="0" algn="l">
              <a:lnSpc>
                <a:spcPct val="115000"/>
              </a:lnSpc>
              <a:spcBef>
                <a:spcPts val="0"/>
              </a:spcBef>
              <a:spcAft>
                <a:spcPts val="0"/>
              </a:spcAft>
              <a:buClr>
                <a:schemeClr val="dk2"/>
              </a:buClr>
              <a:buSzPts val="1400"/>
              <a:buFont typeface="Raleway"/>
              <a:buChar char="●"/>
            </a:pPr>
            <a:r>
              <a:rPr lang="en" sz="1400">
                <a:solidFill>
                  <a:schemeClr val="dk2"/>
                </a:solidFill>
                <a:latin typeface="Raleway"/>
                <a:ea typeface="Raleway"/>
                <a:cs typeface="Raleway"/>
                <a:sym typeface="Raleway"/>
              </a:rPr>
              <a:t>Unstructured (no predetermined questions)</a:t>
            </a:r>
            <a:endParaRPr sz="1400">
              <a:solidFill>
                <a:schemeClr val="dk2"/>
              </a:solidFill>
              <a:latin typeface="Raleway"/>
              <a:ea typeface="Raleway"/>
              <a:cs typeface="Raleway"/>
              <a:sym typeface="Raleway"/>
            </a:endParaRPr>
          </a:p>
          <a:p>
            <a:pPr indent="-317500" lvl="0" marL="457200" marR="0" rtl="0" algn="l">
              <a:lnSpc>
                <a:spcPct val="115000"/>
              </a:lnSpc>
              <a:spcBef>
                <a:spcPts val="0"/>
              </a:spcBef>
              <a:spcAft>
                <a:spcPts val="0"/>
              </a:spcAft>
              <a:buClr>
                <a:schemeClr val="dk2"/>
              </a:buClr>
              <a:buSzPts val="1400"/>
              <a:buFont typeface="Raleway"/>
              <a:buChar char="●"/>
            </a:pPr>
            <a:r>
              <a:rPr lang="en" sz="1400">
                <a:solidFill>
                  <a:schemeClr val="dk2"/>
                </a:solidFill>
                <a:latin typeface="Raleway"/>
                <a:ea typeface="Raleway"/>
                <a:cs typeface="Raleway"/>
                <a:sym typeface="Raleway"/>
              </a:rPr>
              <a:t>One-on-one interview</a:t>
            </a:r>
            <a:endParaRPr sz="1400">
              <a:solidFill>
                <a:schemeClr val="dk2"/>
              </a:solidFill>
              <a:latin typeface="Raleway"/>
              <a:ea typeface="Raleway"/>
              <a:cs typeface="Raleway"/>
              <a:sym typeface="Raleway"/>
            </a:endParaRPr>
          </a:p>
          <a:p>
            <a:pPr indent="-317500" lvl="0" marL="457200" marR="0" rtl="0" algn="l">
              <a:lnSpc>
                <a:spcPct val="115000"/>
              </a:lnSpc>
              <a:spcBef>
                <a:spcPts val="0"/>
              </a:spcBef>
              <a:spcAft>
                <a:spcPts val="0"/>
              </a:spcAft>
              <a:buClr>
                <a:schemeClr val="dk2"/>
              </a:buClr>
              <a:buSzPts val="1400"/>
              <a:buFont typeface="Raleway"/>
              <a:buChar char="●"/>
            </a:pPr>
            <a:r>
              <a:rPr lang="en" sz="1400">
                <a:solidFill>
                  <a:schemeClr val="dk2"/>
                </a:solidFill>
                <a:latin typeface="Raleway"/>
                <a:ea typeface="Raleway"/>
                <a:cs typeface="Raleway"/>
                <a:sym typeface="Raleway"/>
              </a:rPr>
              <a:t>Focus group interview</a:t>
            </a:r>
            <a:endParaRPr sz="1400">
              <a:solidFill>
                <a:schemeClr val="dk2"/>
              </a:solidFill>
              <a:latin typeface="Raleway"/>
              <a:ea typeface="Raleway"/>
              <a:cs typeface="Raleway"/>
              <a:sym typeface="Raleway"/>
            </a:endParaRPr>
          </a:p>
          <a:p>
            <a:pPr indent="0" lvl="0" marL="0" rtl="0" algn="l">
              <a:spcBef>
                <a:spcPts val="1600"/>
              </a:spcBef>
              <a:spcAft>
                <a:spcPts val="0"/>
              </a:spcAft>
              <a:buNone/>
            </a:pPr>
            <a:r>
              <a:t/>
            </a:r>
            <a:endParaRPr sz="1600"/>
          </a:p>
        </p:txBody>
      </p:sp>
      <p:pic>
        <p:nvPicPr>
          <p:cNvPr id="139" name="Google Shape;139;p25"/>
          <p:cNvPicPr preferRelativeResize="0"/>
          <p:nvPr/>
        </p:nvPicPr>
        <p:blipFill>
          <a:blip r:embed="rId3">
            <a:alphaModFix/>
          </a:blip>
          <a:stretch>
            <a:fillRect/>
          </a:stretch>
        </p:blipFill>
        <p:spPr>
          <a:xfrm>
            <a:off x="5789975" y="1309050"/>
            <a:ext cx="3201624" cy="24037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26"/>
          <p:cNvSpPr txBox="1"/>
          <p:nvPr>
            <p:ph type="title"/>
          </p:nvPr>
        </p:nvSpPr>
        <p:spPr>
          <a:xfrm>
            <a:off x="828000" y="477150"/>
            <a:ext cx="70677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Data Collection</a:t>
            </a:r>
            <a:endParaRPr/>
          </a:p>
        </p:txBody>
      </p:sp>
      <p:sp>
        <p:nvSpPr>
          <p:cNvPr id="145" name="Google Shape;145;p26"/>
          <p:cNvSpPr txBox="1"/>
          <p:nvPr>
            <p:ph idx="1" type="body"/>
          </p:nvPr>
        </p:nvSpPr>
        <p:spPr>
          <a:xfrm>
            <a:off x="828000" y="1329450"/>
            <a:ext cx="5446800" cy="3179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chemeClr val="dk2"/>
              </a:buClr>
              <a:buSzPts val="1400"/>
              <a:buFont typeface="Raleway"/>
              <a:buChar char="●"/>
            </a:pPr>
            <a:r>
              <a:rPr lang="en" sz="1400">
                <a:solidFill>
                  <a:schemeClr val="dk2"/>
                </a:solidFill>
                <a:latin typeface="Raleway"/>
                <a:ea typeface="Raleway"/>
                <a:cs typeface="Raleway"/>
                <a:sym typeface="Raleway"/>
              </a:rPr>
              <a:t>Record interviews if needed</a:t>
            </a:r>
            <a:endParaRPr sz="1400">
              <a:solidFill>
                <a:schemeClr val="dk2"/>
              </a:solidFill>
              <a:latin typeface="Raleway"/>
              <a:ea typeface="Raleway"/>
              <a:cs typeface="Raleway"/>
              <a:sym typeface="Raleway"/>
            </a:endParaRPr>
          </a:p>
          <a:p>
            <a:pPr indent="-317500" lvl="0" marL="457200" rtl="0" algn="l">
              <a:spcBef>
                <a:spcPts val="0"/>
              </a:spcBef>
              <a:spcAft>
                <a:spcPts val="0"/>
              </a:spcAft>
              <a:buClr>
                <a:schemeClr val="dk2"/>
              </a:buClr>
              <a:buSzPts val="1400"/>
              <a:buFont typeface="Raleway"/>
              <a:buChar char="●"/>
            </a:pPr>
            <a:r>
              <a:rPr lang="en" sz="1400">
                <a:solidFill>
                  <a:schemeClr val="dk2"/>
                </a:solidFill>
                <a:latin typeface="Raleway"/>
                <a:ea typeface="Raleway"/>
                <a:cs typeface="Raleway"/>
                <a:sym typeface="Raleway"/>
              </a:rPr>
              <a:t>Take notes (a must to have)</a:t>
            </a:r>
            <a:endParaRPr sz="1400">
              <a:solidFill>
                <a:schemeClr val="dk2"/>
              </a:solidFill>
              <a:latin typeface="Raleway"/>
              <a:ea typeface="Raleway"/>
              <a:cs typeface="Raleway"/>
              <a:sym typeface="Raleway"/>
            </a:endParaRPr>
          </a:p>
          <a:p>
            <a:pPr indent="-317500" lvl="0" marL="457200" rtl="0" algn="l">
              <a:spcBef>
                <a:spcPts val="0"/>
              </a:spcBef>
              <a:spcAft>
                <a:spcPts val="0"/>
              </a:spcAft>
              <a:buClr>
                <a:schemeClr val="dk2"/>
              </a:buClr>
              <a:buSzPts val="1400"/>
              <a:buFont typeface="Raleway"/>
              <a:buChar char="●"/>
            </a:pPr>
            <a:r>
              <a:rPr lang="en" sz="1400">
                <a:solidFill>
                  <a:schemeClr val="dk2"/>
                </a:solidFill>
                <a:latin typeface="Raleway"/>
                <a:ea typeface="Raleway"/>
                <a:cs typeface="Raleway"/>
                <a:sym typeface="Raleway"/>
              </a:rPr>
              <a:t>Document and organize all notes and raw data</a:t>
            </a:r>
            <a:endParaRPr sz="1400">
              <a:solidFill>
                <a:schemeClr val="dk2"/>
              </a:solidFill>
              <a:latin typeface="Raleway"/>
              <a:ea typeface="Raleway"/>
              <a:cs typeface="Raleway"/>
              <a:sym typeface="Raleway"/>
            </a:endParaRPr>
          </a:p>
          <a:p>
            <a:pPr indent="0" lvl="0" marL="0" rtl="0" algn="l">
              <a:lnSpc>
                <a:spcPct val="100000"/>
              </a:lnSpc>
              <a:spcBef>
                <a:spcPts val="1600"/>
              </a:spcBef>
              <a:spcAft>
                <a:spcPts val="0"/>
              </a:spcAft>
              <a:buClr>
                <a:schemeClr val="dk2"/>
              </a:buClr>
              <a:buSzPts val="1100"/>
              <a:buFont typeface="Arial"/>
              <a:buNone/>
            </a:pPr>
            <a:r>
              <a:rPr b="1" lang="en" sz="2400">
                <a:solidFill>
                  <a:schemeClr val="dk2"/>
                </a:solidFill>
                <a:latin typeface="Raleway"/>
                <a:ea typeface="Raleway"/>
                <a:cs typeface="Raleway"/>
                <a:sym typeface="Raleway"/>
              </a:rPr>
              <a:t>Data Analysis</a:t>
            </a:r>
            <a:endParaRPr sz="1400">
              <a:solidFill>
                <a:schemeClr val="dk2"/>
              </a:solidFill>
              <a:latin typeface="Raleway"/>
              <a:ea typeface="Raleway"/>
              <a:cs typeface="Raleway"/>
              <a:sym typeface="Raleway"/>
            </a:endParaRPr>
          </a:p>
          <a:p>
            <a:pPr indent="-317500" lvl="0" marL="457200" rtl="0" algn="l">
              <a:spcBef>
                <a:spcPts val="0"/>
              </a:spcBef>
              <a:spcAft>
                <a:spcPts val="0"/>
              </a:spcAft>
              <a:buClr>
                <a:schemeClr val="dk2"/>
              </a:buClr>
              <a:buSzPts val="1400"/>
              <a:buFont typeface="Raleway"/>
              <a:buChar char="●"/>
            </a:pPr>
            <a:r>
              <a:rPr lang="en" sz="1400">
                <a:solidFill>
                  <a:schemeClr val="dk2"/>
                </a:solidFill>
                <a:latin typeface="Raleway"/>
                <a:ea typeface="Raleway"/>
                <a:cs typeface="Raleway"/>
                <a:sym typeface="Raleway"/>
              </a:rPr>
              <a:t>Skim through your notes</a:t>
            </a:r>
            <a:endParaRPr sz="1400">
              <a:solidFill>
                <a:schemeClr val="dk2"/>
              </a:solidFill>
              <a:latin typeface="Raleway"/>
              <a:ea typeface="Raleway"/>
              <a:cs typeface="Raleway"/>
              <a:sym typeface="Raleway"/>
            </a:endParaRPr>
          </a:p>
          <a:p>
            <a:pPr indent="-317500" lvl="0" marL="457200" rtl="0" algn="l">
              <a:spcBef>
                <a:spcPts val="0"/>
              </a:spcBef>
              <a:spcAft>
                <a:spcPts val="0"/>
              </a:spcAft>
              <a:buClr>
                <a:schemeClr val="dk2"/>
              </a:buClr>
              <a:buSzPts val="1400"/>
              <a:buFont typeface="Raleway"/>
              <a:buChar char="●"/>
            </a:pPr>
            <a:r>
              <a:rPr lang="en" sz="1400">
                <a:solidFill>
                  <a:schemeClr val="dk2"/>
                </a:solidFill>
                <a:latin typeface="Raleway"/>
                <a:ea typeface="Raleway"/>
                <a:cs typeface="Raleway"/>
                <a:sym typeface="Raleway"/>
              </a:rPr>
              <a:t>Categorize by interview question</a:t>
            </a:r>
            <a:endParaRPr sz="1400">
              <a:solidFill>
                <a:schemeClr val="dk2"/>
              </a:solidFill>
              <a:latin typeface="Raleway"/>
              <a:ea typeface="Raleway"/>
              <a:cs typeface="Raleway"/>
              <a:sym typeface="Raleway"/>
            </a:endParaRPr>
          </a:p>
          <a:p>
            <a:pPr indent="-317500" lvl="0" marL="457200" rtl="0" algn="l">
              <a:spcBef>
                <a:spcPts val="0"/>
              </a:spcBef>
              <a:spcAft>
                <a:spcPts val="0"/>
              </a:spcAft>
              <a:buClr>
                <a:schemeClr val="dk2"/>
              </a:buClr>
              <a:buSzPts val="1400"/>
              <a:buFont typeface="Raleway"/>
              <a:buChar char="●"/>
            </a:pPr>
            <a:r>
              <a:rPr lang="en" sz="1400">
                <a:solidFill>
                  <a:schemeClr val="dk2"/>
                </a:solidFill>
                <a:latin typeface="Raleway"/>
                <a:ea typeface="Raleway"/>
                <a:cs typeface="Raleway"/>
                <a:sym typeface="Raleway"/>
              </a:rPr>
              <a:t>Read through all answer to each question to identify common themes and pattern</a:t>
            </a:r>
            <a:endParaRPr sz="1400">
              <a:solidFill>
                <a:schemeClr val="dk2"/>
              </a:solidFill>
              <a:latin typeface="Raleway"/>
              <a:ea typeface="Raleway"/>
              <a:cs typeface="Raleway"/>
              <a:sym typeface="Raleway"/>
            </a:endParaRPr>
          </a:p>
          <a:p>
            <a:pPr indent="-317500" lvl="0" marL="457200" rtl="0" algn="l">
              <a:spcBef>
                <a:spcPts val="0"/>
              </a:spcBef>
              <a:spcAft>
                <a:spcPts val="0"/>
              </a:spcAft>
              <a:buClr>
                <a:schemeClr val="dk2"/>
              </a:buClr>
              <a:buSzPts val="1400"/>
              <a:buFont typeface="Raleway"/>
              <a:buChar char="●"/>
            </a:pPr>
            <a:r>
              <a:rPr lang="en" sz="1400">
                <a:solidFill>
                  <a:schemeClr val="dk2"/>
                </a:solidFill>
                <a:latin typeface="Raleway"/>
                <a:ea typeface="Raleway"/>
                <a:cs typeface="Raleway"/>
                <a:sym typeface="Raleway"/>
              </a:rPr>
              <a:t>Write and summarize your findings</a:t>
            </a:r>
            <a:endParaRPr sz="1800">
              <a:solidFill>
                <a:schemeClr val="dk2"/>
              </a:solidFill>
              <a:latin typeface="Raleway"/>
              <a:ea typeface="Raleway"/>
              <a:cs typeface="Raleway"/>
              <a:sym typeface="Raleway"/>
            </a:endParaRPr>
          </a:p>
          <a:p>
            <a:pPr indent="0" lvl="0" marL="0" rtl="0" algn="l">
              <a:spcBef>
                <a:spcPts val="1600"/>
              </a:spcBef>
              <a:spcAft>
                <a:spcPts val="0"/>
              </a:spcAft>
              <a:buNone/>
            </a:pPr>
            <a:r>
              <a:t/>
            </a:r>
            <a:endParaRPr sz="16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7"/>
          <p:cNvSpPr txBox="1"/>
          <p:nvPr>
            <p:ph type="title"/>
          </p:nvPr>
        </p:nvSpPr>
        <p:spPr>
          <a:xfrm>
            <a:off x="828000" y="477150"/>
            <a:ext cx="38472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Significance of Research</a:t>
            </a:r>
            <a:endParaRPr/>
          </a:p>
        </p:txBody>
      </p:sp>
      <p:sp>
        <p:nvSpPr>
          <p:cNvPr id="151" name="Google Shape;151;p27"/>
          <p:cNvSpPr txBox="1"/>
          <p:nvPr>
            <p:ph idx="1" type="body"/>
          </p:nvPr>
        </p:nvSpPr>
        <p:spPr>
          <a:xfrm>
            <a:off x="828000" y="1389600"/>
            <a:ext cx="4203600" cy="31794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rgbClr val="222222"/>
              </a:buClr>
              <a:buSzPts val="1800"/>
              <a:buFont typeface="Arial"/>
              <a:buChar char="●"/>
            </a:pPr>
            <a:r>
              <a:rPr lang="en" sz="1800">
                <a:solidFill>
                  <a:schemeClr val="dk2"/>
                </a:solidFill>
                <a:latin typeface="Raleway"/>
                <a:ea typeface="Raleway"/>
                <a:cs typeface="Raleway"/>
                <a:sym typeface="Raleway"/>
              </a:rPr>
              <a:t>To gather necessary information</a:t>
            </a:r>
            <a:endParaRPr sz="1800">
              <a:solidFill>
                <a:schemeClr val="dk2"/>
              </a:solidFill>
              <a:latin typeface="Raleway"/>
              <a:ea typeface="Raleway"/>
              <a:cs typeface="Raleway"/>
              <a:sym typeface="Raleway"/>
            </a:endParaRPr>
          </a:p>
          <a:p>
            <a:pPr indent="-342900" lvl="0" marL="457200" marR="0" rtl="0" algn="l">
              <a:lnSpc>
                <a:spcPct val="115000"/>
              </a:lnSpc>
              <a:spcBef>
                <a:spcPts val="0"/>
              </a:spcBef>
              <a:spcAft>
                <a:spcPts val="0"/>
              </a:spcAft>
              <a:buClr>
                <a:srgbClr val="222222"/>
              </a:buClr>
              <a:buSzPts val="1800"/>
              <a:buFont typeface="Arial"/>
              <a:buChar char="●"/>
            </a:pPr>
            <a:r>
              <a:rPr lang="en" sz="1800">
                <a:solidFill>
                  <a:schemeClr val="dk2"/>
                </a:solidFill>
                <a:latin typeface="Raleway"/>
                <a:ea typeface="Raleway"/>
                <a:cs typeface="Raleway"/>
                <a:sym typeface="Raleway"/>
              </a:rPr>
              <a:t>To make changes</a:t>
            </a:r>
            <a:endParaRPr sz="1800">
              <a:solidFill>
                <a:schemeClr val="dk2"/>
              </a:solidFill>
              <a:latin typeface="Raleway"/>
              <a:ea typeface="Raleway"/>
              <a:cs typeface="Raleway"/>
              <a:sym typeface="Raleway"/>
            </a:endParaRPr>
          </a:p>
          <a:p>
            <a:pPr indent="-342900" lvl="0" marL="457200" marR="0" rtl="0" algn="l">
              <a:lnSpc>
                <a:spcPct val="115000"/>
              </a:lnSpc>
              <a:spcBef>
                <a:spcPts val="0"/>
              </a:spcBef>
              <a:spcAft>
                <a:spcPts val="0"/>
              </a:spcAft>
              <a:buClr>
                <a:srgbClr val="222222"/>
              </a:buClr>
              <a:buSzPts val="1800"/>
              <a:buFont typeface="Arial"/>
              <a:buChar char="●"/>
            </a:pPr>
            <a:r>
              <a:rPr lang="en" sz="1800">
                <a:solidFill>
                  <a:schemeClr val="dk2"/>
                </a:solidFill>
                <a:latin typeface="Raleway"/>
                <a:ea typeface="Raleway"/>
                <a:cs typeface="Raleway"/>
                <a:sym typeface="Raleway"/>
              </a:rPr>
              <a:t>To improve standard of living</a:t>
            </a:r>
            <a:endParaRPr sz="1800">
              <a:solidFill>
                <a:schemeClr val="dk2"/>
              </a:solidFill>
              <a:latin typeface="Raleway"/>
              <a:ea typeface="Raleway"/>
              <a:cs typeface="Raleway"/>
              <a:sym typeface="Raleway"/>
            </a:endParaRPr>
          </a:p>
          <a:p>
            <a:pPr indent="-342900" lvl="0" marL="457200" marR="0" rtl="0" algn="l">
              <a:lnSpc>
                <a:spcPct val="115000"/>
              </a:lnSpc>
              <a:spcBef>
                <a:spcPts val="0"/>
              </a:spcBef>
              <a:spcAft>
                <a:spcPts val="0"/>
              </a:spcAft>
              <a:buClr>
                <a:srgbClr val="222222"/>
              </a:buClr>
              <a:buSzPts val="1800"/>
              <a:buFont typeface="Arial"/>
              <a:buChar char="●"/>
            </a:pPr>
            <a:r>
              <a:rPr lang="en" sz="1800">
                <a:solidFill>
                  <a:schemeClr val="dk2"/>
                </a:solidFill>
                <a:latin typeface="Raleway"/>
                <a:ea typeface="Raleway"/>
                <a:cs typeface="Raleway"/>
                <a:sym typeface="Raleway"/>
              </a:rPr>
              <a:t>For a safer life</a:t>
            </a:r>
            <a:endParaRPr sz="1800">
              <a:solidFill>
                <a:schemeClr val="dk2"/>
              </a:solidFill>
              <a:latin typeface="Raleway"/>
              <a:ea typeface="Raleway"/>
              <a:cs typeface="Raleway"/>
              <a:sym typeface="Raleway"/>
            </a:endParaRPr>
          </a:p>
          <a:p>
            <a:pPr indent="-342900" lvl="0" marL="457200" marR="0" rtl="0" algn="l">
              <a:lnSpc>
                <a:spcPct val="115000"/>
              </a:lnSpc>
              <a:spcBef>
                <a:spcPts val="0"/>
              </a:spcBef>
              <a:spcAft>
                <a:spcPts val="0"/>
              </a:spcAft>
              <a:buClr>
                <a:srgbClr val="222222"/>
              </a:buClr>
              <a:buSzPts val="1800"/>
              <a:buFont typeface="Arial"/>
              <a:buChar char="●"/>
            </a:pPr>
            <a:r>
              <a:rPr lang="en" sz="1800">
                <a:solidFill>
                  <a:schemeClr val="dk2"/>
                </a:solidFill>
                <a:latin typeface="Raleway"/>
                <a:ea typeface="Raleway"/>
                <a:cs typeface="Raleway"/>
                <a:sym typeface="Raleway"/>
              </a:rPr>
              <a:t>To know the truth</a:t>
            </a:r>
            <a:endParaRPr sz="1800">
              <a:solidFill>
                <a:schemeClr val="dk2"/>
              </a:solidFill>
              <a:latin typeface="Raleway"/>
              <a:ea typeface="Raleway"/>
              <a:cs typeface="Raleway"/>
              <a:sym typeface="Raleway"/>
            </a:endParaRPr>
          </a:p>
          <a:p>
            <a:pPr indent="-342900" lvl="0" marL="457200" marR="0" rtl="0" algn="l">
              <a:lnSpc>
                <a:spcPct val="115000"/>
              </a:lnSpc>
              <a:spcBef>
                <a:spcPts val="0"/>
              </a:spcBef>
              <a:spcAft>
                <a:spcPts val="0"/>
              </a:spcAft>
              <a:buClr>
                <a:srgbClr val="222222"/>
              </a:buClr>
              <a:buSzPts val="1800"/>
              <a:buFont typeface="Arial"/>
              <a:buChar char="●"/>
            </a:pPr>
            <a:r>
              <a:rPr lang="en" sz="1800">
                <a:solidFill>
                  <a:schemeClr val="dk2"/>
                </a:solidFill>
                <a:latin typeface="Raleway"/>
                <a:ea typeface="Raleway"/>
                <a:cs typeface="Raleway"/>
                <a:sym typeface="Raleway"/>
              </a:rPr>
              <a:t>Explore our history</a:t>
            </a:r>
            <a:endParaRPr sz="1800">
              <a:solidFill>
                <a:srgbClr val="000000"/>
              </a:solidFill>
            </a:endParaRPr>
          </a:p>
          <a:p>
            <a:pPr indent="-342900" lvl="0" marL="457200" marR="0" rtl="0" algn="l">
              <a:lnSpc>
                <a:spcPct val="115000"/>
              </a:lnSpc>
              <a:spcBef>
                <a:spcPts val="0"/>
              </a:spcBef>
              <a:spcAft>
                <a:spcPts val="0"/>
              </a:spcAft>
              <a:buClr>
                <a:srgbClr val="000000"/>
              </a:buClr>
              <a:buSzPts val="1800"/>
              <a:buChar char="●"/>
            </a:pPr>
            <a:r>
              <a:rPr lang="en" sz="1800">
                <a:solidFill>
                  <a:srgbClr val="000000"/>
                </a:solidFill>
              </a:rPr>
              <a:t>...</a:t>
            </a:r>
            <a:endParaRPr sz="1800">
              <a:solidFill>
                <a:srgbClr val="000000"/>
              </a:solidFill>
            </a:endParaRPr>
          </a:p>
          <a:p>
            <a:pPr indent="0" lvl="0" marL="914400" rtl="0" algn="l">
              <a:spcBef>
                <a:spcPts val="0"/>
              </a:spcBef>
              <a:spcAft>
                <a:spcPts val="0"/>
              </a:spcAft>
              <a:buNone/>
            </a:pPr>
            <a:r>
              <a:t/>
            </a:r>
            <a:endParaRPr sz="1600"/>
          </a:p>
        </p:txBody>
      </p:sp>
      <p:pic>
        <p:nvPicPr>
          <p:cNvPr id="152" name="Google Shape;152;p27" title="Upward shot of Golden Gate Bridge against blue sky"/>
          <p:cNvPicPr preferRelativeResize="0"/>
          <p:nvPr/>
        </p:nvPicPr>
        <p:blipFill rotWithShape="1">
          <a:blip r:embed="rId3">
            <a:alphaModFix/>
          </a:blip>
          <a:srcRect b="0" l="19071" r="4853" t="9"/>
          <a:stretch/>
        </p:blipFill>
        <p:spPr>
          <a:xfrm>
            <a:off x="5719675" y="1341362"/>
            <a:ext cx="2808004" cy="246076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8"/>
          <p:cNvSpPr txBox="1"/>
          <p:nvPr>
            <p:ph type="title"/>
          </p:nvPr>
        </p:nvSpPr>
        <p:spPr>
          <a:xfrm>
            <a:off x="828000" y="477150"/>
            <a:ext cx="7067700" cy="755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Next Steps</a:t>
            </a:r>
            <a:endParaRPr/>
          </a:p>
        </p:txBody>
      </p:sp>
      <p:sp>
        <p:nvSpPr>
          <p:cNvPr id="158" name="Google Shape;158;p28"/>
          <p:cNvSpPr txBox="1"/>
          <p:nvPr>
            <p:ph idx="1" type="body"/>
          </p:nvPr>
        </p:nvSpPr>
        <p:spPr>
          <a:xfrm>
            <a:off x="617575" y="1512975"/>
            <a:ext cx="4184100" cy="2448300"/>
          </a:xfrm>
          <a:prstGeom prst="rect">
            <a:avLst/>
          </a:prstGeom>
        </p:spPr>
        <p:txBody>
          <a:bodyPr anchorCtr="0" anchor="t" bIns="91425" lIns="91425" spcFirstLastPara="1" rIns="91425" wrap="square" tIns="91425">
            <a:noAutofit/>
          </a:bodyPr>
          <a:lstStyle/>
          <a:p>
            <a:pPr indent="-342900" lvl="0" marL="457200" marR="0" rtl="0" algn="l">
              <a:lnSpc>
                <a:spcPct val="115000"/>
              </a:lnSpc>
              <a:spcBef>
                <a:spcPts val="0"/>
              </a:spcBef>
              <a:spcAft>
                <a:spcPts val="0"/>
              </a:spcAft>
              <a:buClr>
                <a:schemeClr val="dk2"/>
              </a:buClr>
              <a:buSzPts val="1800"/>
              <a:buFont typeface="Raleway"/>
              <a:buChar char="●"/>
            </a:pPr>
            <a:r>
              <a:rPr lang="en" sz="1800">
                <a:solidFill>
                  <a:schemeClr val="dk2"/>
                </a:solidFill>
                <a:latin typeface="Raleway"/>
                <a:ea typeface="Raleway"/>
                <a:cs typeface="Raleway"/>
                <a:sym typeface="Raleway"/>
              </a:rPr>
              <a:t>Review Project Specifications</a:t>
            </a:r>
            <a:endParaRPr sz="1800">
              <a:solidFill>
                <a:schemeClr val="dk2"/>
              </a:solidFill>
              <a:latin typeface="Raleway"/>
              <a:ea typeface="Raleway"/>
              <a:cs typeface="Raleway"/>
              <a:sym typeface="Raleway"/>
            </a:endParaRPr>
          </a:p>
          <a:p>
            <a:pPr indent="-342900" lvl="0" marL="457200" marR="0" rtl="0" algn="l">
              <a:lnSpc>
                <a:spcPct val="115000"/>
              </a:lnSpc>
              <a:spcBef>
                <a:spcPts val="0"/>
              </a:spcBef>
              <a:spcAft>
                <a:spcPts val="0"/>
              </a:spcAft>
              <a:buClr>
                <a:schemeClr val="dk2"/>
              </a:buClr>
              <a:buSzPts val="1800"/>
              <a:buFont typeface="Raleway"/>
              <a:buChar char="●"/>
            </a:pPr>
            <a:r>
              <a:rPr lang="en" sz="1800">
                <a:solidFill>
                  <a:schemeClr val="dk2"/>
                </a:solidFill>
                <a:latin typeface="Raleway"/>
                <a:ea typeface="Raleway"/>
                <a:cs typeface="Raleway"/>
                <a:sym typeface="Raleway"/>
              </a:rPr>
              <a:t>Team planning and collaboration</a:t>
            </a:r>
            <a:endParaRPr sz="1800">
              <a:solidFill>
                <a:schemeClr val="dk2"/>
              </a:solidFill>
              <a:latin typeface="Raleway"/>
              <a:ea typeface="Raleway"/>
              <a:cs typeface="Raleway"/>
              <a:sym typeface="Raleway"/>
            </a:endParaRPr>
          </a:p>
          <a:p>
            <a:pPr indent="-342900" lvl="0" marL="457200" marR="0" rtl="0" algn="l">
              <a:lnSpc>
                <a:spcPct val="115000"/>
              </a:lnSpc>
              <a:spcBef>
                <a:spcPts val="0"/>
              </a:spcBef>
              <a:spcAft>
                <a:spcPts val="0"/>
              </a:spcAft>
              <a:buClr>
                <a:schemeClr val="dk2"/>
              </a:buClr>
              <a:buSzPts val="1800"/>
              <a:buFont typeface="Raleway"/>
              <a:buChar char="●"/>
            </a:pPr>
            <a:r>
              <a:rPr lang="en" sz="1800">
                <a:solidFill>
                  <a:schemeClr val="dk2"/>
                </a:solidFill>
                <a:latin typeface="Raleway"/>
                <a:ea typeface="Raleway"/>
                <a:cs typeface="Raleway"/>
                <a:sym typeface="Raleway"/>
              </a:rPr>
              <a:t>Next deliverable and timeline</a:t>
            </a:r>
            <a:endParaRPr sz="1800">
              <a:solidFill>
                <a:schemeClr val="dk2"/>
              </a:solidFill>
              <a:latin typeface="Raleway"/>
              <a:ea typeface="Raleway"/>
              <a:cs typeface="Raleway"/>
              <a:sym typeface="Raleway"/>
            </a:endParaRPr>
          </a:p>
          <a:p>
            <a:pPr indent="-342900" lvl="0" marL="457200" marR="0" rtl="0" algn="l">
              <a:lnSpc>
                <a:spcPct val="115000"/>
              </a:lnSpc>
              <a:spcBef>
                <a:spcPts val="0"/>
              </a:spcBef>
              <a:spcAft>
                <a:spcPts val="0"/>
              </a:spcAft>
              <a:buClr>
                <a:schemeClr val="dk2"/>
              </a:buClr>
              <a:buSzPts val="1800"/>
              <a:buFont typeface="Raleway"/>
              <a:buChar char="●"/>
            </a:pPr>
            <a:r>
              <a:rPr lang="en" sz="1800">
                <a:solidFill>
                  <a:schemeClr val="dk2"/>
                </a:solidFill>
                <a:latin typeface="Raleway"/>
                <a:ea typeface="Raleway"/>
                <a:cs typeface="Raleway"/>
                <a:sym typeface="Raleway"/>
              </a:rPr>
              <a:t>Expectations &amp; peer evaluation</a:t>
            </a:r>
            <a:endParaRPr sz="1800">
              <a:solidFill>
                <a:schemeClr val="dk2"/>
              </a:solidFill>
              <a:latin typeface="Raleway"/>
              <a:ea typeface="Raleway"/>
              <a:cs typeface="Raleway"/>
              <a:sym typeface="Raleway"/>
            </a:endParaRPr>
          </a:p>
        </p:txBody>
      </p:sp>
      <p:pic>
        <p:nvPicPr>
          <p:cNvPr id="159" name="Google Shape;159;p28"/>
          <p:cNvPicPr preferRelativeResize="0"/>
          <p:nvPr/>
        </p:nvPicPr>
        <p:blipFill>
          <a:blip r:embed="rId3">
            <a:alphaModFix/>
          </a:blip>
          <a:stretch>
            <a:fillRect/>
          </a:stretch>
        </p:blipFill>
        <p:spPr>
          <a:xfrm>
            <a:off x="5200050" y="1512963"/>
            <a:ext cx="3182156" cy="21175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Plum">
  <a:themeElements>
    <a:clrScheme name="Plum">
      <a:dk1>
        <a:srgbClr val="611BB8"/>
      </a:dk1>
      <a:lt1>
        <a:srgbClr val="FFFFFF"/>
      </a:lt1>
      <a:dk2>
        <a:srgbClr val="000000"/>
      </a:dk2>
      <a:lt2>
        <a:srgbClr val="7F7F7F"/>
      </a:lt2>
      <a:accent1>
        <a:srgbClr val="333333"/>
      </a:accent1>
      <a:accent2>
        <a:srgbClr val="5E2B97"/>
      </a:accent2>
      <a:accent3>
        <a:srgbClr val="7E57C2"/>
      </a:accent3>
      <a:accent4>
        <a:srgbClr val="C77025"/>
      </a:accent4>
      <a:accent5>
        <a:srgbClr val="009688"/>
      </a:accent5>
      <a:accent6>
        <a:srgbClr val="FFD600"/>
      </a:accent6>
      <a:hlink>
        <a:srgbClr val="009688"/>
      </a:hlink>
      <a:folHlink>
        <a:srgbClr val="00968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