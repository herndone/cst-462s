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9144000"/>
  <p:notesSz cx="6858000" cy="9144000"/>
  <p:embeddedFontLst>
    <p:embeddedFont>
      <p:font typeface="Roboto Slab"/>
      <p:regular r:id="rId39"/>
      <p:bold r:id="rId40"/>
    </p:embeddedFont>
    <p:embeddedFont>
      <p:font typeface="Roboto"/>
      <p:regular r:id="rId41"/>
      <p:bold r:id="rId42"/>
      <p:italic r:id="rId43"/>
      <p:boldItalic r:id="rId44"/>
    </p:embeddedFont>
    <p:embeddedFont>
      <p:font typeface="Palatino Linotype"/>
      <p:regular r:id="rId45"/>
      <p:bold r:id="rId46"/>
      <p:italic r:id="rId47"/>
      <p:boldItalic r:id="rId48"/>
    </p:embeddedFont>
    <p:embeddedFont>
      <p:font typeface="Sorts Mill Goudy"/>
      <p:regular r:id="rId49"/>
      <p:italic r:id="rId50"/>
    </p:embeddedFont>
    <p:embeddedFont>
      <p:font typeface="Cutive"/>
      <p:regular r:id="rId51"/>
    </p:embeddedFont>
    <p:embeddedFont>
      <p:font typeface="Roboto Slab Regular"/>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Slab-bold.fntdata"/><Relationship Id="rId42" Type="http://schemas.openxmlformats.org/officeDocument/2006/relationships/font" Target="fonts/Roboto-bold.fntdata"/><Relationship Id="rId41" Type="http://schemas.openxmlformats.org/officeDocument/2006/relationships/font" Target="fonts/Roboto-regular.fntdata"/><Relationship Id="rId44" Type="http://schemas.openxmlformats.org/officeDocument/2006/relationships/font" Target="fonts/Roboto-boldItalic.fntdata"/><Relationship Id="rId43" Type="http://schemas.openxmlformats.org/officeDocument/2006/relationships/font" Target="fonts/Roboto-italic.fntdata"/><Relationship Id="rId46" Type="http://schemas.openxmlformats.org/officeDocument/2006/relationships/font" Target="fonts/PalatinoLinotype-bold.fntdata"/><Relationship Id="rId45" Type="http://schemas.openxmlformats.org/officeDocument/2006/relationships/font" Target="fonts/PalatinoLinotyp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alatinoLinotype-boldItalic.fntdata"/><Relationship Id="rId47" Type="http://schemas.openxmlformats.org/officeDocument/2006/relationships/font" Target="fonts/PalatinoLinotype-italic.fntdata"/><Relationship Id="rId49" Type="http://schemas.openxmlformats.org/officeDocument/2006/relationships/font" Target="fonts/SortsMillGoud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RobotoSlab-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utive-regular.fntdata"/><Relationship Id="rId50" Type="http://schemas.openxmlformats.org/officeDocument/2006/relationships/font" Target="fonts/SortsMillGoudy-italic.fntdata"/><Relationship Id="rId53" Type="http://schemas.openxmlformats.org/officeDocument/2006/relationships/font" Target="fonts/RobotoSlabRegular-bold.fntdata"/><Relationship Id="rId52" Type="http://schemas.openxmlformats.org/officeDocument/2006/relationships/font" Target="fonts/RobotoSlabRegular-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goal of these next few slides is to assess how well versed students are on this topic. In other words, we need to help them unlearn first.</a:t>
            </a:r>
            <a:endParaRPr/>
          </a:p>
          <a:p>
            <a:pPr indent="0" lvl="0" marL="0" rtl="0" algn="l">
              <a:spcBef>
                <a:spcPts val="0"/>
              </a:spcBef>
              <a:spcAft>
                <a:spcPts val="0"/>
              </a:spcAft>
              <a:buNone/>
            </a:pPr>
            <a:r>
              <a:t/>
            </a:r>
            <a:endParaRPr/>
          </a:p>
        </p:txBody>
      </p:sp>
      <p:sp>
        <p:nvSpPr>
          <p:cNvPr id="180" name="Google Shape;18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7e7e93068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7e7e93068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goal of these next few slides is to assess how well versed students are on this topic. In other words, we need to help them unlearn first.</a:t>
            </a:r>
            <a:endParaRPr/>
          </a:p>
          <a:p>
            <a:pPr indent="0" lvl="0" marL="0" rtl="0" algn="l">
              <a:spcBef>
                <a:spcPts val="0"/>
              </a:spcBef>
              <a:spcAft>
                <a:spcPts val="0"/>
              </a:spcAft>
              <a:buNone/>
            </a:pPr>
            <a:r>
              <a:t/>
            </a:r>
            <a:endParaRPr/>
          </a:p>
        </p:txBody>
      </p:sp>
      <p:sp>
        <p:nvSpPr>
          <p:cNvPr id="186" name="Google Shape;186;g7e7e93068c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5e11e5cd10_1_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5e11e5cd10_1_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Causes of racism. Fear</a:t>
            </a:r>
            <a:endParaRPr/>
          </a:p>
        </p:txBody>
      </p:sp>
      <p:sp>
        <p:nvSpPr>
          <p:cNvPr id="192" name="Google Shape;192;g5e11e5cd10_1_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7e7e93068c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7e7e93068c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7e7e93068c_0_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5f68633dbe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5f68633dbe_0_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5f68633dbe_0_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7e7e93068c_0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7e7e93068c_0_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7e7e93068c_0_5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7e7e93068c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7e7e93068c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7e7e93068c_0_6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7e7e93068c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7e7e93068c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7e7e93068c_0_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5e47c21181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5e47c21181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5e47c21181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5e47c21181_1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5e47c21181_1_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5e47c21181_1_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5e11e5cd10_1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5e11e5cd10_1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5e11e5cd10_1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5dff691c5c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5dff691c5c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Statement A adopts a </a:t>
            </a:r>
            <a:r>
              <a:rPr b="1" lang="en-US"/>
              <a:t>libertarian</a:t>
            </a:r>
            <a:r>
              <a:rPr lang="en-US"/>
              <a:t> perspective that prioritizes individual freedom regardless of ends or costs. They believe that freedom is so sacrosanct as to trump all other virtues.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B adopts a </a:t>
            </a:r>
            <a:r>
              <a:rPr b="1" lang="en-US"/>
              <a:t>utilitarian</a:t>
            </a:r>
            <a:r>
              <a:rPr lang="en-US"/>
              <a:t> perspective that prioritizes a cost/benefit analysis of where free market principles must be set aside during an emergency because it does more harm than good in this situation.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Statement C adopts a </a:t>
            </a:r>
            <a:r>
              <a:rPr b="1" lang="en-US"/>
              <a:t>humanist</a:t>
            </a:r>
            <a:r>
              <a:rPr lang="en-US"/>
              <a:t> perspective that believes that seeks to promote virtue by shaming price gougers for their greed and passing anti-gouging laws so extreme price increases don’t happen during emergencies. </a:t>
            </a:r>
            <a:endParaRPr/>
          </a:p>
        </p:txBody>
      </p:sp>
      <p:sp>
        <p:nvSpPr>
          <p:cNvPr id="247" name="Google Shape;247;g5dff691c5c_0_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5dff691c5c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5dff691c5c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Even at the beginning of American republic, blacks were a significant percentage of the population, especially in the South. Delaware and Maryland were originally slave states, but banned the practice much sooner than the states of the Old South.</a:t>
            </a:r>
            <a:endParaRPr/>
          </a:p>
        </p:txBody>
      </p:sp>
      <p:sp>
        <p:nvSpPr>
          <p:cNvPr id="253" name="Google Shape;253;g5dff691c5c_0_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5dff691c5c_0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5dff691c5c_0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5dff691c5c_0_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7e7e93068c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7e7e93068c_0_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7e7e93068c_0_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5dff691c5c_0_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5dff691c5c_0_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5dff691c5c_0_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64c754b4ae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64c754b4ae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g64c754b4ae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7e7e93068c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7e7e93068c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goal of these next few slides is to assess how well versed students are on this topic. In other words, we need to help them unlearn first.</a:t>
            </a:r>
            <a:endParaRPr/>
          </a:p>
          <a:p>
            <a:pPr indent="0" lvl="0" marL="0" rtl="0" algn="l">
              <a:spcBef>
                <a:spcPts val="0"/>
              </a:spcBef>
              <a:spcAft>
                <a:spcPts val="0"/>
              </a:spcAft>
              <a:buNone/>
            </a:pPr>
            <a:r>
              <a:t/>
            </a:r>
            <a:endParaRPr/>
          </a:p>
        </p:txBody>
      </p:sp>
      <p:sp>
        <p:nvSpPr>
          <p:cNvPr id="283" name="Google Shape;283;g7e7e93068c_0_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5dff691c5c_0_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5dff691c5c_0_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Even at the beginning of American republic, blacks were a significant percentage of the population, especially in the South. Delaware and Maryland were originally slave states, but banned the practice much sooner than the states of the Old South.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000">
                <a:solidFill>
                  <a:srgbClr val="525252"/>
                </a:solidFill>
                <a:highlight>
                  <a:srgbClr val="FFFFFF"/>
                </a:highlight>
                <a:latin typeface="Arial"/>
                <a:ea typeface="Arial"/>
                <a:cs typeface="Arial"/>
                <a:sym typeface="Arial"/>
              </a:rPr>
              <a:t>New Deal was a series of programs, public work projects, financial reforms, and regulations enacted by President Franklin D. Roosevelt in the United States between 1933 and 1936. It responded to needs for relief, reform, and recovery from the Great Depression.</a:t>
            </a:r>
            <a:endParaRPr sz="1000">
              <a:solidFill>
                <a:srgbClr val="525252"/>
              </a:solidFill>
              <a:highlight>
                <a:srgbClr val="FFFFFF"/>
              </a:highlight>
              <a:latin typeface="Arial"/>
              <a:ea typeface="Arial"/>
              <a:cs typeface="Arial"/>
              <a:sym typeface="Arial"/>
            </a:endParaRPr>
          </a:p>
          <a:p>
            <a:pPr indent="0" lvl="0" marL="0" rtl="0" algn="l">
              <a:spcBef>
                <a:spcPts val="0"/>
              </a:spcBef>
              <a:spcAft>
                <a:spcPts val="0"/>
              </a:spcAft>
              <a:buNone/>
            </a:pPr>
            <a:r>
              <a:t/>
            </a:r>
            <a:endParaRPr sz="1000">
              <a:solidFill>
                <a:srgbClr val="525252"/>
              </a:solidFill>
              <a:highlight>
                <a:srgbClr val="FFFFFF"/>
              </a:highlight>
              <a:latin typeface="Arial"/>
              <a:ea typeface="Arial"/>
              <a:cs typeface="Arial"/>
              <a:sym typeface="Arial"/>
            </a:endParaRPr>
          </a:p>
          <a:p>
            <a:pPr indent="0" lvl="0" marL="0" rtl="0" algn="l">
              <a:spcBef>
                <a:spcPts val="0"/>
              </a:spcBef>
              <a:spcAft>
                <a:spcPts val="0"/>
              </a:spcAft>
              <a:buNone/>
            </a:pPr>
            <a:r>
              <a:rPr lang="en-US" sz="1000">
                <a:solidFill>
                  <a:srgbClr val="525252"/>
                </a:solidFill>
                <a:highlight>
                  <a:srgbClr val="FFFFFF"/>
                </a:highlight>
                <a:latin typeface="Arial"/>
                <a:ea typeface="Arial"/>
                <a:cs typeface="Arial"/>
                <a:sym typeface="Arial"/>
              </a:rPr>
              <a:t>The Great Society was a set of domestic programs in the United States launched by Democratic President Lyndon B. Johnson in 1964–65. The main goal was the total elimination of poverty and racial injustice.</a:t>
            </a:r>
            <a:endParaRPr sz="1000">
              <a:solidFill>
                <a:srgbClr val="525252"/>
              </a:solidFill>
              <a:highlight>
                <a:srgbClr val="FFFFFF"/>
              </a:highlight>
              <a:latin typeface="Arial"/>
              <a:ea typeface="Arial"/>
              <a:cs typeface="Arial"/>
              <a:sym typeface="Arial"/>
            </a:endParaRPr>
          </a:p>
        </p:txBody>
      </p:sp>
      <p:sp>
        <p:nvSpPr>
          <p:cNvPr id="289" name="Google Shape;289;g5dff691c5c_0_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5e47c21181_1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5e47c21181_1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military draft has historically recruited soldiers from the lower end of the socioeconomic spectrum. They have fewer job options outside of the military, but just as importantly, they have fewer connections and resources with which to contest their conscription.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College admissions favors those with money. Elite college admissions those with extremely wealthy parents who attended or donated to the school in question.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Law firms, especially the elite ones, operate as extensions of high society clubs because they want their rich clients represented by lawyers from the same socioeconomic background. A degree from one of a handful of institutions is required to get one’s foot in the door. All others need not apply regardless of skills.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Since 1934, the federal government has played an active role in civil rights, but its participation in the housing market has actually worsened housing inequality.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2" name="Google Shape;302;g5e47c21181_1_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5e47c21181_1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5e47c21181_1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military draft has historically recruited soldiers from the lower end of the socioeconomic spectrum. They have fewer job options outside of the military, but just as importantly, they have fewer connections and resources with which to contest their conscription.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College admissions favors those with money. Elite college admissions those with extremely wealthy parents who attended or donated to the school in question.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Law firms, especially the elite ones, operate as extensions of high society clubs because they want their rich clients represented by lawyers from the same socioeconomic background. A degree from one of a handful of institutions is required to get one’s foot in the door. All others need not apply regardless of skills.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Since 1934, the federal government has played an active role in civil rights, but its participation in the housing market has actually worsened housing inequality.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9" name="Google Shape;309;g5e47c21181_1_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5e47c21181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5e47c21181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g5e47c21181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64d2537d4b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64d2537d4b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64d2537d4b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7e7e93068c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7e7e93068c_0_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7e7e93068c_0_4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5df69b395b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5df69b395b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5df69b395b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5dff691c5c_0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5dff691c5c_0_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g5dff691c5c_0_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64c754b4ae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64c754b4ae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64c754b4ae_0_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7e7e93068c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7e7e93068c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g7e7e93068c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64c948f045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64c948f045_0_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64c948f045_0_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5dff691c5c_0_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5dff691c5c_0_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military draft has historically recruited soldiers from the lower end of the socioeconomic spectrum. They have fewer job options outside of the military, but just as importantly, they have fewer connections and resources with which to contest their conscription.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College admissions favors those with money. Elite college admissions those with extremely wealthy parents who attended or donated to the school in question.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Law firms, especially the elite ones, operate as extensions of high society clubs because they want their rich clients represented by lawyers from the same socioeconomic background. A degree from one of a handful of institutions is required to get one’s foot in the door. All others need not apply regardless of skills.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Since 1934, the federal government has played an active role in civil rights, but its participation in the housing market has actually worsened housing inequality.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66" name="Google Shape;366;g5dff691c5c_0_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64c948f04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64c948f045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g64c948f045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9dc9d0b98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9dc9d0b982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lecturing, you have start with the big reveal then work backwards. Sandel started with an anecdote before he got to his point. We will have to cut to the chase from the get go. </a:t>
            </a:r>
            <a:endParaRPr/>
          </a:p>
          <a:p>
            <a:pPr indent="0" lvl="0" marL="0" rtl="0" algn="l">
              <a:spcBef>
                <a:spcPts val="0"/>
              </a:spcBef>
              <a:spcAft>
                <a:spcPts val="0"/>
              </a:spcAft>
              <a:buNone/>
            </a:pPr>
            <a:r>
              <a:t/>
            </a:r>
            <a:endParaRPr/>
          </a:p>
        </p:txBody>
      </p:sp>
      <p:sp>
        <p:nvSpPr>
          <p:cNvPr id="378" name="Google Shape;378;g9dc9d0b982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3"/>
          <p:cNvSpPr txBox="1"/>
          <p:nvPr>
            <p:ph type="ctrTitle"/>
          </p:nvPr>
        </p:nvSpPr>
        <p:spPr>
          <a:xfrm>
            <a:off x="2209800" y="3124200"/>
            <a:ext cx="6477000" cy="1914144"/>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sz="4600">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2209800" y="5056634"/>
            <a:ext cx="6477000" cy="1174088"/>
          </a:xfrm>
          <a:prstGeom prst="rect">
            <a:avLst/>
          </a:prstGeom>
          <a:noFill/>
          <a:ln>
            <a:noFill/>
          </a:ln>
        </p:spPr>
        <p:txBody>
          <a:bodyPr anchorCtr="0" anchor="t" bIns="0" lIns="91425" spcFirstLastPara="1" rIns="45700" wrap="square" tIns="0">
            <a:noAutofit/>
          </a:bodyPr>
          <a:lstStyle>
            <a:lvl1pPr lvl="0" algn="l">
              <a:lnSpc>
                <a:spcPct val="118181"/>
              </a:lnSpc>
              <a:spcBef>
                <a:spcPts val="0"/>
              </a:spcBef>
              <a:spcAft>
                <a:spcPts val="0"/>
              </a:spcAft>
              <a:buClr>
                <a:schemeClr val="dk1"/>
              </a:buClr>
              <a:buSzPts val="1980"/>
              <a:buFont typeface="Sorts Mill Goudy"/>
              <a:buNone/>
              <a:defRPr sz="2200">
                <a:solidFill>
                  <a:schemeClr val="dk1"/>
                </a:solidFill>
                <a:latin typeface="Sorts Mill Goudy"/>
                <a:ea typeface="Sorts Mill Goudy"/>
                <a:cs typeface="Sorts Mill Goudy"/>
                <a:sym typeface="Sorts Mill Goudy"/>
              </a:defRPr>
            </a:lvl1pPr>
            <a:lvl2pPr lvl="1" algn="ctr">
              <a:spcBef>
                <a:spcPts val="600"/>
              </a:spcBef>
              <a:spcAft>
                <a:spcPts val="0"/>
              </a:spcAft>
              <a:buClr>
                <a:srgbClr val="888888"/>
              </a:buClr>
              <a:buSzPts val="1980"/>
              <a:buFont typeface="Sorts Mill Goudy"/>
              <a:buNone/>
              <a:defRPr>
                <a:solidFill>
                  <a:srgbClr val="888888"/>
                </a:solidFill>
              </a:defRPr>
            </a:lvl2pPr>
            <a:lvl3pPr lvl="2" algn="ctr">
              <a:spcBef>
                <a:spcPts val="600"/>
              </a:spcBef>
              <a:spcAft>
                <a:spcPts val="0"/>
              </a:spcAft>
              <a:buClr>
                <a:srgbClr val="888888"/>
              </a:buClr>
              <a:buSzPts val="1800"/>
              <a:buFont typeface="Sorts Mill Goudy"/>
              <a:buNone/>
              <a:defRPr>
                <a:solidFill>
                  <a:srgbClr val="888888"/>
                </a:solidFill>
              </a:defRPr>
            </a:lvl3pPr>
            <a:lvl4pPr lvl="3" algn="ctr">
              <a:spcBef>
                <a:spcPts val="600"/>
              </a:spcBef>
              <a:spcAft>
                <a:spcPts val="0"/>
              </a:spcAft>
              <a:buClr>
                <a:srgbClr val="888888"/>
              </a:buClr>
              <a:buSzPts val="1620"/>
              <a:buFont typeface="Sorts Mill Goudy"/>
              <a:buNone/>
              <a:defRPr>
                <a:solidFill>
                  <a:srgbClr val="888888"/>
                </a:solidFill>
              </a:defRPr>
            </a:lvl4pPr>
            <a:lvl5pPr lvl="4" algn="ctr">
              <a:spcBef>
                <a:spcPts val="600"/>
              </a:spcBef>
              <a:spcAft>
                <a:spcPts val="0"/>
              </a:spcAft>
              <a:buClr>
                <a:srgbClr val="888888"/>
              </a:buClr>
              <a:buSzPts val="1620"/>
              <a:buFont typeface="Sorts Mill Goudy"/>
              <a:buNone/>
              <a:defRPr>
                <a:solidFill>
                  <a:srgbClr val="888888"/>
                </a:solidFill>
              </a:defRPr>
            </a:lvl5pPr>
            <a:lvl6pPr lvl="5" algn="ctr">
              <a:spcBef>
                <a:spcPts val="360"/>
              </a:spcBef>
              <a:spcAft>
                <a:spcPts val="0"/>
              </a:spcAft>
              <a:buClr>
                <a:srgbClr val="888888"/>
              </a:buClr>
              <a:buSzPts val="1620"/>
              <a:buFont typeface="Sorts Mill Goudy"/>
              <a:buNone/>
              <a:defRPr>
                <a:solidFill>
                  <a:srgbClr val="888888"/>
                </a:solidFill>
              </a:defRPr>
            </a:lvl6pPr>
            <a:lvl7pPr lvl="6" algn="ctr">
              <a:spcBef>
                <a:spcPts val="360"/>
              </a:spcBef>
              <a:spcAft>
                <a:spcPts val="0"/>
              </a:spcAft>
              <a:buClr>
                <a:srgbClr val="888888"/>
              </a:buClr>
              <a:buSzPts val="1620"/>
              <a:buFont typeface="Sorts Mill Goudy"/>
              <a:buNone/>
              <a:defRPr>
                <a:solidFill>
                  <a:srgbClr val="888888"/>
                </a:solidFill>
              </a:defRPr>
            </a:lvl7pPr>
            <a:lvl8pPr lvl="7" algn="ctr">
              <a:spcBef>
                <a:spcPts val="360"/>
              </a:spcBef>
              <a:spcAft>
                <a:spcPts val="0"/>
              </a:spcAft>
              <a:buClr>
                <a:srgbClr val="888888"/>
              </a:buClr>
              <a:buSzPts val="1620"/>
              <a:buFont typeface="Sorts Mill Goudy"/>
              <a:buNone/>
              <a:defRPr>
                <a:solidFill>
                  <a:srgbClr val="888888"/>
                </a:solidFill>
              </a:defRPr>
            </a:lvl8pPr>
            <a:lvl9pPr lvl="8" algn="ctr">
              <a:spcBef>
                <a:spcPts val="360"/>
              </a:spcBef>
              <a:spcAft>
                <a:spcPts val="0"/>
              </a:spcAft>
              <a:buClr>
                <a:srgbClr val="888888"/>
              </a:buClr>
              <a:buSzPts val="1620"/>
              <a:buFont typeface="Sorts Mill Goudy"/>
              <a:buNone/>
              <a:defRPr>
                <a:solidFill>
                  <a:srgbClr val="888888"/>
                </a:solidFill>
              </a:defRPr>
            </a:lvl9pPr>
          </a:lstStyle>
          <a:p/>
        </p:txBody>
      </p:sp>
      <p:sp>
        <p:nvSpPr>
          <p:cNvPr id="22" name="Google Shape;22;p3"/>
          <p:cNvSpPr txBox="1"/>
          <p:nvPr>
            <p:ph idx="10" type="dt"/>
          </p:nvPr>
        </p:nvSpPr>
        <p:spPr>
          <a:xfrm>
            <a:off x="457200" y="6300216"/>
            <a:ext cx="1984248"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dk1"/>
                </a:solidFill>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959352" y="6300216"/>
            <a:ext cx="3813048"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dk1"/>
                </a:solidFill>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275320" y="6300216"/>
            <a:ext cx="6858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dk1"/>
                </a:solidFill>
                <a:latin typeface="Rockwell"/>
                <a:ea typeface="Rockwell"/>
                <a:cs typeface="Rockwell"/>
                <a:sym typeface="Rockwell"/>
              </a:defRPr>
            </a:lvl1pPr>
            <a:lvl2pPr indent="0" lvl="1" marL="0" algn="r">
              <a:spcBef>
                <a:spcPts val="0"/>
              </a:spcBef>
              <a:buNone/>
              <a:defRPr b="0" i="0" sz="1100" u="none" cap="none" strike="noStrike">
                <a:solidFill>
                  <a:schemeClr val="dk1"/>
                </a:solidFill>
                <a:latin typeface="Rockwell"/>
                <a:ea typeface="Rockwell"/>
                <a:cs typeface="Rockwell"/>
                <a:sym typeface="Rockwell"/>
              </a:defRPr>
            </a:lvl2pPr>
            <a:lvl3pPr indent="0" lvl="2" marL="0" algn="r">
              <a:spcBef>
                <a:spcPts val="0"/>
              </a:spcBef>
              <a:buNone/>
              <a:defRPr b="0" i="0" sz="1100" u="none" cap="none" strike="noStrike">
                <a:solidFill>
                  <a:schemeClr val="dk1"/>
                </a:solidFill>
                <a:latin typeface="Rockwell"/>
                <a:ea typeface="Rockwell"/>
                <a:cs typeface="Rockwell"/>
                <a:sym typeface="Rockwell"/>
              </a:defRPr>
            </a:lvl3pPr>
            <a:lvl4pPr indent="0" lvl="3" marL="0" algn="r">
              <a:spcBef>
                <a:spcPts val="0"/>
              </a:spcBef>
              <a:buNone/>
              <a:defRPr b="0" i="0" sz="1100" u="none" cap="none" strike="noStrike">
                <a:solidFill>
                  <a:schemeClr val="dk1"/>
                </a:solidFill>
                <a:latin typeface="Rockwell"/>
                <a:ea typeface="Rockwell"/>
                <a:cs typeface="Rockwell"/>
                <a:sym typeface="Rockwell"/>
              </a:defRPr>
            </a:lvl4pPr>
            <a:lvl5pPr indent="0" lvl="4" marL="0" algn="r">
              <a:spcBef>
                <a:spcPts val="0"/>
              </a:spcBef>
              <a:buNone/>
              <a:defRPr b="0" i="0" sz="1100" u="none" cap="none" strike="noStrike">
                <a:solidFill>
                  <a:schemeClr val="dk1"/>
                </a:solidFill>
                <a:latin typeface="Rockwell"/>
                <a:ea typeface="Rockwell"/>
                <a:cs typeface="Rockwell"/>
                <a:sym typeface="Rockwell"/>
              </a:defRPr>
            </a:lvl5pPr>
            <a:lvl6pPr indent="0" lvl="5" marL="0" algn="r">
              <a:spcBef>
                <a:spcPts val="0"/>
              </a:spcBef>
              <a:buNone/>
              <a:defRPr b="0" i="0" sz="1100" u="none" cap="none" strike="noStrike">
                <a:solidFill>
                  <a:schemeClr val="dk1"/>
                </a:solidFill>
                <a:latin typeface="Rockwell"/>
                <a:ea typeface="Rockwell"/>
                <a:cs typeface="Rockwell"/>
                <a:sym typeface="Rockwell"/>
              </a:defRPr>
            </a:lvl6pPr>
            <a:lvl7pPr indent="0" lvl="6" marL="0" algn="r">
              <a:spcBef>
                <a:spcPts val="0"/>
              </a:spcBef>
              <a:buNone/>
              <a:defRPr b="0" i="0" sz="1100" u="none" cap="none" strike="noStrike">
                <a:solidFill>
                  <a:schemeClr val="dk1"/>
                </a:solidFill>
                <a:latin typeface="Rockwell"/>
                <a:ea typeface="Rockwell"/>
                <a:cs typeface="Rockwell"/>
                <a:sym typeface="Rockwell"/>
              </a:defRPr>
            </a:lvl7pPr>
            <a:lvl8pPr indent="0" lvl="7" marL="0" algn="r">
              <a:spcBef>
                <a:spcPts val="0"/>
              </a:spcBef>
              <a:buNone/>
              <a:defRPr b="0" i="0" sz="1100" u="none" cap="none" strike="noStrike">
                <a:solidFill>
                  <a:schemeClr val="dk1"/>
                </a:solidFill>
                <a:latin typeface="Rockwell"/>
                <a:ea typeface="Rockwell"/>
                <a:cs typeface="Rockwell"/>
                <a:sym typeface="Rockwell"/>
              </a:defRPr>
            </a:lvl8pPr>
            <a:lvl9pPr indent="0" lvl="8" marL="0" algn="r">
              <a:spcBef>
                <a:spcPts val="0"/>
              </a:spcBef>
              <a:buNone/>
              <a:defRPr b="0" i="0" sz="1100" u="none" cap="none" strike="noStrike">
                <a:solidFill>
                  <a:schemeClr val="dk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914404" y="1735138"/>
            <a:ext cx="7313613" cy="4056062"/>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28" name="Google Shape;28;p4"/>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Watermark">
  <p:cSld name="Title Slide with Watermark">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5"/>
          <p:cNvSpPr txBox="1"/>
          <p:nvPr>
            <p:ph idx="1" type="body"/>
          </p:nvPr>
        </p:nvSpPr>
        <p:spPr>
          <a:xfrm>
            <a:off x="1122215" y="3200400"/>
            <a:ext cx="8021782" cy="2209800"/>
          </a:xfrm>
          <a:prstGeom prst="rect">
            <a:avLst/>
          </a:prstGeom>
          <a:noFill/>
          <a:ln>
            <a:noFill/>
          </a:ln>
        </p:spPr>
        <p:txBody>
          <a:bodyPr anchorCtr="0" anchor="ctr" bIns="0" lIns="0" spcFirstLastPara="1" rIns="0" wrap="square" tIns="0">
            <a:noAutofit/>
          </a:bodyPr>
          <a:lstStyle>
            <a:lvl1pPr indent="-228600" lvl="0" marL="4572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1pPr>
            <a:lvl2pPr indent="-228600" lvl="1" marL="9144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2pPr>
            <a:lvl3pPr indent="-228600" lvl="2" marL="13716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3pPr>
            <a:lvl4pPr indent="-228600" lvl="3" marL="18288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4pPr>
            <a:lvl5pPr indent="-228600" lvl="4" marL="2286000" algn="r">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33" name="Google Shape;33;p5"/>
          <p:cNvSpPr txBox="1"/>
          <p:nvPr>
            <p:ph type="ctrTitle"/>
          </p:nvPr>
        </p:nvSpPr>
        <p:spPr>
          <a:xfrm>
            <a:off x="3960813" y="3833097"/>
            <a:ext cx="4724400" cy="1209964"/>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sz="4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2" type="subTitle"/>
          </p:nvPr>
        </p:nvSpPr>
        <p:spPr>
          <a:xfrm>
            <a:off x="3960813" y="5056909"/>
            <a:ext cx="4724400" cy="1156586"/>
          </a:xfrm>
          <a:prstGeom prst="rect">
            <a:avLst/>
          </a:prstGeom>
          <a:noFill/>
          <a:ln>
            <a:noFill/>
          </a:ln>
        </p:spPr>
        <p:txBody>
          <a:bodyPr anchorCtr="0" anchor="t" bIns="0" lIns="91425" spcFirstLastPara="1" rIns="45700" wrap="square" tIns="0">
            <a:noAutofit/>
          </a:bodyPr>
          <a:lstStyle>
            <a:lvl1pPr lvl="0" algn="l">
              <a:lnSpc>
                <a:spcPct val="118181"/>
              </a:lnSpc>
              <a:spcBef>
                <a:spcPts val="0"/>
              </a:spcBef>
              <a:spcAft>
                <a:spcPts val="0"/>
              </a:spcAft>
              <a:buClr>
                <a:schemeClr val="dk1"/>
              </a:buClr>
              <a:buSzPts val="1980"/>
              <a:buFont typeface="Sorts Mill Goudy"/>
              <a:buNone/>
              <a:defRPr sz="2200">
                <a:solidFill>
                  <a:schemeClr val="dk1"/>
                </a:solidFill>
              </a:defRPr>
            </a:lvl1pPr>
            <a:lvl2pPr lvl="1" algn="ctr">
              <a:spcBef>
                <a:spcPts val="600"/>
              </a:spcBef>
              <a:spcAft>
                <a:spcPts val="0"/>
              </a:spcAft>
              <a:buClr>
                <a:srgbClr val="888888"/>
              </a:buClr>
              <a:buSzPts val="1980"/>
              <a:buFont typeface="Sorts Mill Goudy"/>
              <a:buNone/>
              <a:defRPr>
                <a:solidFill>
                  <a:srgbClr val="888888"/>
                </a:solidFill>
              </a:defRPr>
            </a:lvl2pPr>
            <a:lvl3pPr lvl="2" algn="ctr">
              <a:spcBef>
                <a:spcPts val="600"/>
              </a:spcBef>
              <a:spcAft>
                <a:spcPts val="0"/>
              </a:spcAft>
              <a:buClr>
                <a:srgbClr val="888888"/>
              </a:buClr>
              <a:buSzPts val="1800"/>
              <a:buFont typeface="Sorts Mill Goudy"/>
              <a:buNone/>
              <a:defRPr>
                <a:solidFill>
                  <a:srgbClr val="888888"/>
                </a:solidFill>
              </a:defRPr>
            </a:lvl3pPr>
            <a:lvl4pPr lvl="3" algn="ctr">
              <a:spcBef>
                <a:spcPts val="600"/>
              </a:spcBef>
              <a:spcAft>
                <a:spcPts val="0"/>
              </a:spcAft>
              <a:buClr>
                <a:srgbClr val="888888"/>
              </a:buClr>
              <a:buSzPts val="1620"/>
              <a:buFont typeface="Sorts Mill Goudy"/>
              <a:buNone/>
              <a:defRPr>
                <a:solidFill>
                  <a:srgbClr val="888888"/>
                </a:solidFill>
              </a:defRPr>
            </a:lvl4pPr>
            <a:lvl5pPr lvl="4" algn="ctr">
              <a:spcBef>
                <a:spcPts val="600"/>
              </a:spcBef>
              <a:spcAft>
                <a:spcPts val="0"/>
              </a:spcAft>
              <a:buClr>
                <a:srgbClr val="888888"/>
              </a:buClr>
              <a:buSzPts val="1620"/>
              <a:buFont typeface="Sorts Mill Goudy"/>
              <a:buNone/>
              <a:defRPr>
                <a:solidFill>
                  <a:srgbClr val="888888"/>
                </a:solidFill>
              </a:defRPr>
            </a:lvl5pPr>
            <a:lvl6pPr lvl="5" algn="ctr">
              <a:spcBef>
                <a:spcPts val="360"/>
              </a:spcBef>
              <a:spcAft>
                <a:spcPts val="0"/>
              </a:spcAft>
              <a:buClr>
                <a:srgbClr val="888888"/>
              </a:buClr>
              <a:buSzPts val="1620"/>
              <a:buFont typeface="Sorts Mill Goudy"/>
              <a:buNone/>
              <a:defRPr>
                <a:solidFill>
                  <a:srgbClr val="888888"/>
                </a:solidFill>
              </a:defRPr>
            </a:lvl6pPr>
            <a:lvl7pPr lvl="6" algn="ctr">
              <a:spcBef>
                <a:spcPts val="360"/>
              </a:spcBef>
              <a:spcAft>
                <a:spcPts val="0"/>
              </a:spcAft>
              <a:buClr>
                <a:srgbClr val="888888"/>
              </a:buClr>
              <a:buSzPts val="1620"/>
              <a:buFont typeface="Sorts Mill Goudy"/>
              <a:buNone/>
              <a:defRPr>
                <a:solidFill>
                  <a:srgbClr val="888888"/>
                </a:solidFill>
              </a:defRPr>
            </a:lvl7pPr>
            <a:lvl8pPr lvl="7" algn="ctr">
              <a:spcBef>
                <a:spcPts val="360"/>
              </a:spcBef>
              <a:spcAft>
                <a:spcPts val="0"/>
              </a:spcAft>
              <a:buClr>
                <a:srgbClr val="888888"/>
              </a:buClr>
              <a:buSzPts val="1620"/>
              <a:buFont typeface="Sorts Mill Goudy"/>
              <a:buNone/>
              <a:defRPr>
                <a:solidFill>
                  <a:srgbClr val="888888"/>
                </a:solidFill>
              </a:defRPr>
            </a:lvl8pPr>
            <a:lvl9pPr lvl="8" algn="ctr">
              <a:spcBef>
                <a:spcPts val="360"/>
              </a:spcBef>
              <a:spcAft>
                <a:spcPts val="0"/>
              </a:spcAft>
              <a:buClr>
                <a:srgbClr val="888888"/>
              </a:buClr>
              <a:buSzPts val="1620"/>
              <a:buFont typeface="Sorts Mill Goudy"/>
              <a:buNone/>
              <a:defRPr>
                <a:solidFill>
                  <a:srgbClr val="888888"/>
                </a:solidFill>
              </a:defRPr>
            </a:lvl9pPr>
          </a:lstStyle>
          <a:p/>
        </p:txBody>
      </p:sp>
      <p:sp>
        <p:nvSpPr>
          <p:cNvPr id="35" name="Google Shape;35;p5"/>
          <p:cNvSpPr txBox="1"/>
          <p:nvPr>
            <p:ph idx="10" type="dt"/>
          </p:nvPr>
        </p:nvSpPr>
        <p:spPr>
          <a:xfrm>
            <a:off x="457200" y="6298744"/>
            <a:ext cx="1981200" cy="273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latin typeface="Rockwell"/>
                <a:ea typeface="Rockwell"/>
                <a:cs typeface="Rockwell"/>
                <a:sym typeface="Rockwe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3962400" y="6298744"/>
            <a:ext cx="3810000" cy="273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264856" y="6312392"/>
            <a:ext cx="685800" cy="26509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dk1"/>
                </a:solidFill>
                <a:latin typeface="Rockwell"/>
                <a:ea typeface="Rockwell"/>
                <a:cs typeface="Rockwell"/>
                <a:sym typeface="Rockwell"/>
              </a:defRPr>
            </a:lvl1pPr>
            <a:lvl2pPr indent="0" lvl="1" marL="0" algn="r">
              <a:spcBef>
                <a:spcPts val="0"/>
              </a:spcBef>
              <a:buNone/>
              <a:defRPr b="0" i="0" sz="1100" u="none" cap="none" strike="noStrike">
                <a:solidFill>
                  <a:schemeClr val="dk1"/>
                </a:solidFill>
                <a:latin typeface="Rockwell"/>
                <a:ea typeface="Rockwell"/>
                <a:cs typeface="Rockwell"/>
                <a:sym typeface="Rockwell"/>
              </a:defRPr>
            </a:lvl2pPr>
            <a:lvl3pPr indent="0" lvl="2" marL="0" algn="r">
              <a:spcBef>
                <a:spcPts val="0"/>
              </a:spcBef>
              <a:buNone/>
              <a:defRPr b="0" i="0" sz="1100" u="none" cap="none" strike="noStrike">
                <a:solidFill>
                  <a:schemeClr val="dk1"/>
                </a:solidFill>
                <a:latin typeface="Rockwell"/>
                <a:ea typeface="Rockwell"/>
                <a:cs typeface="Rockwell"/>
                <a:sym typeface="Rockwell"/>
              </a:defRPr>
            </a:lvl3pPr>
            <a:lvl4pPr indent="0" lvl="3" marL="0" algn="r">
              <a:spcBef>
                <a:spcPts val="0"/>
              </a:spcBef>
              <a:buNone/>
              <a:defRPr b="0" i="0" sz="1100" u="none" cap="none" strike="noStrike">
                <a:solidFill>
                  <a:schemeClr val="dk1"/>
                </a:solidFill>
                <a:latin typeface="Rockwell"/>
                <a:ea typeface="Rockwell"/>
                <a:cs typeface="Rockwell"/>
                <a:sym typeface="Rockwell"/>
              </a:defRPr>
            </a:lvl4pPr>
            <a:lvl5pPr indent="0" lvl="4" marL="0" algn="r">
              <a:spcBef>
                <a:spcPts val="0"/>
              </a:spcBef>
              <a:buNone/>
              <a:defRPr b="0" i="0" sz="1100" u="none" cap="none" strike="noStrike">
                <a:solidFill>
                  <a:schemeClr val="dk1"/>
                </a:solidFill>
                <a:latin typeface="Rockwell"/>
                <a:ea typeface="Rockwell"/>
                <a:cs typeface="Rockwell"/>
                <a:sym typeface="Rockwell"/>
              </a:defRPr>
            </a:lvl5pPr>
            <a:lvl6pPr indent="0" lvl="5" marL="0" algn="r">
              <a:spcBef>
                <a:spcPts val="0"/>
              </a:spcBef>
              <a:buNone/>
              <a:defRPr b="0" i="0" sz="1100" u="none" cap="none" strike="noStrike">
                <a:solidFill>
                  <a:schemeClr val="dk1"/>
                </a:solidFill>
                <a:latin typeface="Rockwell"/>
                <a:ea typeface="Rockwell"/>
                <a:cs typeface="Rockwell"/>
                <a:sym typeface="Rockwell"/>
              </a:defRPr>
            </a:lvl6pPr>
            <a:lvl7pPr indent="0" lvl="6" marL="0" algn="r">
              <a:spcBef>
                <a:spcPts val="0"/>
              </a:spcBef>
              <a:buNone/>
              <a:defRPr b="0" i="0" sz="1100" u="none" cap="none" strike="noStrike">
                <a:solidFill>
                  <a:schemeClr val="dk1"/>
                </a:solidFill>
                <a:latin typeface="Rockwell"/>
                <a:ea typeface="Rockwell"/>
                <a:cs typeface="Rockwell"/>
                <a:sym typeface="Rockwell"/>
              </a:defRPr>
            </a:lvl7pPr>
            <a:lvl8pPr indent="0" lvl="7" marL="0" algn="r">
              <a:spcBef>
                <a:spcPts val="0"/>
              </a:spcBef>
              <a:buNone/>
              <a:defRPr b="0" i="0" sz="1100" u="none" cap="none" strike="noStrike">
                <a:solidFill>
                  <a:schemeClr val="dk1"/>
                </a:solidFill>
                <a:latin typeface="Rockwell"/>
                <a:ea typeface="Rockwell"/>
                <a:cs typeface="Rockwell"/>
                <a:sym typeface="Rockwell"/>
              </a:defRPr>
            </a:lvl8pPr>
            <a:lvl9pPr indent="0" lvl="8" marL="0" algn="r">
              <a:spcBef>
                <a:spcPts val="0"/>
              </a:spcBef>
              <a:buNone/>
              <a:defRPr b="0" i="0" sz="1100" u="none" cap="none" strike="noStrike">
                <a:solidFill>
                  <a:schemeClr val="dk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6"/>
          <p:cNvSpPr txBox="1"/>
          <p:nvPr>
            <p:ph type="title"/>
          </p:nvPr>
        </p:nvSpPr>
        <p:spPr>
          <a:xfrm>
            <a:off x="457200" y="2194560"/>
            <a:ext cx="7772400" cy="1362076"/>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b="1" sz="4600" cap="none">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457200" y="3557016"/>
            <a:ext cx="7772400" cy="987552"/>
          </a:xfrm>
          <a:prstGeom prst="rect">
            <a:avLst/>
          </a:prstGeom>
          <a:noFill/>
          <a:ln>
            <a:noFill/>
          </a:ln>
        </p:spPr>
        <p:txBody>
          <a:bodyPr anchorCtr="0" anchor="t" bIns="0" lIns="91425" spcFirstLastPara="1" rIns="45700" wrap="square" tIns="0">
            <a:noAutofit/>
          </a:bodyPr>
          <a:lstStyle>
            <a:lvl1pPr indent="-228600" lvl="0" marL="457200" algn="l">
              <a:spcBef>
                <a:spcPts val="0"/>
              </a:spcBef>
              <a:spcAft>
                <a:spcPts val="0"/>
              </a:spcAft>
              <a:buClr>
                <a:schemeClr val="dk1"/>
              </a:buClr>
              <a:buSzPts val="1980"/>
              <a:buFont typeface="Sorts Mill Goudy"/>
              <a:buNone/>
              <a:defRPr sz="2200">
                <a:solidFill>
                  <a:schemeClr val="dk1"/>
                </a:solidFill>
                <a:latin typeface="Sorts Mill Goudy"/>
                <a:ea typeface="Sorts Mill Goudy"/>
                <a:cs typeface="Sorts Mill Goudy"/>
                <a:sym typeface="Sorts Mill Goudy"/>
              </a:defRPr>
            </a:lvl1pPr>
            <a:lvl2pPr indent="-228600" lvl="1" marL="914400" algn="l">
              <a:spcBef>
                <a:spcPts val="600"/>
              </a:spcBef>
              <a:spcAft>
                <a:spcPts val="0"/>
              </a:spcAft>
              <a:buClr>
                <a:srgbClr val="888888"/>
              </a:buClr>
              <a:buSzPts val="1620"/>
              <a:buFont typeface="Sorts Mill Goudy"/>
              <a:buNone/>
              <a:defRPr sz="1800">
                <a:solidFill>
                  <a:srgbClr val="888888"/>
                </a:solidFill>
              </a:defRPr>
            </a:lvl2pPr>
            <a:lvl3pPr indent="-228600" lvl="2" marL="1371600" algn="l">
              <a:spcBef>
                <a:spcPts val="600"/>
              </a:spcBef>
              <a:spcAft>
                <a:spcPts val="0"/>
              </a:spcAft>
              <a:buClr>
                <a:srgbClr val="888888"/>
              </a:buClr>
              <a:buSzPts val="1440"/>
              <a:buFont typeface="Sorts Mill Goudy"/>
              <a:buNone/>
              <a:defRPr sz="1600">
                <a:solidFill>
                  <a:srgbClr val="888888"/>
                </a:solidFill>
              </a:defRPr>
            </a:lvl3pPr>
            <a:lvl4pPr indent="-228600" lvl="3" marL="1828800" algn="l">
              <a:spcBef>
                <a:spcPts val="600"/>
              </a:spcBef>
              <a:spcAft>
                <a:spcPts val="0"/>
              </a:spcAft>
              <a:buClr>
                <a:srgbClr val="888888"/>
              </a:buClr>
              <a:buSzPts val="1260"/>
              <a:buFont typeface="Sorts Mill Goudy"/>
              <a:buNone/>
              <a:defRPr sz="1400">
                <a:solidFill>
                  <a:srgbClr val="888888"/>
                </a:solidFill>
              </a:defRPr>
            </a:lvl4pPr>
            <a:lvl5pPr indent="-228600" lvl="4" marL="2286000" algn="l">
              <a:spcBef>
                <a:spcPts val="600"/>
              </a:spcBef>
              <a:spcAft>
                <a:spcPts val="0"/>
              </a:spcAft>
              <a:buClr>
                <a:srgbClr val="888888"/>
              </a:buClr>
              <a:buSzPts val="1260"/>
              <a:buFont typeface="Sorts Mill Goudy"/>
              <a:buNone/>
              <a:defRPr sz="1400">
                <a:solidFill>
                  <a:srgbClr val="888888"/>
                </a:solidFill>
              </a:defRPr>
            </a:lvl5pPr>
            <a:lvl6pPr indent="-228600" lvl="5" marL="2743200" algn="l">
              <a:spcBef>
                <a:spcPts val="280"/>
              </a:spcBef>
              <a:spcAft>
                <a:spcPts val="0"/>
              </a:spcAft>
              <a:buClr>
                <a:srgbClr val="888888"/>
              </a:buClr>
              <a:buSzPts val="1260"/>
              <a:buFont typeface="Sorts Mill Goudy"/>
              <a:buNone/>
              <a:defRPr sz="1400">
                <a:solidFill>
                  <a:srgbClr val="888888"/>
                </a:solidFill>
              </a:defRPr>
            </a:lvl6pPr>
            <a:lvl7pPr indent="-228600" lvl="6" marL="3200400" algn="l">
              <a:spcBef>
                <a:spcPts val="280"/>
              </a:spcBef>
              <a:spcAft>
                <a:spcPts val="0"/>
              </a:spcAft>
              <a:buClr>
                <a:srgbClr val="888888"/>
              </a:buClr>
              <a:buSzPts val="1260"/>
              <a:buFont typeface="Sorts Mill Goudy"/>
              <a:buNone/>
              <a:defRPr sz="1400">
                <a:solidFill>
                  <a:srgbClr val="888888"/>
                </a:solidFill>
              </a:defRPr>
            </a:lvl7pPr>
            <a:lvl8pPr indent="-228600" lvl="7" marL="3657600" algn="l">
              <a:spcBef>
                <a:spcPts val="280"/>
              </a:spcBef>
              <a:spcAft>
                <a:spcPts val="0"/>
              </a:spcAft>
              <a:buClr>
                <a:srgbClr val="888888"/>
              </a:buClr>
              <a:buSzPts val="1260"/>
              <a:buFont typeface="Sorts Mill Goudy"/>
              <a:buNone/>
              <a:defRPr sz="1400">
                <a:solidFill>
                  <a:srgbClr val="888888"/>
                </a:solidFill>
              </a:defRPr>
            </a:lvl8pPr>
            <a:lvl9pPr indent="-228600" lvl="8" marL="4114800" algn="l">
              <a:spcBef>
                <a:spcPts val="280"/>
              </a:spcBef>
              <a:spcAft>
                <a:spcPts val="0"/>
              </a:spcAft>
              <a:buClr>
                <a:srgbClr val="888888"/>
              </a:buClr>
              <a:buSzPts val="1260"/>
              <a:buFont typeface="Sorts Mill Goudy"/>
              <a:buNone/>
              <a:defRPr sz="1400">
                <a:solidFill>
                  <a:srgbClr val="888888"/>
                </a:solidFill>
              </a:defRPr>
            </a:lvl9pPr>
          </a:lstStyle>
          <a:p/>
        </p:txBody>
      </p:sp>
      <p:sp>
        <p:nvSpPr>
          <p:cNvPr id="41" name="Google Shape;41;p6"/>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Watermark">
  <p:cSld name="Section with Watermark">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7"/>
          <p:cNvSpPr txBox="1"/>
          <p:nvPr>
            <p:ph idx="1" type="body"/>
          </p:nvPr>
        </p:nvSpPr>
        <p:spPr>
          <a:xfrm>
            <a:off x="712697" y="1689847"/>
            <a:ext cx="8431303" cy="2209800"/>
          </a:xfrm>
          <a:prstGeom prst="rect">
            <a:avLst/>
          </a:prstGeom>
          <a:noFill/>
          <a:ln>
            <a:noFill/>
          </a:ln>
        </p:spPr>
        <p:txBody>
          <a:bodyPr anchorCtr="0" anchor="ctr" bIns="0" lIns="0" spcFirstLastPara="1" rIns="0" wrap="square" tIns="0">
            <a:noAutofit/>
          </a:bodyPr>
          <a:lstStyle>
            <a:lvl1pPr indent="-228600" lvl="0" marL="4572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1pPr>
            <a:lvl2pPr indent="-228600" lvl="1" marL="9144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2pPr>
            <a:lvl3pPr indent="-228600" lvl="2" marL="13716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3pPr>
            <a:lvl4pPr indent="-228600" lvl="3" marL="18288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4pPr>
            <a:lvl5pPr indent="-228600" lvl="4" marL="2286000" algn="l">
              <a:spcBef>
                <a:spcPts val="0"/>
              </a:spcBef>
              <a:spcAft>
                <a:spcPts val="0"/>
              </a:spcAft>
              <a:buClr>
                <a:schemeClr val="dk1"/>
              </a:buClr>
              <a:buSzPts val="10980"/>
              <a:buFont typeface="Impact"/>
              <a:buNone/>
              <a:defRPr sz="12200">
                <a:solidFill>
                  <a:schemeClr val="dk1"/>
                </a:solidFill>
                <a:latin typeface="Impact"/>
                <a:ea typeface="Impact"/>
                <a:cs typeface="Impact"/>
                <a:sym typeface="Impact"/>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46" name="Google Shape;46;p7"/>
          <p:cNvSpPr txBox="1"/>
          <p:nvPr>
            <p:ph type="title"/>
          </p:nvPr>
        </p:nvSpPr>
        <p:spPr>
          <a:xfrm>
            <a:off x="457201" y="2196353"/>
            <a:ext cx="5334000" cy="1362076"/>
          </a:xfrm>
          <a:prstGeom prst="rect">
            <a:avLst/>
          </a:prstGeom>
          <a:noFill/>
          <a:ln>
            <a:noFill/>
          </a:ln>
        </p:spPr>
        <p:txBody>
          <a:bodyPr anchorCtr="0" anchor="b" bIns="0" lIns="45700" spcFirstLastPara="1" rIns="45700" wrap="square" tIns="0">
            <a:noAutofit/>
          </a:bodyPr>
          <a:lstStyle>
            <a:lvl1pPr lvl="0" algn="l">
              <a:lnSpc>
                <a:spcPct val="108695"/>
              </a:lnSpc>
              <a:spcBef>
                <a:spcPts val="0"/>
              </a:spcBef>
              <a:spcAft>
                <a:spcPts val="0"/>
              </a:spcAft>
              <a:buClr>
                <a:schemeClr val="dk1"/>
              </a:buClr>
              <a:buSzPts val="4600"/>
              <a:buFont typeface="Sorts Mill Goudy"/>
              <a:buNone/>
              <a:defRPr b="1" sz="4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2" type="body"/>
          </p:nvPr>
        </p:nvSpPr>
        <p:spPr>
          <a:xfrm>
            <a:off x="457200" y="3560620"/>
            <a:ext cx="5334000" cy="983087"/>
          </a:xfrm>
          <a:prstGeom prst="rect">
            <a:avLst/>
          </a:prstGeom>
          <a:noFill/>
          <a:ln>
            <a:noFill/>
          </a:ln>
        </p:spPr>
        <p:txBody>
          <a:bodyPr anchorCtr="0" anchor="t" bIns="0" lIns="91425" spcFirstLastPara="1" rIns="45700" wrap="square" tIns="0">
            <a:noAutofit/>
          </a:bodyPr>
          <a:lstStyle>
            <a:lvl1pPr indent="-228600" lvl="0" marL="457200" algn="l">
              <a:spcBef>
                <a:spcPts val="0"/>
              </a:spcBef>
              <a:spcAft>
                <a:spcPts val="0"/>
              </a:spcAft>
              <a:buClr>
                <a:schemeClr val="dk1"/>
              </a:buClr>
              <a:buSzPts val="1980"/>
              <a:buFont typeface="Sorts Mill Goudy"/>
              <a:buNone/>
              <a:defRPr sz="2200">
                <a:solidFill>
                  <a:schemeClr val="dk1"/>
                </a:solidFill>
              </a:defRPr>
            </a:lvl1pPr>
            <a:lvl2pPr indent="-228600" lvl="1" marL="914400" algn="l">
              <a:spcBef>
                <a:spcPts val="600"/>
              </a:spcBef>
              <a:spcAft>
                <a:spcPts val="0"/>
              </a:spcAft>
              <a:buClr>
                <a:srgbClr val="888888"/>
              </a:buClr>
              <a:buSzPts val="1620"/>
              <a:buFont typeface="Sorts Mill Goudy"/>
              <a:buNone/>
              <a:defRPr sz="1800">
                <a:solidFill>
                  <a:srgbClr val="888888"/>
                </a:solidFill>
              </a:defRPr>
            </a:lvl2pPr>
            <a:lvl3pPr indent="-228600" lvl="2" marL="1371600" algn="l">
              <a:spcBef>
                <a:spcPts val="600"/>
              </a:spcBef>
              <a:spcAft>
                <a:spcPts val="0"/>
              </a:spcAft>
              <a:buClr>
                <a:srgbClr val="888888"/>
              </a:buClr>
              <a:buSzPts val="1440"/>
              <a:buFont typeface="Sorts Mill Goudy"/>
              <a:buNone/>
              <a:defRPr sz="1600">
                <a:solidFill>
                  <a:srgbClr val="888888"/>
                </a:solidFill>
              </a:defRPr>
            </a:lvl3pPr>
            <a:lvl4pPr indent="-228600" lvl="3" marL="1828800" algn="l">
              <a:spcBef>
                <a:spcPts val="600"/>
              </a:spcBef>
              <a:spcAft>
                <a:spcPts val="0"/>
              </a:spcAft>
              <a:buClr>
                <a:srgbClr val="888888"/>
              </a:buClr>
              <a:buSzPts val="1260"/>
              <a:buFont typeface="Sorts Mill Goudy"/>
              <a:buNone/>
              <a:defRPr sz="1400">
                <a:solidFill>
                  <a:srgbClr val="888888"/>
                </a:solidFill>
              </a:defRPr>
            </a:lvl4pPr>
            <a:lvl5pPr indent="-228600" lvl="4" marL="2286000" algn="l">
              <a:spcBef>
                <a:spcPts val="600"/>
              </a:spcBef>
              <a:spcAft>
                <a:spcPts val="0"/>
              </a:spcAft>
              <a:buClr>
                <a:srgbClr val="888888"/>
              </a:buClr>
              <a:buSzPts val="1260"/>
              <a:buFont typeface="Sorts Mill Goudy"/>
              <a:buNone/>
              <a:defRPr sz="1400">
                <a:solidFill>
                  <a:srgbClr val="888888"/>
                </a:solidFill>
              </a:defRPr>
            </a:lvl5pPr>
            <a:lvl6pPr indent="-228600" lvl="5" marL="2743200" algn="l">
              <a:spcBef>
                <a:spcPts val="280"/>
              </a:spcBef>
              <a:spcAft>
                <a:spcPts val="0"/>
              </a:spcAft>
              <a:buClr>
                <a:srgbClr val="888888"/>
              </a:buClr>
              <a:buSzPts val="1260"/>
              <a:buFont typeface="Sorts Mill Goudy"/>
              <a:buNone/>
              <a:defRPr sz="1400">
                <a:solidFill>
                  <a:srgbClr val="888888"/>
                </a:solidFill>
              </a:defRPr>
            </a:lvl6pPr>
            <a:lvl7pPr indent="-228600" lvl="6" marL="3200400" algn="l">
              <a:spcBef>
                <a:spcPts val="280"/>
              </a:spcBef>
              <a:spcAft>
                <a:spcPts val="0"/>
              </a:spcAft>
              <a:buClr>
                <a:srgbClr val="888888"/>
              </a:buClr>
              <a:buSzPts val="1260"/>
              <a:buFont typeface="Sorts Mill Goudy"/>
              <a:buNone/>
              <a:defRPr sz="1400">
                <a:solidFill>
                  <a:srgbClr val="888888"/>
                </a:solidFill>
              </a:defRPr>
            </a:lvl7pPr>
            <a:lvl8pPr indent="-228600" lvl="7" marL="3657600" algn="l">
              <a:spcBef>
                <a:spcPts val="280"/>
              </a:spcBef>
              <a:spcAft>
                <a:spcPts val="0"/>
              </a:spcAft>
              <a:buClr>
                <a:srgbClr val="888888"/>
              </a:buClr>
              <a:buSzPts val="1260"/>
              <a:buFont typeface="Sorts Mill Goudy"/>
              <a:buNone/>
              <a:defRPr sz="1400">
                <a:solidFill>
                  <a:srgbClr val="888888"/>
                </a:solidFill>
              </a:defRPr>
            </a:lvl8pPr>
            <a:lvl9pPr indent="-228600" lvl="8" marL="4114800" algn="l">
              <a:spcBef>
                <a:spcPts val="280"/>
              </a:spcBef>
              <a:spcAft>
                <a:spcPts val="0"/>
              </a:spcAft>
              <a:buClr>
                <a:srgbClr val="888888"/>
              </a:buClr>
              <a:buSzPts val="1260"/>
              <a:buFont typeface="Sorts Mill Goudy"/>
              <a:buNone/>
              <a:defRPr sz="1400">
                <a:solidFill>
                  <a:srgbClr val="888888"/>
                </a:solidFill>
              </a:defRPr>
            </a:lvl9pPr>
          </a:lstStyle>
          <a:p/>
        </p:txBody>
      </p:sp>
      <p:sp>
        <p:nvSpPr>
          <p:cNvPr id="48" name="Google Shape;48;p7"/>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Picture">
  <p:cSld name="Section with Picture">
    <p:bg>
      <p:bgPr>
        <a:blipFill>
          <a:blip r:embed="rId2">
            <a:alphaModFix/>
          </a:blip>
          <a:stretch>
            <a:fillRect/>
          </a:stretch>
        </a:blip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3152775" y="4069804"/>
            <a:ext cx="5538788" cy="116205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Clr>
                <a:schemeClr val="dk1"/>
              </a:buClr>
              <a:buSzPts val="4600"/>
              <a:buFont typeface="Sorts Mill Goudy"/>
              <a:buNone/>
              <a:defRPr b="1" sz="4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53" name="Google Shape;53;p8"/>
          <p:cNvGrpSpPr/>
          <p:nvPr/>
        </p:nvGrpSpPr>
        <p:grpSpPr>
          <a:xfrm rot="-360000">
            <a:off x="654356" y="445180"/>
            <a:ext cx="5416247" cy="3630168"/>
            <a:chOff x="1524000" y="381000"/>
            <a:chExt cx="3657600" cy="4737978"/>
          </a:xfrm>
        </p:grpSpPr>
        <p:sp>
          <p:nvSpPr>
            <p:cNvPr id="54" name="Google Shape;54;p8"/>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55" name="Google Shape;55;p8"/>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56" name="Google Shape;56;p8"/>
          <p:cNvSpPr/>
          <p:nvPr>
            <p:ph idx="2" type="pic"/>
          </p:nvPr>
        </p:nvSpPr>
        <p:spPr>
          <a:xfrm rot="-360000">
            <a:off x="857681" y="632632"/>
            <a:ext cx="5009597" cy="325526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57" name="Google Shape;57;p8"/>
          <p:cNvSpPr txBox="1"/>
          <p:nvPr>
            <p:ph idx="1" type="body"/>
          </p:nvPr>
        </p:nvSpPr>
        <p:spPr>
          <a:xfrm>
            <a:off x="3158117" y="5230909"/>
            <a:ext cx="5532958" cy="865093"/>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980"/>
              <a:buFont typeface="Sorts Mill Goudy"/>
              <a:buNone/>
              <a:defRPr sz="22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58" name="Google Shape;58;p8"/>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9"/>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p:nvPr>
            <p:ph idx="1" type="body"/>
          </p:nvPr>
        </p:nvSpPr>
        <p:spPr>
          <a:xfrm>
            <a:off x="9144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64" name="Google Shape;64;p9"/>
          <p:cNvSpPr txBox="1"/>
          <p:nvPr>
            <p:ph idx="2" type="body"/>
          </p:nvPr>
        </p:nvSpPr>
        <p:spPr>
          <a:xfrm>
            <a:off x="46482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65" name="Google Shape;65;p9"/>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10"/>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4600"/>
              <a:buFont typeface="Sorts Mill Goud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0"/>
          <p:cNvSpPr txBox="1"/>
          <p:nvPr>
            <p:ph idx="1" type="body"/>
          </p:nvPr>
        </p:nvSpPr>
        <p:spPr>
          <a:xfrm>
            <a:off x="971326" y="1419366"/>
            <a:ext cx="3200400" cy="584035"/>
          </a:xfrm>
          <a:prstGeom prst="rect">
            <a:avLst/>
          </a:prstGeom>
          <a:noFill/>
          <a:ln>
            <a:noFill/>
          </a:ln>
        </p:spPr>
        <p:txBody>
          <a:bodyPr anchorCtr="0" anchor="b" bIns="45700" lIns="91425" spcFirstLastPara="1" rIns="91425" wrap="square" tIns="45700">
            <a:noAutofit/>
          </a:bodyPr>
          <a:lstStyle>
            <a:lvl1pPr indent="-228600" lvl="0" marL="457200" algn="ctr">
              <a:spcBef>
                <a:spcPts val="0"/>
              </a:spcBef>
              <a:spcAft>
                <a:spcPts val="0"/>
              </a:spcAft>
              <a:buClr>
                <a:srgbClr val="B1A069"/>
              </a:buClr>
              <a:buSzPts val="1980"/>
              <a:buFont typeface="Impact"/>
              <a:buNone/>
              <a:defRPr b="0" sz="2200">
                <a:solidFill>
                  <a:srgbClr val="B1A069"/>
                </a:solidFill>
                <a:latin typeface="Impact"/>
                <a:ea typeface="Impact"/>
                <a:cs typeface="Impact"/>
                <a:sym typeface="Impact"/>
              </a:defRPr>
            </a:lvl1pPr>
            <a:lvl2pPr indent="-228600" lvl="1" marL="914400" algn="l">
              <a:spcBef>
                <a:spcPts val="600"/>
              </a:spcBef>
              <a:spcAft>
                <a:spcPts val="0"/>
              </a:spcAft>
              <a:buClr>
                <a:schemeClr val="dk1"/>
              </a:buClr>
              <a:buSzPts val="1800"/>
              <a:buFont typeface="Sorts Mill Goudy"/>
              <a:buNone/>
              <a:defRPr b="1" sz="2000"/>
            </a:lvl2pPr>
            <a:lvl3pPr indent="-228600" lvl="2" marL="1371600" algn="l">
              <a:spcBef>
                <a:spcPts val="600"/>
              </a:spcBef>
              <a:spcAft>
                <a:spcPts val="0"/>
              </a:spcAft>
              <a:buClr>
                <a:schemeClr val="dk1"/>
              </a:buClr>
              <a:buSzPts val="1620"/>
              <a:buFont typeface="Sorts Mill Goudy"/>
              <a:buNone/>
              <a:defRPr b="1" sz="1800"/>
            </a:lvl3pPr>
            <a:lvl4pPr indent="-228600" lvl="3" marL="1828800" algn="l">
              <a:spcBef>
                <a:spcPts val="600"/>
              </a:spcBef>
              <a:spcAft>
                <a:spcPts val="0"/>
              </a:spcAft>
              <a:buClr>
                <a:schemeClr val="dk1"/>
              </a:buClr>
              <a:buSzPts val="1440"/>
              <a:buFont typeface="Sorts Mill Goudy"/>
              <a:buNone/>
              <a:defRPr b="1" sz="1600"/>
            </a:lvl4pPr>
            <a:lvl5pPr indent="-228600" lvl="4" marL="2286000" algn="l">
              <a:spcBef>
                <a:spcPts val="600"/>
              </a:spcBef>
              <a:spcAft>
                <a:spcPts val="0"/>
              </a:spcAft>
              <a:buClr>
                <a:schemeClr val="dk1"/>
              </a:buClr>
              <a:buSzPts val="1440"/>
              <a:buFont typeface="Sorts Mill Goudy"/>
              <a:buNone/>
              <a:defRPr b="1" sz="1600"/>
            </a:lvl5pPr>
            <a:lvl6pPr indent="-228600" lvl="5" marL="2743200" algn="l">
              <a:spcBef>
                <a:spcPts val="320"/>
              </a:spcBef>
              <a:spcAft>
                <a:spcPts val="0"/>
              </a:spcAft>
              <a:buClr>
                <a:schemeClr val="dk1"/>
              </a:buClr>
              <a:buSzPts val="1440"/>
              <a:buFont typeface="Sorts Mill Goudy"/>
              <a:buNone/>
              <a:defRPr b="1" sz="1600"/>
            </a:lvl6pPr>
            <a:lvl7pPr indent="-228600" lvl="6" marL="3200400" algn="l">
              <a:spcBef>
                <a:spcPts val="320"/>
              </a:spcBef>
              <a:spcAft>
                <a:spcPts val="0"/>
              </a:spcAft>
              <a:buClr>
                <a:schemeClr val="dk1"/>
              </a:buClr>
              <a:buSzPts val="1440"/>
              <a:buFont typeface="Sorts Mill Goudy"/>
              <a:buNone/>
              <a:defRPr b="1" sz="1600"/>
            </a:lvl7pPr>
            <a:lvl8pPr indent="-228600" lvl="7" marL="3657600" algn="l">
              <a:spcBef>
                <a:spcPts val="320"/>
              </a:spcBef>
              <a:spcAft>
                <a:spcPts val="0"/>
              </a:spcAft>
              <a:buClr>
                <a:schemeClr val="dk1"/>
              </a:buClr>
              <a:buSzPts val="1440"/>
              <a:buFont typeface="Sorts Mill Goudy"/>
              <a:buNone/>
              <a:defRPr b="1" sz="1600"/>
            </a:lvl8pPr>
            <a:lvl9pPr indent="-228600" lvl="8" marL="4114800" algn="l">
              <a:spcBef>
                <a:spcPts val="320"/>
              </a:spcBef>
              <a:spcAft>
                <a:spcPts val="0"/>
              </a:spcAft>
              <a:buClr>
                <a:schemeClr val="dk1"/>
              </a:buClr>
              <a:buSzPts val="1440"/>
              <a:buFont typeface="Sorts Mill Goudy"/>
              <a:buNone/>
              <a:defRPr b="1" sz="1600"/>
            </a:lvl9pPr>
          </a:lstStyle>
          <a:p/>
        </p:txBody>
      </p:sp>
      <p:sp>
        <p:nvSpPr>
          <p:cNvPr id="71" name="Google Shape;71;p10"/>
          <p:cNvSpPr txBox="1"/>
          <p:nvPr>
            <p:ph idx="2" type="body"/>
          </p:nvPr>
        </p:nvSpPr>
        <p:spPr>
          <a:xfrm>
            <a:off x="897367" y="2174875"/>
            <a:ext cx="3566160" cy="3616325"/>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20039" lvl="3" marL="1828800" algn="l">
              <a:spcBef>
                <a:spcPts val="600"/>
              </a:spcBef>
              <a:spcAft>
                <a:spcPts val="0"/>
              </a:spcAft>
              <a:buClr>
                <a:schemeClr val="dk1"/>
              </a:buClr>
              <a:buSzPts val="1440"/>
              <a:buFont typeface="Sorts Mill Goudy"/>
              <a:buChar char="•"/>
              <a:defRPr sz="1600"/>
            </a:lvl4pPr>
            <a:lvl5pPr indent="-320039" lvl="4" marL="2286000" algn="l">
              <a:spcBef>
                <a:spcPts val="600"/>
              </a:spcBef>
              <a:spcAft>
                <a:spcPts val="0"/>
              </a:spcAft>
              <a:buClr>
                <a:schemeClr val="dk1"/>
              </a:buClr>
              <a:buSzPts val="1440"/>
              <a:buFont typeface="Sorts Mill Goudy"/>
              <a:buChar char="•"/>
              <a:defRPr sz="1600"/>
            </a:lvl5pPr>
            <a:lvl6pPr indent="-320039" lvl="5" marL="2743200" algn="l">
              <a:spcBef>
                <a:spcPts val="320"/>
              </a:spcBef>
              <a:spcAft>
                <a:spcPts val="0"/>
              </a:spcAft>
              <a:buClr>
                <a:schemeClr val="dk1"/>
              </a:buClr>
              <a:buSzPts val="1440"/>
              <a:buFont typeface="Sorts Mill Goudy"/>
              <a:buChar char="•"/>
              <a:defRPr sz="1600"/>
            </a:lvl6pPr>
            <a:lvl7pPr indent="-320039" lvl="6" marL="3200400" algn="l">
              <a:spcBef>
                <a:spcPts val="320"/>
              </a:spcBef>
              <a:spcAft>
                <a:spcPts val="0"/>
              </a:spcAft>
              <a:buClr>
                <a:schemeClr val="dk1"/>
              </a:buClr>
              <a:buSzPts val="1440"/>
              <a:buFont typeface="Sorts Mill Goudy"/>
              <a:buChar char="•"/>
              <a:defRPr sz="1600"/>
            </a:lvl7pPr>
            <a:lvl8pPr indent="-320040" lvl="7" marL="3657600" algn="l">
              <a:spcBef>
                <a:spcPts val="320"/>
              </a:spcBef>
              <a:spcAft>
                <a:spcPts val="0"/>
              </a:spcAft>
              <a:buClr>
                <a:schemeClr val="dk1"/>
              </a:buClr>
              <a:buSzPts val="1440"/>
              <a:buFont typeface="Sorts Mill Goudy"/>
              <a:buChar char="•"/>
              <a:defRPr sz="1600"/>
            </a:lvl8pPr>
            <a:lvl9pPr indent="-320040" lvl="8" marL="4114800" algn="l">
              <a:spcBef>
                <a:spcPts val="320"/>
              </a:spcBef>
              <a:spcAft>
                <a:spcPts val="0"/>
              </a:spcAft>
              <a:buClr>
                <a:schemeClr val="dk1"/>
              </a:buClr>
              <a:buSzPts val="1440"/>
              <a:buFont typeface="Sorts Mill Goudy"/>
              <a:buChar char="•"/>
              <a:defRPr sz="1600"/>
            </a:lvl9pPr>
          </a:lstStyle>
          <a:p/>
        </p:txBody>
      </p:sp>
      <p:sp>
        <p:nvSpPr>
          <p:cNvPr id="72" name="Google Shape;72;p10"/>
          <p:cNvSpPr txBox="1"/>
          <p:nvPr>
            <p:ph idx="3" type="body"/>
          </p:nvPr>
        </p:nvSpPr>
        <p:spPr>
          <a:xfrm>
            <a:off x="4930247" y="1419366"/>
            <a:ext cx="3200400" cy="584035"/>
          </a:xfrm>
          <a:prstGeom prst="rect">
            <a:avLst/>
          </a:prstGeom>
          <a:noFill/>
          <a:ln>
            <a:noFill/>
          </a:ln>
        </p:spPr>
        <p:txBody>
          <a:bodyPr anchorCtr="0" anchor="b" bIns="45700" lIns="91425" spcFirstLastPara="1" rIns="91425" wrap="square" tIns="45700">
            <a:noAutofit/>
          </a:bodyPr>
          <a:lstStyle>
            <a:lvl1pPr indent="-228600" lvl="0" marL="457200" algn="ctr">
              <a:spcBef>
                <a:spcPts val="0"/>
              </a:spcBef>
              <a:spcAft>
                <a:spcPts val="0"/>
              </a:spcAft>
              <a:buClr>
                <a:srgbClr val="B1A069"/>
              </a:buClr>
              <a:buSzPts val="1980"/>
              <a:buFont typeface="Impact"/>
              <a:buNone/>
              <a:defRPr b="0" sz="2200">
                <a:solidFill>
                  <a:srgbClr val="B1A069"/>
                </a:solidFill>
                <a:latin typeface="Impact"/>
                <a:ea typeface="Impact"/>
                <a:cs typeface="Impact"/>
                <a:sym typeface="Impact"/>
              </a:defRPr>
            </a:lvl1pPr>
            <a:lvl2pPr indent="-228600" lvl="1" marL="914400" algn="l">
              <a:spcBef>
                <a:spcPts val="600"/>
              </a:spcBef>
              <a:spcAft>
                <a:spcPts val="0"/>
              </a:spcAft>
              <a:buClr>
                <a:schemeClr val="dk1"/>
              </a:buClr>
              <a:buSzPts val="1800"/>
              <a:buFont typeface="Sorts Mill Goudy"/>
              <a:buNone/>
              <a:defRPr b="1" sz="2000"/>
            </a:lvl2pPr>
            <a:lvl3pPr indent="-228600" lvl="2" marL="1371600" algn="l">
              <a:spcBef>
                <a:spcPts val="600"/>
              </a:spcBef>
              <a:spcAft>
                <a:spcPts val="0"/>
              </a:spcAft>
              <a:buClr>
                <a:schemeClr val="dk1"/>
              </a:buClr>
              <a:buSzPts val="1620"/>
              <a:buFont typeface="Sorts Mill Goudy"/>
              <a:buNone/>
              <a:defRPr b="1" sz="1800"/>
            </a:lvl3pPr>
            <a:lvl4pPr indent="-228600" lvl="3" marL="1828800" algn="l">
              <a:spcBef>
                <a:spcPts val="600"/>
              </a:spcBef>
              <a:spcAft>
                <a:spcPts val="0"/>
              </a:spcAft>
              <a:buClr>
                <a:schemeClr val="dk1"/>
              </a:buClr>
              <a:buSzPts val="1440"/>
              <a:buFont typeface="Sorts Mill Goudy"/>
              <a:buNone/>
              <a:defRPr b="1" sz="1600"/>
            </a:lvl4pPr>
            <a:lvl5pPr indent="-228600" lvl="4" marL="2286000" algn="l">
              <a:spcBef>
                <a:spcPts val="600"/>
              </a:spcBef>
              <a:spcAft>
                <a:spcPts val="0"/>
              </a:spcAft>
              <a:buClr>
                <a:schemeClr val="dk1"/>
              </a:buClr>
              <a:buSzPts val="1440"/>
              <a:buFont typeface="Sorts Mill Goudy"/>
              <a:buNone/>
              <a:defRPr b="1" sz="1600"/>
            </a:lvl5pPr>
            <a:lvl6pPr indent="-228600" lvl="5" marL="2743200" algn="l">
              <a:spcBef>
                <a:spcPts val="320"/>
              </a:spcBef>
              <a:spcAft>
                <a:spcPts val="0"/>
              </a:spcAft>
              <a:buClr>
                <a:schemeClr val="dk1"/>
              </a:buClr>
              <a:buSzPts val="1440"/>
              <a:buFont typeface="Sorts Mill Goudy"/>
              <a:buNone/>
              <a:defRPr b="1" sz="1600"/>
            </a:lvl6pPr>
            <a:lvl7pPr indent="-228600" lvl="6" marL="3200400" algn="l">
              <a:spcBef>
                <a:spcPts val="320"/>
              </a:spcBef>
              <a:spcAft>
                <a:spcPts val="0"/>
              </a:spcAft>
              <a:buClr>
                <a:schemeClr val="dk1"/>
              </a:buClr>
              <a:buSzPts val="1440"/>
              <a:buFont typeface="Sorts Mill Goudy"/>
              <a:buNone/>
              <a:defRPr b="1" sz="1600"/>
            </a:lvl7pPr>
            <a:lvl8pPr indent="-228600" lvl="7" marL="3657600" algn="l">
              <a:spcBef>
                <a:spcPts val="320"/>
              </a:spcBef>
              <a:spcAft>
                <a:spcPts val="0"/>
              </a:spcAft>
              <a:buClr>
                <a:schemeClr val="dk1"/>
              </a:buClr>
              <a:buSzPts val="1440"/>
              <a:buFont typeface="Sorts Mill Goudy"/>
              <a:buNone/>
              <a:defRPr b="1" sz="1600"/>
            </a:lvl8pPr>
            <a:lvl9pPr indent="-228600" lvl="8" marL="4114800" algn="l">
              <a:spcBef>
                <a:spcPts val="320"/>
              </a:spcBef>
              <a:spcAft>
                <a:spcPts val="0"/>
              </a:spcAft>
              <a:buClr>
                <a:schemeClr val="dk1"/>
              </a:buClr>
              <a:buSzPts val="1440"/>
              <a:buFont typeface="Sorts Mill Goudy"/>
              <a:buNone/>
              <a:defRPr b="1" sz="1600"/>
            </a:lvl9pPr>
          </a:lstStyle>
          <a:p/>
        </p:txBody>
      </p:sp>
      <p:sp>
        <p:nvSpPr>
          <p:cNvPr id="73" name="Google Shape;73;p10"/>
          <p:cNvSpPr txBox="1"/>
          <p:nvPr>
            <p:ph idx="4" type="body"/>
          </p:nvPr>
        </p:nvSpPr>
        <p:spPr>
          <a:xfrm>
            <a:off x="4646514" y="2174875"/>
            <a:ext cx="3566160" cy="3616325"/>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20039" lvl="3" marL="1828800" algn="l">
              <a:spcBef>
                <a:spcPts val="600"/>
              </a:spcBef>
              <a:spcAft>
                <a:spcPts val="0"/>
              </a:spcAft>
              <a:buClr>
                <a:schemeClr val="dk1"/>
              </a:buClr>
              <a:buSzPts val="1440"/>
              <a:buFont typeface="Sorts Mill Goudy"/>
              <a:buChar char="•"/>
              <a:defRPr sz="1600"/>
            </a:lvl4pPr>
            <a:lvl5pPr indent="-320039" lvl="4" marL="2286000" algn="l">
              <a:spcBef>
                <a:spcPts val="600"/>
              </a:spcBef>
              <a:spcAft>
                <a:spcPts val="0"/>
              </a:spcAft>
              <a:buClr>
                <a:schemeClr val="dk1"/>
              </a:buClr>
              <a:buSzPts val="1440"/>
              <a:buFont typeface="Sorts Mill Goudy"/>
              <a:buChar char="•"/>
              <a:defRPr sz="1600"/>
            </a:lvl5pPr>
            <a:lvl6pPr indent="-320039" lvl="5" marL="2743200" algn="l">
              <a:spcBef>
                <a:spcPts val="320"/>
              </a:spcBef>
              <a:spcAft>
                <a:spcPts val="0"/>
              </a:spcAft>
              <a:buClr>
                <a:schemeClr val="dk1"/>
              </a:buClr>
              <a:buSzPts val="1440"/>
              <a:buFont typeface="Sorts Mill Goudy"/>
              <a:buChar char="•"/>
              <a:defRPr sz="1600"/>
            </a:lvl6pPr>
            <a:lvl7pPr indent="-320039" lvl="6" marL="3200400" algn="l">
              <a:spcBef>
                <a:spcPts val="320"/>
              </a:spcBef>
              <a:spcAft>
                <a:spcPts val="0"/>
              </a:spcAft>
              <a:buClr>
                <a:schemeClr val="dk1"/>
              </a:buClr>
              <a:buSzPts val="1440"/>
              <a:buFont typeface="Sorts Mill Goudy"/>
              <a:buChar char="•"/>
              <a:defRPr sz="1600"/>
            </a:lvl7pPr>
            <a:lvl8pPr indent="-320040" lvl="7" marL="3657600" algn="l">
              <a:spcBef>
                <a:spcPts val="320"/>
              </a:spcBef>
              <a:spcAft>
                <a:spcPts val="0"/>
              </a:spcAft>
              <a:buClr>
                <a:schemeClr val="dk1"/>
              </a:buClr>
              <a:buSzPts val="1440"/>
              <a:buFont typeface="Sorts Mill Goudy"/>
              <a:buChar char="•"/>
              <a:defRPr sz="1600"/>
            </a:lvl8pPr>
            <a:lvl9pPr indent="-320040" lvl="8" marL="4114800" algn="l">
              <a:spcBef>
                <a:spcPts val="320"/>
              </a:spcBef>
              <a:spcAft>
                <a:spcPts val="0"/>
              </a:spcAft>
              <a:buClr>
                <a:schemeClr val="dk1"/>
              </a:buClr>
              <a:buSzPts val="1440"/>
              <a:buFont typeface="Sorts Mill Goudy"/>
              <a:buChar char="•"/>
              <a:defRPr sz="1600"/>
            </a:lvl9pPr>
          </a:lstStyle>
          <a:p/>
        </p:txBody>
      </p:sp>
      <p:sp>
        <p:nvSpPr>
          <p:cNvPr id="74" name="Google Shape;74;p10"/>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Comparison-Underline.png" id="77" name="Google Shape;77;p10"/>
          <p:cNvPicPr preferRelativeResize="0"/>
          <p:nvPr/>
        </p:nvPicPr>
        <p:blipFill rotWithShape="1">
          <a:blip r:embed="rId2">
            <a:alphaModFix/>
          </a:blip>
          <a:srcRect b="0" l="0" r="0" t="0"/>
          <a:stretch/>
        </p:blipFill>
        <p:spPr>
          <a:xfrm>
            <a:off x="957042" y="1897042"/>
            <a:ext cx="3228975" cy="142876"/>
          </a:xfrm>
          <a:prstGeom prst="rect">
            <a:avLst/>
          </a:prstGeom>
          <a:noFill/>
          <a:ln>
            <a:noFill/>
          </a:ln>
        </p:spPr>
      </p:pic>
      <p:pic>
        <p:nvPicPr>
          <p:cNvPr descr="Comparison-Underline.png" id="78" name="Google Shape;78;p10"/>
          <p:cNvPicPr preferRelativeResize="0"/>
          <p:nvPr/>
        </p:nvPicPr>
        <p:blipFill rotWithShape="1">
          <a:blip r:embed="rId2">
            <a:alphaModFix/>
          </a:blip>
          <a:srcRect b="0" l="0" r="0" t="0"/>
          <a:stretch/>
        </p:blipFill>
        <p:spPr>
          <a:xfrm>
            <a:off x="4915964" y="1897042"/>
            <a:ext cx="3228975" cy="142876"/>
          </a:xfrm>
          <a:prstGeom prst="rect">
            <a:avLst/>
          </a:prstGeom>
          <a:noFill/>
          <a:ln>
            <a:noFill/>
          </a:ln>
        </p:spPr>
      </p:pic>
      <p:pic>
        <p:nvPicPr>
          <p:cNvPr descr="Comparison-Underline.png" id="79" name="Google Shape;79;p10"/>
          <p:cNvPicPr preferRelativeResize="0"/>
          <p:nvPr/>
        </p:nvPicPr>
        <p:blipFill rotWithShape="1">
          <a:blip r:embed="rId2">
            <a:alphaModFix/>
          </a:blip>
          <a:srcRect b="0" l="0" r="0" t="0"/>
          <a:stretch/>
        </p:blipFill>
        <p:spPr>
          <a:xfrm>
            <a:off x="957042" y="1897042"/>
            <a:ext cx="3228975" cy="142876"/>
          </a:xfrm>
          <a:prstGeom prst="rect">
            <a:avLst/>
          </a:prstGeom>
          <a:noFill/>
          <a:ln>
            <a:noFill/>
          </a:ln>
        </p:spPr>
      </p:pic>
      <p:pic>
        <p:nvPicPr>
          <p:cNvPr descr="Comparison-Underline.png" id="80" name="Google Shape;80;p10"/>
          <p:cNvPicPr preferRelativeResize="0"/>
          <p:nvPr/>
        </p:nvPicPr>
        <p:blipFill rotWithShape="1">
          <a:blip r:embed="rId2">
            <a:alphaModFix/>
          </a:blip>
          <a:srcRect b="0" l="0" r="0" t="0"/>
          <a:stretch/>
        </p:blipFill>
        <p:spPr>
          <a:xfrm>
            <a:off x="4915964" y="1897042"/>
            <a:ext cx="3228975" cy="14287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nt, Top and Bottom">
  <p:cSld name="2 Content, Top and Bottom">
    <p:spTree>
      <p:nvGrpSpPr>
        <p:cNvPr id="81" name="Shape 81"/>
        <p:cNvGrpSpPr/>
        <p:nvPr/>
      </p:nvGrpSpPr>
      <p:grpSpPr>
        <a:xfrm>
          <a:off x="0" y="0"/>
          <a:ext cx="0" cy="0"/>
          <a:chOff x="0" y="0"/>
          <a:chExt cx="0" cy="0"/>
        </a:xfrm>
      </p:grpSpPr>
      <p:sp>
        <p:nvSpPr>
          <p:cNvPr id="82" name="Google Shape;82;p11"/>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
          <p:cNvSpPr txBox="1"/>
          <p:nvPr>
            <p:ph idx="1" type="body"/>
          </p:nvPr>
        </p:nvSpPr>
        <p:spPr>
          <a:xfrm>
            <a:off x="914400" y="1735138"/>
            <a:ext cx="731520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84" name="Google Shape;84;p1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11"/>
          <p:cNvSpPr txBox="1"/>
          <p:nvPr>
            <p:ph idx="2" type="body"/>
          </p:nvPr>
        </p:nvSpPr>
        <p:spPr>
          <a:xfrm>
            <a:off x="914400" y="3870960"/>
            <a:ext cx="731520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ntent">
  <p:cSld name="3 Content">
    <p:spTree>
      <p:nvGrpSpPr>
        <p:cNvPr id="88" name="Shape 88"/>
        <p:cNvGrpSpPr/>
        <p:nvPr/>
      </p:nvGrpSpPr>
      <p:grpSpPr>
        <a:xfrm>
          <a:off x="0" y="0"/>
          <a:ext cx="0" cy="0"/>
          <a:chOff x="0" y="0"/>
          <a:chExt cx="0" cy="0"/>
        </a:xfrm>
      </p:grpSpPr>
      <p:sp>
        <p:nvSpPr>
          <p:cNvPr id="89" name="Google Shape;89;p12"/>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2"/>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2"/>
          <p:cNvSpPr txBox="1"/>
          <p:nvPr>
            <p:ph idx="1" type="body"/>
          </p:nvPr>
        </p:nvSpPr>
        <p:spPr>
          <a:xfrm>
            <a:off x="4645152"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4" name="Google Shape;94;p12"/>
          <p:cNvSpPr txBox="1"/>
          <p:nvPr>
            <p:ph idx="2" type="body"/>
          </p:nvPr>
        </p:nvSpPr>
        <p:spPr>
          <a:xfrm>
            <a:off x="4645152"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5" name="Google Shape;95;p12"/>
          <p:cNvSpPr txBox="1"/>
          <p:nvPr>
            <p:ph idx="3" type="body"/>
          </p:nvPr>
        </p:nvSpPr>
        <p:spPr>
          <a:xfrm>
            <a:off x="914400" y="1735139"/>
            <a:ext cx="3566160" cy="4056062"/>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ntent">
  <p:cSld name="4 Content">
    <p:spTree>
      <p:nvGrpSpPr>
        <p:cNvPr id="96" name="Shape 96"/>
        <p:cNvGrpSpPr/>
        <p:nvPr/>
      </p:nvGrpSpPr>
      <p:grpSpPr>
        <a:xfrm>
          <a:off x="0" y="0"/>
          <a:ext cx="0" cy="0"/>
          <a:chOff x="0" y="0"/>
          <a:chExt cx="0" cy="0"/>
        </a:xfrm>
      </p:grpSpPr>
      <p:sp>
        <p:nvSpPr>
          <p:cNvPr id="97" name="Google Shape;97;p13"/>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3"/>
          <p:cNvSpPr txBox="1"/>
          <p:nvPr>
            <p:ph idx="1" type="body"/>
          </p:nvPr>
        </p:nvSpPr>
        <p:spPr>
          <a:xfrm>
            <a:off x="914400"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99" name="Google Shape;99;p13"/>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3"/>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3"/>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13"/>
          <p:cNvSpPr txBox="1"/>
          <p:nvPr>
            <p:ph idx="2" type="body"/>
          </p:nvPr>
        </p:nvSpPr>
        <p:spPr>
          <a:xfrm>
            <a:off x="914400"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103" name="Google Shape;103;p13"/>
          <p:cNvSpPr txBox="1"/>
          <p:nvPr>
            <p:ph idx="3" type="body"/>
          </p:nvPr>
        </p:nvSpPr>
        <p:spPr>
          <a:xfrm>
            <a:off x="4645152" y="1735138"/>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
        <p:nvSpPr>
          <p:cNvPr id="104" name="Google Shape;104;p13"/>
          <p:cNvSpPr txBox="1"/>
          <p:nvPr>
            <p:ph idx="4" type="body"/>
          </p:nvPr>
        </p:nvSpPr>
        <p:spPr>
          <a:xfrm>
            <a:off x="4645152" y="3870960"/>
            <a:ext cx="3566160" cy="1920240"/>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31470" lvl="5" marL="2743200" algn="l">
              <a:spcBef>
                <a:spcPts val="360"/>
              </a:spcBef>
              <a:spcAft>
                <a:spcPts val="0"/>
              </a:spcAft>
              <a:buClr>
                <a:schemeClr val="dk1"/>
              </a:buClr>
              <a:buSzPts val="1620"/>
              <a:buFont typeface="Sorts Mill Goudy"/>
              <a:buChar char="•"/>
              <a:defRPr sz="1800"/>
            </a:lvl6pPr>
            <a:lvl7pPr indent="-331470" lvl="6" marL="3200400" algn="l">
              <a:spcBef>
                <a:spcPts val="360"/>
              </a:spcBef>
              <a:spcAft>
                <a:spcPts val="0"/>
              </a:spcAft>
              <a:buClr>
                <a:schemeClr val="dk1"/>
              </a:buClr>
              <a:buSzPts val="1620"/>
              <a:buFont typeface="Sorts Mill Goudy"/>
              <a:buChar char="•"/>
              <a:defRPr sz="1800"/>
            </a:lvl7pPr>
            <a:lvl8pPr indent="-331470" lvl="7" marL="3657600" algn="l">
              <a:spcBef>
                <a:spcPts val="360"/>
              </a:spcBef>
              <a:spcAft>
                <a:spcPts val="0"/>
              </a:spcAft>
              <a:buClr>
                <a:schemeClr val="dk1"/>
              </a:buClr>
              <a:buSzPts val="1620"/>
              <a:buFont typeface="Sorts Mill Goudy"/>
              <a:buChar char="•"/>
              <a:defRPr sz="1800"/>
            </a:lvl8pPr>
            <a:lvl9pPr indent="-331470" lvl="8" marL="4114800" algn="l">
              <a:spcBef>
                <a:spcPts val="360"/>
              </a:spcBef>
              <a:spcAft>
                <a:spcPts val="0"/>
              </a:spcAft>
              <a:buClr>
                <a:schemeClr val="dk1"/>
              </a:buClr>
              <a:buSzPts val="1620"/>
              <a:buFont typeface="Sorts Mill Goudy"/>
              <a:buChar char="•"/>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5" name="Shape 105"/>
        <p:cNvGrpSpPr/>
        <p:nvPr/>
      </p:nvGrpSpPr>
      <p:grpSpPr>
        <a:xfrm>
          <a:off x="0" y="0"/>
          <a:ext cx="0" cy="0"/>
          <a:chOff x="0" y="0"/>
          <a:chExt cx="0" cy="0"/>
        </a:xfrm>
      </p:grpSpPr>
      <p:sp>
        <p:nvSpPr>
          <p:cNvPr id="106" name="Google Shape;106;p14"/>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14"/>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0" name="Shape 110"/>
        <p:cNvGrpSpPr/>
        <p:nvPr/>
      </p:nvGrpSpPr>
      <p:grpSpPr>
        <a:xfrm>
          <a:off x="0" y="0"/>
          <a:ext cx="0" cy="0"/>
          <a:chOff x="0" y="0"/>
          <a:chExt cx="0" cy="0"/>
        </a:xfrm>
      </p:grpSpPr>
      <p:sp>
        <p:nvSpPr>
          <p:cNvPr id="111" name="Google Shape;111;p15"/>
          <p:cNvSpPr txBox="1"/>
          <p:nvPr>
            <p:ph type="title"/>
          </p:nvPr>
        </p:nvSpPr>
        <p:spPr>
          <a:xfrm>
            <a:off x="914400" y="1690048"/>
            <a:ext cx="3563938"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5"/>
          <p:cNvSpPr txBox="1"/>
          <p:nvPr>
            <p:ph idx="1" type="body"/>
          </p:nvPr>
        </p:nvSpPr>
        <p:spPr>
          <a:xfrm>
            <a:off x="4667250" y="368490"/>
            <a:ext cx="3566160" cy="5627498"/>
          </a:xfrm>
          <a:prstGeom prst="rect">
            <a:avLst/>
          </a:prstGeom>
          <a:noFill/>
          <a:ln>
            <a:noFill/>
          </a:ln>
        </p:spPr>
        <p:txBody>
          <a:bodyPr anchorCtr="0" anchor="t" bIns="45700" lIns="91425" spcFirstLastPara="1" rIns="91425" wrap="square" tIns="45700">
            <a:noAutofit/>
          </a:bodyPr>
          <a:lstStyle>
            <a:lvl1pPr indent="-354330" lvl="0" marL="457200" algn="l">
              <a:spcBef>
                <a:spcPts val="2000"/>
              </a:spcBef>
              <a:spcAft>
                <a:spcPts val="0"/>
              </a:spcAft>
              <a:buClr>
                <a:schemeClr val="dk1"/>
              </a:buClr>
              <a:buSzPts val="1980"/>
              <a:buFont typeface="Sorts Mill Goudy"/>
              <a:buChar char="•"/>
              <a:defRPr sz="2200"/>
            </a:lvl1pPr>
            <a:lvl2pPr indent="-342900" lvl="1" marL="914400" algn="l">
              <a:spcBef>
                <a:spcPts val="600"/>
              </a:spcBef>
              <a:spcAft>
                <a:spcPts val="0"/>
              </a:spcAft>
              <a:buClr>
                <a:schemeClr val="dk1"/>
              </a:buClr>
              <a:buSzPts val="1800"/>
              <a:buFont typeface="Sorts Mill Goudy"/>
              <a:buChar char="•"/>
              <a:defRPr sz="2000"/>
            </a:lvl2pPr>
            <a:lvl3pPr indent="-331469" lvl="2" marL="1371600" algn="l">
              <a:spcBef>
                <a:spcPts val="600"/>
              </a:spcBef>
              <a:spcAft>
                <a:spcPts val="0"/>
              </a:spcAft>
              <a:buClr>
                <a:schemeClr val="dk1"/>
              </a:buClr>
              <a:buSzPts val="1620"/>
              <a:buFont typeface="Sorts Mill Goudy"/>
              <a:buChar char="•"/>
              <a:defRPr sz="1800"/>
            </a:lvl3pPr>
            <a:lvl4pPr indent="-331469" lvl="3" marL="1828800" algn="l">
              <a:spcBef>
                <a:spcPts val="600"/>
              </a:spcBef>
              <a:spcAft>
                <a:spcPts val="0"/>
              </a:spcAft>
              <a:buClr>
                <a:schemeClr val="dk1"/>
              </a:buClr>
              <a:buSzPts val="1620"/>
              <a:buFont typeface="Sorts Mill Goudy"/>
              <a:buChar char="•"/>
              <a:defRPr sz="1800"/>
            </a:lvl4pPr>
            <a:lvl5pPr indent="-331470" lvl="4" marL="2286000" algn="l">
              <a:spcBef>
                <a:spcPts val="600"/>
              </a:spcBef>
              <a:spcAft>
                <a:spcPts val="0"/>
              </a:spcAft>
              <a:buClr>
                <a:schemeClr val="dk1"/>
              </a:buClr>
              <a:buSzPts val="1620"/>
              <a:buFont typeface="Sorts Mill Goudy"/>
              <a:buChar char="•"/>
              <a:defRPr sz="1800"/>
            </a:lvl5pPr>
            <a:lvl6pPr indent="-342900" lvl="5" marL="2743200" algn="l">
              <a:spcBef>
                <a:spcPts val="400"/>
              </a:spcBef>
              <a:spcAft>
                <a:spcPts val="0"/>
              </a:spcAft>
              <a:buClr>
                <a:schemeClr val="dk1"/>
              </a:buClr>
              <a:buSzPts val="1800"/>
              <a:buFont typeface="Sorts Mill Goudy"/>
              <a:buChar char="•"/>
              <a:defRPr sz="2000"/>
            </a:lvl6pPr>
            <a:lvl7pPr indent="-342900" lvl="6" marL="3200400" algn="l">
              <a:spcBef>
                <a:spcPts val="400"/>
              </a:spcBef>
              <a:spcAft>
                <a:spcPts val="0"/>
              </a:spcAft>
              <a:buClr>
                <a:schemeClr val="dk1"/>
              </a:buClr>
              <a:buSzPts val="1800"/>
              <a:buFont typeface="Sorts Mill Goudy"/>
              <a:buChar char="•"/>
              <a:defRPr sz="2000"/>
            </a:lvl7pPr>
            <a:lvl8pPr indent="-342900" lvl="7" marL="3657600" algn="l">
              <a:spcBef>
                <a:spcPts val="400"/>
              </a:spcBef>
              <a:spcAft>
                <a:spcPts val="0"/>
              </a:spcAft>
              <a:buClr>
                <a:schemeClr val="dk1"/>
              </a:buClr>
              <a:buSzPts val="1800"/>
              <a:buFont typeface="Sorts Mill Goudy"/>
              <a:buChar char="•"/>
              <a:defRPr sz="2000"/>
            </a:lvl8pPr>
            <a:lvl9pPr indent="-342900" lvl="8" marL="4114800" algn="l">
              <a:spcBef>
                <a:spcPts val="400"/>
              </a:spcBef>
              <a:spcAft>
                <a:spcPts val="0"/>
              </a:spcAft>
              <a:buClr>
                <a:schemeClr val="dk1"/>
              </a:buClr>
              <a:buSzPts val="1800"/>
              <a:buFont typeface="Sorts Mill Goudy"/>
              <a:buChar char="•"/>
              <a:defRPr sz="2000"/>
            </a:lvl9pPr>
          </a:lstStyle>
          <a:p/>
        </p:txBody>
      </p:sp>
      <p:sp>
        <p:nvSpPr>
          <p:cNvPr id="113" name="Google Shape;113;p15"/>
          <p:cNvSpPr txBox="1"/>
          <p:nvPr>
            <p:ph idx="2" type="body"/>
          </p:nvPr>
        </p:nvSpPr>
        <p:spPr>
          <a:xfrm>
            <a:off x="914398" y="2866031"/>
            <a:ext cx="3563938"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14" name="Google Shape;114;p15"/>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5"/>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5"/>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17" name="Shape 117"/>
        <p:cNvGrpSpPr/>
        <p:nvPr/>
      </p:nvGrpSpPr>
      <p:grpSpPr>
        <a:xfrm>
          <a:off x="0" y="0"/>
          <a:ext cx="0" cy="0"/>
          <a:chOff x="0" y="0"/>
          <a:chExt cx="0" cy="0"/>
        </a:xfrm>
      </p:grpSpPr>
      <p:sp>
        <p:nvSpPr>
          <p:cNvPr id="118" name="Google Shape;118;p16"/>
          <p:cNvSpPr txBox="1"/>
          <p:nvPr>
            <p:ph type="title"/>
          </p:nvPr>
        </p:nvSpPr>
        <p:spPr>
          <a:xfrm>
            <a:off x="5017546" y="1524002"/>
            <a:ext cx="3566160"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16"/>
          <p:cNvSpPr txBox="1"/>
          <p:nvPr>
            <p:ph idx="1" type="body"/>
          </p:nvPr>
        </p:nvSpPr>
        <p:spPr>
          <a:xfrm>
            <a:off x="5017544" y="2699982"/>
            <a:ext cx="3566160"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20" name="Google Shape;120;p16"/>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6"/>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6"/>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23" name="Google Shape;123;p16"/>
          <p:cNvGrpSpPr/>
          <p:nvPr/>
        </p:nvGrpSpPr>
        <p:grpSpPr>
          <a:xfrm rot="-178369">
            <a:off x="629032" y="505652"/>
            <a:ext cx="3850925" cy="5516274"/>
            <a:chOff x="1524000" y="381000"/>
            <a:chExt cx="3657600" cy="4737978"/>
          </a:xfrm>
        </p:grpSpPr>
        <p:sp>
          <p:nvSpPr>
            <p:cNvPr id="124" name="Google Shape;124;p16"/>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25" name="Google Shape;125;p16"/>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26" name="Google Shape;126;p16"/>
          <p:cNvSpPr/>
          <p:nvPr>
            <p:ph idx="2" type="pic"/>
          </p:nvPr>
        </p:nvSpPr>
        <p:spPr>
          <a:xfrm rot="-178369">
            <a:off x="808793" y="667560"/>
            <a:ext cx="3468664" cy="512472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with Caption">
  <p:cSld name="2 Pictures with Caption">
    <p:spTree>
      <p:nvGrpSpPr>
        <p:cNvPr id="127" name="Shape 127"/>
        <p:cNvGrpSpPr/>
        <p:nvPr/>
      </p:nvGrpSpPr>
      <p:grpSpPr>
        <a:xfrm>
          <a:off x="0" y="0"/>
          <a:ext cx="0" cy="0"/>
          <a:chOff x="0" y="0"/>
          <a:chExt cx="0" cy="0"/>
        </a:xfrm>
      </p:grpSpPr>
      <p:grpSp>
        <p:nvGrpSpPr>
          <p:cNvPr id="128" name="Google Shape;128;p17"/>
          <p:cNvGrpSpPr/>
          <p:nvPr/>
        </p:nvGrpSpPr>
        <p:grpSpPr>
          <a:xfrm rot="-385649">
            <a:off x="313409" y="3520799"/>
            <a:ext cx="4088024" cy="3026020"/>
            <a:chOff x="1524000" y="381000"/>
            <a:chExt cx="3657600" cy="4737978"/>
          </a:xfrm>
        </p:grpSpPr>
        <p:sp>
          <p:nvSpPr>
            <p:cNvPr id="129" name="Google Shape;129;p17"/>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30" name="Google Shape;130;p17"/>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31" name="Google Shape;131;p17"/>
          <p:cNvSpPr/>
          <p:nvPr>
            <p:ph idx="2" type="pic"/>
          </p:nvPr>
        </p:nvSpPr>
        <p:spPr>
          <a:xfrm rot="-385649">
            <a:off x="491061" y="3682581"/>
            <a:ext cx="3704109" cy="2697083"/>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grpSp>
        <p:nvGrpSpPr>
          <p:cNvPr id="132" name="Google Shape;132;p17"/>
          <p:cNvGrpSpPr/>
          <p:nvPr/>
        </p:nvGrpSpPr>
        <p:grpSpPr>
          <a:xfrm rot="232774">
            <a:off x="169481" y="241258"/>
            <a:ext cx="4088024" cy="3026020"/>
            <a:chOff x="1524000" y="381000"/>
            <a:chExt cx="3657600" cy="4737978"/>
          </a:xfrm>
        </p:grpSpPr>
        <p:sp>
          <p:nvSpPr>
            <p:cNvPr id="133" name="Google Shape;133;p17"/>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34" name="Google Shape;134;p17"/>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35" name="Google Shape;135;p17"/>
          <p:cNvSpPr/>
          <p:nvPr>
            <p:ph idx="3" type="pic"/>
          </p:nvPr>
        </p:nvSpPr>
        <p:spPr>
          <a:xfrm rot="232774">
            <a:off x="347133" y="403040"/>
            <a:ext cx="3704109" cy="2697083"/>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36" name="Google Shape;136;p17"/>
          <p:cNvSpPr txBox="1"/>
          <p:nvPr>
            <p:ph type="title"/>
          </p:nvPr>
        </p:nvSpPr>
        <p:spPr>
          <a:xfrm>
            <a:off x="5013434" y="1524002"/>
            <a:ext cx="3566160" cy="1162050"/>
          </a:xfrm>
          <a:prstGeom prst="rect">
            <a:avLst/>
          </a:prstGeom>
          <a:noFill/>
          <a:ln>
            <a:noFill/>
          </a:ln>
        </p:spPr>
        <p:txBody>
          <a:bodyPr anchorCtr="0" anchor="b" bIns="0" lIns="91425" spcFirstLastPara="1" rIns="91425" wrap="square" tIns="0">
            <a:noAutofit/>
          </a:bodyPr>
          <a:lstStyle>
            <a:lvl1pPr lvl="0" algn="l">
              <a:lnSpc>
                <a:spcPct val="109523"/>
              </a:lnSpc>
              <a:spcBef>
                <a:spcPts val="0"/>
              </a:spcBef>
              <a:spcAft>
                <a:spcPts val="0"/>
              </a:spcAft>
              <a:buClr>
                <a:schemeClr val="dk1"/>
              </a:buClr>
              <a:buSzPts val="4200"/>
              <a:buFont typeface="Sorts Mill Goudy"/>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17"/>
          <p:cNvSpPr txBox="1"/>
          <p:nvPr>
            <p:ph idx="1" type="body"/>
          </p:nvPr>
        </p:nvSpPr>
        <p:spPr>
          <a:xfrm>
            <a:off x="5013432" y="2699982"/>
            <a:ext cx="3566160" cy="2163172"/>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38" name="Google Shape;138;p17"/>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7"/>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7"/>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bove Caption">
  <p:cSld name="Picture above Caption">
    <p:spTree>
      <p:nvGrpSpPr>
        <p:cNvPr id="141" name="Shape 141"/>
        <p:cNvGrpSpPr/>
        <p:nvPr/>
      </p:nvGrpSpPr>
      <p:grpSpPr>
        <a:xfrm>
          <a:off x="0" y="0"/>
          <a:ext cx="0" cy="0"/>
          <a:chOff x="0" y="0"/>
          <a:chExt cx="0" cy="0"/>
        </a:xfrm>
      </p:grpSpPr>
      <p:sp>
        <p:nvSpPr>
          <p:cNvPr id="142" name="Google Shape;142;p18"/>
          <p:cNvSpPr txBox="1"/>
          <p:nvPr>
            <p:ph type="title"/>
          </p:nvPr>
        </p:nvSpPr>
        <p:spPr>
          <a:xfrm>
            <a:off x="914400" y="3762376"/>
            <a:ext cx="7315200" cy="1162050"/>
          </a:xfrm>
          <a:prstGeom prst="rect">
            <a:avLst/>
          </a:prstGeom>
          <a:noFill/>
          <a:ln>
            <a:noFill/>
          </a:ln>
        </p:spPr>
        <p:txBody>
          <a:bodyPr anchorCtr="0" anchor="b" bIns="0" lIns="91425" spcFirstLastPara="1" rIns="91425" wrap="square" tIns="0">
            <a:noAutofit/>
          </a:bodyPr>
          <a:lstStyle>
            <a:lvl1pPr lvl="0" algn="l">
              <a:lnSpc>
                <a:spcPct val="127777"/>
              </a:lnSpc>
              <a:spcBef>
                <a:spcPts val="0"/>
              </a:spcBef>
              <a:spcAft>
                <a:spcPts val="0"/>
              </a:spcAft>
              <a:buClr>
                <a:schemeClr val="dk1"/>
              </a:buClr>
              <a:buSzPts val="3600"/>
              <a:buFont typeface="Sorts Mill Goudy"/>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43" name="Google Shape;143;p18"/>
          <p:cNvGrpSpPr/>
          <p:nvPr/>
        </p:nvGrpSpPr>
        <p:grpSpPr>
          <a:xfrm rot="232774">
            <a:off x="2059286" y="379101"/>
            <a:ext cx="5031327" cy="3443312"/>
            <a:chOff x="1524000" y="381000"/>
            <a:chExt cx="3657600" cy="4737978"/>
          </a:xfrm>
        </p:grpSpPr>
        <p:sp>
          <p:nvSpPr>
            <p:cNvPr id="144" name="Google Shape;144;p18"/>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45" name="Google Shape;145;p18"/>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46" name="Google Shape;146;p18"/>
          <p:cNvSpPr txBox="1"/>
          <p:nvPr>
            <p:ph idx="1" type="body"/>
          </p:nvPr>
        </p:nvSpPr>
        <p:spPr>
          <a:xfrm>
            <a:off x="914400" y="4928736"/>
            <a:ext cx="7315200" cy="98797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47" name="Google Shape;147;p18"/>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8"/>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8"/>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p18"/>
          <p:cNvSpPr/>
          <p:nvPr>
            <p:ph idx="2" type="pic"/>
          </p:nvPr>
        </p:nvSpPr>
        <p:spPr>
          <a:xfrm rot="232774">
            <a:off x="2248161" y="564564"/>
            <a:ext cx="4653577" cy="307238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above Caption">
  <p:cSld name="2 Pictures above Caption">
    <p:spTree>
      <p:nvGrpSpPr>
        <p:cNvPr id="151" name="Shape 151"/>
        <p:cNvGrpSpPr/>
        <p:nvPr/>
      </p:nvGrpSpPr>
      <p:grpSpPr>
        <a:xfrm>
          <a:off x="0" y="0"/>
          <a:ext cx="0" cy="0"/>
          <a:chOff x="0" y="0"/>
          <a:chExt cx="0" cy="0"/>
        </a:xfrm>
      </p:grpSpPr>
      <p:sp>
        <p:nvSpPr>
          <p:cNvPr id="152" name="Google Shape;152;p19"/>
          <p:cNvSpPr txBox="1"/>
          <p:nvPr>
            <p:ph type="title"/>
          </p:nvPr>
        </p:nvSpPr>
        <p:spPr>
          <a:xfrm>
            <a:off x="914400" y="3762376"/>
            <a:ext cx="7315200" cy="1162050"/>
          </a:xfrm>
          <a:prstGeom prst="rect">
            <a:avLst/>
          </a:prstGeom>
          <a:noFill/>
          <a:ln>
            <a:noFill/>
          </a:ln>
        </p:spPr>
        <p:txBody>
          <a:bodyPr anchorCtr="0" anchor="b" bIns="0" lIns="91425" spcFirstLastPara="1" rIns="91425" wrap="square" tIns="0">
            <a:noAutofit/>
          </a:bodyPr>
          <a:lstStyle>
            <a:lvl1pPr lvl="0" algn="l">
              <a:lnSpc>
                <a:spcPct val="127777"/>
              </a:lnSpc>
              <a:spcBef>
                <a:spcPts val="0"/>
              </a:spcBef>
              <a:spcAft>
                <a:spcPts val="0"/>
              </a:spcAft>
              <a:buClr>
                <a:schemeClr val="dk1"/>
              </a:buClr>
              <a:buSzPts val="3600"/>
              <a:buFont typeface="Sorts Mill Goudy"/>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53" name="Google Shape;153;p19"/>
          <p:cNvGrpSpPr/>
          <p:nvPr/>
        </p:nvGrpSpPr>
        <p:grpSpPr>
          <a:xfrm rot="-180000">
            <a:off x="113687" y="116368"/>
            <a:ext cx="3969060" cy="3705360"/>
            <a:chOff x="1524000" y="381000"/>
            <a:chExt cx="3657600" cy="4737978"/>
          </a:xfrm>
        </p:grpSpPr>
        <p:sp>
          <p:nvSpPr>
            <p:cNvPr id="154" name="Google Shape;154;p19"/>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55" name="Google Shape;155;p19"/>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56" name="Google Shape;156;p19"/>
          <p:cNvSpPr/>
          <p:nvPr>
            <p:ph idx="2" type="pic"/>
          </p:nvPr>
        </p:nvSpPr>
        <p:spPr>
          <a:xfrm rot="-180000">
            <a:off x="299155" y="305001"/>
            <a:ext cx="3598455" cy="3334235"/>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grpSp>
        <p:nvGrpSpPr>
          <p:cNvPr id="157" name="Google Shape;157;p19"/>
          <p:cNvGrpSpPr/>
          <p:nvPr/>
        </p:nvGrpSpPr>
        <p:grpSpPr>
          <a:xfrm rot="360000">
            <a:off x="4165483" y="323143"/>
            <a:ext cx="4792693" cy="3443312"/>
            <a:chOff x="1524000" y="381000"/>
            <a:chExt cx="3657600" cy="4737978"/>
          </a:xfrm>
        </p:grpSpPr>
        <p:sp>
          <p:nvSpPr>
            <p:cNvPr id="158" name="Google Shape;158;p19"/>
            <p:cNvSpPr/>
            <p:nvPr/>
          </p:nvSpPr>
          <p:spPr>
            <a:xfrm>
              <a:off x="1524000" y="381000"/>
              <a:ext cx="3657600" cy="4724400"/>
            </a:xfrm>
            <a:prstGeom prst="rect">
              <a:avLst/>
            </a:prstGeom>
            <a:solidFill>
              <a:schemeClr val="lt1"/>
            </a:solidFill>
            <a:ln cap="flat" cmpd="sng" w="1905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sp>
          <p:nvSpPr>
            <p:cNvPr id="159" name="Google Shape;159;p19"/>
            <p:cNvSpPr/>
            <p:nvPr/>
          </p:nvSpPr>
          <p:spPr>
            <a:xfrm>
              <a:off x="1524000" y="381000"/>
              <a:ext cx="3657600" cy="4737978"/>
            </a:xfrm>
            <a:prstGeom prst="rect">
              <a:avLst/>
            </a:prstGeom>
            <a:gradFill>
              <a:gsLst>
                <a:gs pos="0">
                  <a:srgbClr val="D8D8D8"/>
                </a:gs>
                <a:gs pos="15000">
                  <a:srgbClr val="FFFFFF">
                    <a:alpha val="74901"/>
                  </a:srgbClr>
                </a:gs>
                <a:gs pos="100000">
                  <a:schemeClr val="lt1"/>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orts Mill Goudy"/>
                <a:ea typeface="Sorts Mill Goudy"/>
                <a:cs typeface="Sorts Mill Goudy"/>
                <a:sym typeface="Sorts Mill Goudy"/>
              </a:endParaRPr>
            </a:p>
          </p:txBody>
        </p:sp>
      </p:grpSp>
      <p:sp>
        <p:nvSpPr>
          <p:cNvPr id="160" name="Google Shape;160;p19"/>
          <p:cNvSpPr/>
          <p:nvPr>
            <p:ph idx="3" type="pic"/>
          </p:nvPr>
        </p:nvSpPr>
        <p:spPr>
          <a:xfrm rot="360000">
            <a:off x="4336486" y="507668"/>
            <a:ext cx="4432860" cy="3072384"/>
          </a:xfrm>
          <a:prstGeom prst="rect">
            <a:avLst/>
          </a:prstGeom>
          <a:solidFill>
            <a:srgbClr val="D8D8D8"/>
          </a:solidFill>
          <a:ln>
            <a:noFill/>
          </a:ln>
        </p:spPr>
        <p:txBody>
          <a:bodyPr anchorCtr="0" anchor="t" bIns="45700" lIns="91425" spcFirstLastPara="1" rIns="91425" wrap="square" tIns="45700">
            <a:noAutofit/>
          </a:bodyPr>
          <a:lstStyle>
            <a:lvl1pPr lvl="0" marR="0" rtl="0" algn="l">
              <a:spcBef>
                <a:spcPts val="2000"/>
              </a:spcBef>
              <a:spcAft>
                <a:spcPts val="0"/>
              </a:spcAft>
              <a:buClr>
                <a:schemeClr val="dk1"/>
              </a:buClr>
              <a:buSzPts val="2160"/>
              <a:buFont typeface="Sorts Mill Goudy"/>
              <a:buNone/>
              <a:defRPr b="0" i="0" sz="2400" u="none" cap="none" strike="noStrike">
                <a:solidFill>
                  <a:schemeClr val="dk1"/>
                </a:solidFill>
                <a:latin typeface="Sorts Mill Goudy"/>
                <a:ea typeface="Sorts Mill Goudy"/>
                <a:cs typeface="Sorts Mill Goudy"/>
                <a:sym typeface="Sorts Mill Goudy"/>
              </a:defRPr>
            </a:lvl1pPr>
            <a:lvl2pPr lvl="1"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lvl="2"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lvl="3"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lvl="4"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lvl="5"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lvl="6"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lvl="7"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lvl="8"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61" name="Google Shape;161;p19"/>
          <p:cNvSpPr txBox="1"/>
          <p:nvPr>
            <p:ph idx="1" type="body"/>
          </p:nvPr>
        </p:nvSpPr>
        <p:spPr>
          <a:xfrm>
            <a:off x="914400" y="4926106"/>
            <a:ext cx="7315200" cy="99060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Clr>
                <a:schemeClr val="dk1"/>
              </a:buClr>
              <a:buSzPts val="1800"/>
              <a:buFont typeface="Sorts Mill Goudy"/>
              <a:buNone/>
              <a:defRPr sz="2000"/>
            </a:lvl1pPr>
            <a:lvl2pPr indent="-228600" lvl="1" marL="914400" algn="l">
              <a:spcBef>
                <a:spcPts val="600"/>
              </a:spcBef>
              <a:spcAft>
                <a:spcPts val="0"/>
              </a:spcAft>
              <a:buClr>
                <a:schemeClr val="dk1"/>
              </a:buClr>
              <a:buSzPts val="1080"/>
              <a:buFont typeface="Sorts Mill Goudy"/>
              <a:buNone/>
              <a:defRPr sz="1200"/>
            </a:lvl2pPr>
            <a:lvl3pPr indent="-228600" lvl="2" marL="1371600" algn="l">
              <a:spcBef>
                <a:spcPts val="600"/>
              </a:spcBef>
              <a:spcAft>
                <a:spcPts val="0"/>
              </a:spcAft>
              <a:buClr>
                <a:schemeClr val="dk1"/>
              </a:buClr>
              <a:buSzPts val="900"/>
              <a:buFont typeface="Sorts Mill Goudy"/>
              <a:buNone/>
              <a:defRPr sz="1000"/>
            </a:lvl3pPr>
            <a:lvl4pPr indent="-228600" lvl="3" marL="1828800" algn="l">
              <a:spcBef>
                <a:spcPts val="600"/>
              </a:spcBef>
              <a:spcAft>
                <a:spcPts val="0"/>
              </a:spcAft>
              <a:buClr>
                <a:schemeClr val="dk1"/>
              </a:buClr>
              <a:buSzPts val="810"/>
              <a:buFont typeface="Sorts Mill Goudy"/>
              <a:buNone/>
              <a:defRPr sz="900"/>
            </a:lvl4pPr>
            <a:lvl5pPr indent="-228600" lvl="4" marL="2286000" algn="l">
              <a:spcBef>
                <a:spcPts val="600"/>
              </a:spcBef>
              <a:spcAft>
                <a:spcPts val="0"/>
              </a:spcAft>
              <a:buClr>
                <a:schemeClr val="dk1"/>
              </a:buClr>
              <a:buSzPts val="810"/>
              <a:buFont typeface="Sorts Mill Goudy"/>
              <a:buNone/>
              <a:defRPr sz="900"/>
            </a:lvl5pPr>
            <a:lvl6pPr indent="-228600" lvl="5" marL="2743200" algn="l">
              <a:spcBef>
                <a:spcPts val="180"/>
              </a:spcBef>
              <a:spcAft>
                <a:spcPts val="0"/>
              </a:spcAft>
              <a:buClr>
                <a:schemeClr val="dk1"/>
              </a:buClr>
              <a:buSzPts val="810"/>
              <a:buFont typeface="Sorts Mill Goudy"/>
              <a:buNone/>
              <a:defRPr sz="900"/>
            </a:lvl6pPr>
            <a:lvl7pPr indent="-228600" lvl="6" marL="3200400" algn="l">
              <a:spcBef>
                <a:spcPts val="180"/>
              </a:spcBef>
              <a:spcAft>
                <a:spcPts val="0"/>
              </a:spcAft>
              <a:buClr>
                <a:schemeClr val="dk1"/>
              </a:buClr>
              <a:buSzPts val="810"/>
              <a:buFont typeface="Sorts Mill Goudy"/>
              <a:buNone/>
              <a:defRPr sz="900"/>
            </a:lvl7pPr>
            <a:lvl8pPr indent="-228600" lvl="7" marL="3657600" algn="l">
              <a:spcBef>
                <a:spcPts val="180"/>
              </a:spcBef>
              <a:spcAft>
                <a:spcPts val="0"/>
              </a:spcAft>
              <a:buClr>
                <a:schemeClr val="dk1"/>
              </a:buClr>
              <a:buSzPts val="810"/>
              <a:buFont typeface="Sorts Mill Goudy"/>
              <a:buNone/>
              <a:defRPr sz="900"/>
            </a:lvl8pPr>
            <a:lvl9pPr indent="-228600" lvl="8" marL="4114800" algn="l">
              <a:spcBef>
                <a:spcPts val="180"/>
              </a:spcBef>
              <a:spcAft>
                <a:spcPts val="0"/>
              </a:spcAft>
              <a:buClr>
                <a:schemeClr val="dk1"/>
              </a:buClr>
              <a:buSzPts val="810"/>
              <a:buFont typeface="Sorts Mill Goudy"/>
              <a:buNone/>
              <a:defRPr sz="900"/>
            </a:lvl9pPr>
          </a:lstStyle>
          <a:p/>
        </p:txBody>
      </p:sp>
      <p:sp>
        <p:nvSpPr>
          <p:cNvPr id="162" name="Google Shape;162;p19"/>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19"/>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9"/>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blipFill>
          <a:blip r:embed="rId2">
            <a:alphaModFix/>
          </a:blip>
          <a:stretch>
            <a:fillRect/>
          </a:stretch>
        </a:blipFill>
      </p:bgPr>
    </p:bg>
    <p:spTree>
      <p:nvGrpSpPr>
        <p:cNvPr id="165" name="Shape 165"/>
        <p:cNvGrpSpPr/>
        <p:nvPr/>
      </p:nvGrpSpPr>
      <p:grpSpPr>
        <a:xfrm>
          <a:off x="0" y="0"/>
          <a:ext cx="0" cy="0"/>
          <a:chOff x="0" y="0"/>
          <a:chExt cx="0" cy="0"/>
        </a:xfrm>
      </p:grpSpPr>
      <p:sp>
        <p:nvSpPr>
          <p:cNvPr id="166" name="Google Shape;166;p20"/>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0"/>
          <p:cNvSpPr txBox="1"/>
          <p:nvPr>
            <p:ph idx="1" type="body"/>
          </p:nvPr>
        </p:nvSpPr>
        <p:spPr>
          <a:xfrm rot="5400000">
            <a:off x="2543180" y="106363"/>
            <a:ext cx="4056062" cy="7313613"/>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168" name="Google Shape;168;p20"/>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0"/>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0"/>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21"/>
          <p:cNvSpPr txBox="1"/>
          <p:nvPr>
            <p:ph type="title"/>
          </p:nvPr>
        </p:nvSpPr>
        <p:spPr>
          <a:xfrm rot="5400000">
            <a:off x="5295821" y="2706715"/>
            <a:ext cx="5357812" cy="846083"/>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21"/>
          <p:cNvSpPr txBox="1"/>
          <p:nvPr>
            <p:ph idx="1" type="body"/>
          </p:nvPr>
        </p:nvSpPr>
        <p:spPr>
          <a:xfrm rot="5400000">
            <a:off x="1207294" y="157957"/>
            <a:ext cx="5357812" cy="5943600"/>
          </a:xfrm>
          <a:prstGeom prst="rect">
            <a:avLst/>
          </a:prstGeom>
          <a:noFill/>
          <a:ln>
            <a:noFill/>
          </a:ln>
        </p:spPr>
        <p:txBody>
          <a:bodyPr anchorCtr="0" anchor="t" bIns="45700" lIns="91425" spcFirstLastPara="1" rIns="91425" wrap="square" tIns="45700">
            <a:noAutofit/>
          </a:bodyPr>
          <a:lstStyle>
            <a:lvl1pPr indent="-331470" lvl="0" marL="457200" algn="l">
              <a:spcBef>
                <a:spcPts val="2000"/>
              </a:spcBef>
              <a:spcAft>
                <a:spcPts val="0"/>
              </a:spcAft>
              <a:buClr>
                <a:schemeClr val="dk1"/>
              </a:buClr>
              <a:buSzPts val="1620"/>
              <a:buChar char="•"/>
              <a:defRPr/>
            </a:lvl1pPr>
            <a:lvl2pPr indent="-331469" lvl="1" marL="914400" algn="l">
              <a:spcBef>
                <a:spcPts val="600"/>
              </a:spcBef>
              <a:spcAft>
                <a:spcPts val="0"/>
              </a:spcAft>
              <a:buClr>
                <a:schemeClr val="dk1"/>
              </a:buClr>
              <a:buSzPts val="1620"/>
              <a:buChar char="•"/>
              <a:defRPr/>
            </a:lvl2pPr>
            <a:lvl3pPr indent="-331469" lvl="2" marL="1371600" algn="l">
              <a:spcBef>
                <a:spcPts val="600"/>
              </a:spcBef>
              <a:spcAft>
                <a:spcPts val="0"/>
              </a:spcAft>
              <a:buClr>
                <a:schemeClr val="dk1"/>
              </a:buClr>
              <a:buSzPts val="1620"/>
              <a:buChar char="•"/>
              <a:defRPr/>
            </a:lvl3pPr>
            <a:lvl4pPr indent="-331469" lvl="3" marL="1828800" algn="l">
              <a:spcBef>
                <a:spcPts val="600"/>
              </a:spcBef>
              <a:spcAft>
                <a:spcPts val="0"/>
              </a:spcAft>
              <a:buClr>
                <a:schemeClr val="dk1"/>
              </a:buClr>
              <a:buSzPts val="1620"/>
              <a:buChar char="•"/>
              <a:defRPr/>
            </a:lvl4pPr>
            <a:lvl5pPr indent="-331470" lvl="4" marL="2286000" algn="l">
              <a:spcBef>
                <a:spcPts val="600"/>
              </a:spcBef>
              <a:spcAft>
                <a:spcPts val="0"/>
              </a:spcAft>
              <a:buClr>
                <a:schemeClr val="dk1"/>
              </a:buClr>
              <a:buSzPts val="1620"/>
              <a:buFont typeface="Sorts Mill Goudy"/>
              <a:buChar char="•"/>
              <a:defRPr/>
            </a:lvl5pPr>
            <a:lvl6pPr indent="-331470" lvl="5" marL="2743200" algn="l">
              <a:spcBef>
                <a:spcPts val="360"/>
              </a:spcBef>
              <a:spcAft>
                <a:spcPts val="0"/>
              </a:spcAft>
              <a:buClr>
                <a:schemeClr val="dk1"/>
              </a:buClr>
              <a:buSzPts val="1620"/>
              <a:buChar char="•"/>
              <a:defRPr/>
            </a:lvl6pPr>
            <a:lvl7pPr indent="-331470" lvl="6" marL="3200400" algn="l">
              <a:spcBef>
                <a:spcPts val="360"/>
              </a:spcBef>
              <a:spcAft>
                <a:spcPts val="0"/>
              </a:spcAft>
              <a:buClr>
                <a:schemeClr val="dk1"/>
              </a:buClr>
              <a:buSzPts val="1620"/>
              <a:buChar char="•"/>
              <a:defRPr/>
            </a:lvl7pPr>
            <a:lvl8pPr indent="-331470" lvl="7" marL="3657600" algn="l">
              <a:spcBef>
                <a:spcPts val="360"/>
              </a:spcBef>
              <a:spcAft>
                <a:spcPts val="0"/>
              </a:spcAft>
              <a:buClr>
                <a:schemeClr val="dk1"/>
              </a:buClr>
              <a:buSzPts val="1620"/>
              <a:buChar char="•"/>
              <a:defRPr/>
            </a:lvl8pPr>
            <a:lvl9pPr indent="-331470" lvl="8" marL="4114800" algn="l">
              <a:spcBef>
                <a:spcPts val="360"/>
              </a:spcBef>
              <a:spcAft>
                <a:spcPts val="0"/>
              </a:spcAft>
              <a:buClr>
                <a:schemeClr val="dk1"/>
              </a:buClr>
              <a:buSzPts val="1620"/>
              <a:buChar char="•"/>
              <a:defRPr/>
            </a:lvl9pPr>
          </a:lstStyle>
          <a:p/>
        </p:txBody>
      </p:sp>
      <p:sp>
        <p:nvSpPr>
          <p:cNvPr id="174" name="Google Shape;174;p2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14404" y="503240"/>
            <a:ext cx="7313613" cy="8683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4600"/>
              <a:buFont typeface="Sorts Mill Goudy"/>
              <a:buNone/>
              <a:defRPr b="0" i="0" sz="4600" u="none" cap="none" strike="noStrike">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914404" y="1735138"/>
            <a:ext cx="7313613" cy="4056062"/>
          </a:xfrm>
          <a:prstGeom prst="rect">
            <a:avLst/>
          </a:prstGeom>
          <a:noFill/>
          <a:ln>
            <a:noFill/>
          </a:ln>
        </p:spPr>
        <p:txBody>
          <a:bodyPr anchorCtr="0" anchor="t" bIns="45700" lIns="91425" spcFirstLastPara="1" rIns="91425" wrap="square" tIns="45700">
            <a:noAutofit/>
          </a:bodyPr>
          <a:lstStyle>
            <a:lvl1pPr indent="-365760" lvl="0" marL="457200" marR="0" rtl="0" algn="l">
              <a:spcBef>
                <a:spcPts val="2000"/>
              </a:spcBef>
              <a:spcAft>
                <a:spcPts val="0"/>
              </a:spcAft>
              <a:buClr>
                <a:schemeClr val="dk1"/>
              </a:buClr>
              <a:buSzPts val="2160"/>
              <a:buFont typeface="Sorts Mill Goudy"/>
              <a:buChar char="•"/>
              <a:defRPr b="0" i="0" sz="2400" u="none" cap="none" strike="noStrike">
                <a:solidFill>
                  <a:schemeClr val="dk1"/>
                </a:solidFill>
                <a:latin typeface="Sorts Mill Goudy"/>
                <a:ea typeface="Sorts Mill Goudy"/>
                <a:cs typeface="Sorts Mill Goudy"/>
                <a:sym typeface="Sorts Mill Goudy"/>
              </a:defRPr>
            </a:lvl1pPr>
            <a:lvl2pPr indent="-354330" lvl="1" marL="914400" marR="0" rtl="0" algn="l">
              <a:spcBef>
                <a:spcPts val="600"/>
              </a:spcBef>
              <a:spcAft>
                <a:spcPts val="0"/>
              </a:spcAft>
              <a:buClr>
                <a:schemeClr val="dk1"/>
              </a:buClr>
              <a:buSzPts val="1980"/>
              <a:buFont typeface="Sorts Mill Goudy"/>
              <a:buChar char="•"/>
              <a:defRPr b="0" i="0" sz="2200" u="none" cap="none" strike="noStrike">
                <a:solidFill>
                  <a:schemeClr val="dk1"/>
                </a:solidFill>
                <a:latin typeface="Sorts Mill Goudy"/>
                <a:ea typeface="Sorts Mill Goudy"/>
                <a:cs typeface="Sorts Mill Goudy"/>
                <a:sym typeface="Sorts Mill Goudy"/>
              </a:defRPr>
            </a:lvl2pPr>
            <a:lvl3pPr indent="-342900" lvl="2" marL="1371600" marR="0" rtl="0" algn="l">
              <a:spcBef>
                <a:spcPts val="600"/>
              </a:spcBef>
              <a:spcAft>
                <a:spcPts val="0"/>
              </a:spcAft>
              <a:buClr>
                <a:schemeClr val="dk1"/>
              </a:buClr>
              <a:buSzPts val="1800"/>
              <a:buFont typeface="Sorts Mill Goudy"/>
              <a:buChar char="•"/>
              <a:defRPr b="0" i="0" sz="2000" u="none" cap="none" strike="noStrike">
                <a:solidFill>
                  <a:schemeClr val="dk1"/>
                </a:solidFill>
                <a:latin typeface="Sorts Mill Goudy"/>
                <a:ea typeface="Sorts Mill Goudy"/>
                <a:cs typeface="Sorts Mill Goudy"/>
                <a:sym typeface="Sorts Mill Goudy"/>
              </a:defRPr>
            </a:lvl3pPr>
            <a:lvl4pPr indent="-331469" lvl="3" marL="1828800"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4pPr>
            <a:lvl5pPr indent="-331470" lvl="4" marL="2286000" marR="0" rtl="0" algn="l">
              <a:spcBef>
                <a:spcPts val="60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5pPr>
            <a:lvl6pPr indent="-331470" lvl="5" marL="27432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6pPr>
            <a:lvl7pPr indent="-331470" lvl="6" marL="32004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7pPr>
            <a:lvl8pPr indent="-331470" lvl="7" marL="36576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8pPr>
            <a:lvl9pPr indent="-331470" lvl="8" marL="4114800" marR="0" rtl="0" algn="l">
              <a:spcBef>
                <a:spcPts val="360"/>
              </a:spcBef>
              <a:spcAft>
                <a:spcPts val="0"/>
              </a:spcAft>
              <a:buClr>
                <a:schemeClr val="dk1"/>
              </a:buClr>
              <a:buSzPts val="1620"/>
              <a:buFont typeface="Sorts Mill Goudy"/>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2" name="Google Shape;12;p1"/>
          <p:cNvSpPr txBox="1"/>
          <p:nvPr>
            <p:ph idx="10" type="dt"/>
          </p:nvPr>
        </p:nvSpPr>
        <p:spPr>
          <a:xfrm>
            <a:off x="7663438" y="6314461"/>
            <a:ext cx="1295400" cy="26509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9pPr>
          </a:lstStyle>
          <a:p/>
        </p:txBody>
      </p:sp>
      <p:sp>
        <p:nvSpPr>
          <p:cNvPr id="13" name="Google Shape;13;p1"/>
          <p:cNvSpPr txBox="1"/>
          <p:nvPr>
            <p:ph idx="11" type="ftr"/>
          </p:nvPr>
        </p:nvSpPr>
        <p:spPr>
          <a:xfrm>
            <a:off x="3942611" y="6305799"/>
            <a:ext cx="3717967" cy="25927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9pPr>
          </a:lstStyle>
          <a:p/>
        </p:txBody>
      </p:sp>
      <p:sp>
        <p:nvSpPr>
          <p:cNvPr id="14" name="Google Shape;14;p1"/>
          <p:cNvSpPr txBox="1"/>
          <p:nvPr>
            <p:ph idx="12" type="sldNum"/>
          </p:nvPr>
        </p:nvSpPr>
        <p:spPr>
          <a:xfrm>
            <a:off x="7521388" y="5476097"/>
            <a:ext cx="1483056" cy="85184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200" u="none" cap="none" strike="noStrike">
                <a:solidFill>
                  <a:schemeClr val="dk1"/>
                </a:solidFill>
                <a:latin typeface="Impact"/>
                <a:ea typeface="Impact"/>
                <a:cs typeface="Impact"/>
                <a:sym typeface="Impact"/>
              </a:defRPr>
            </a:lvl1pPr>
            <a:lvl2pPr indent="0" lvl="1" marL="0" marR="0" rtl="0" algn="r">
              <a:spcBef>
                <a:spcPts val="0"/>
              </a:spcBef>
              <a:buNone/>
              <a:defRPr b="0" i="0" sz="8200" u="none" cap="none" strike="noStrike">
                <a:solidFill>
                  <a:schemeClr val="dk1"/>
                </a:solidFill>
                <a:latin typeface="Impact"/>
                <a:ea typeface="Impact"/>
                <a:cs typeface="Impact"/>
                <a:sym typeface="Impact"/>
              </a:defRPr>
            </a:lvl2pPr>
            <a:lvl3pPr indent="0" lvl="2" marL="0" marR="0" rtl="0" algn="r">
              <a:spcBef>
                <a:spcPts val="0"/>
              </a:spcBef>
              <a:buNone/>
              <a:defRPr b="0" i="0" sz="8200" u="none" cap="none" strike="noStrike">
                <a:solidFill>
                  <a:schemeClr val="dk1"/>
                </a:solidFill>
                <a:latin typeface="Impact"/>
                <a:ea typeface="Impact"/>
                <a:cs typeface="Impact"/>
                <a:sym typeface="Impact"/>
              </a:defRPr>
            </a:lvl3pPr>
            <a:lvl4pPr indent="0" lvl="3" marL="0" marR="0" rtl="0" algn="r">
              <a:spcBef>
                <a:spcPts val="0"/>
              </a:spcBef>
              <a:buNone/>
              <a:defRPr b="0" i="0" sz="8200" u="none" cap="none" strike="noStrike">
                <a:solidFill>
                  <a:schemeClr val="dk1"/>
                </a:solidFill>
                <a:latin typeface="Impact"/>
                <a:ea typeface="Impact"/>
                <a:cs typeface="Impact"/>
                <a:sym typeface="Impact"/>
              </a:defRPr>
            </a:lvl4pPr>
            <a:lvl5pPr indent="0" lvl="4" marL="0" marR="0" rtl="0" algn="r">
              <a:spcBef>
                <a:spcPts val="0"/>
              </a:spcBef>
              <a:buNone/>
              <a:defRPr b="0" i="0" sz="8200" u="none" cap="none" strike="noStrike">
                <a:solidFill>
                  <a:schemeClr val="dk1"/>
                </a:solidFill>
                <a:latin typeface="Impact"/>
                <a:ea typeface="Impact"/>
                <a:cs typeface="Impact"/>
                <a:sym typeface="Impact"/>
              </a:defRPr>
            </a:lvl5pPr>
            <a:lvl6pPr indent="0" lvl="5" marL="0" marR="0" rtl="0" algn="r">
              <a:spcBef>
                <a:spcPts val="0"/>
              </a:spcBef>
              <a:buNone/>
              <a:defRPr b="0" i="0" sz="8200" u="none" cap="none" strike="noStrike">
                <a:solidFill>
                  <a:schemeClr val="dk1"/>
                </a:solidFill>
                <a:latin typeface="Impact"/>
                <a:ea typeface="Impact"/>
                <a:cs typeface="Impact"/>
                <a:sym typeface="Impact"/>
              </a:defRPr>
            </a:lvl6pPr>
            <a:lvl7pPr indent="0" lvl="6" marL="0" marR="0" rtl="0" algn="r">
              <a:spcBef>
                <a:spcPts val="0"/>
              </a:spcBef>
              <a:buNone/>
              <a:defRPr b="0" i="0" sz="8200" u="none" cap="none" strike="noStrike">
                <a:solidFill>
                  <a:schemeClr val="dk1"/>
                </a:solidFill>
                <a:latin typeface="Impact"/>
                <a:ea typeface="Impact"/>
                <a:cs typeface="Impact"/>
                <a:sym typeface="Impact"/>
              </a:defRPr>
            </a:lvl7pPr>
            <a:lvl8pPr indent="0" lvl="7" marL="0" marR="0" rtl="0" algn="r">
              <a:spcBef>
                <a:spcPts val="0"/>
              </a:spcBef>
              <a:buNone/>
              <a:defRPr b="0" i="0" sz="8200" u="none" cap="none" strike="noStrike">
                <a:solidFill>
                  <a:schemeClr val="dk1"/>
                </a:solidFill>
                <a:latin typeface="Impact"/>
                <a:ea typeface="Impact"/>
                <a:cs typeface="Impact"/>
                <a:sym typeface="Impact"/>
              </a:defRPr>
            </a:lvl8pPr>
            <a:lvl9pPr indent="0" lvl="8" marL="0" marR="0" rtl="0" algn="r">
              <a:spcBef>
                <a:spcPts val="0"/>
              </a:spcBef>
              <a:buNone/>
              <a:defRPr b="0" i="0" sz="8200" u="none" cap="none" strike="noStrike">
                <a:solidFill>
                  <a:schemeClr val="dk1"/>
                </a:solidFill>
                <a:latin typeface="Impact"/>
                <a:ea typeface="Impact"/>
                <a:cs typeface="Impact"/>
                <a:sym typeface="Impac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dsl.richmond.edu/holc/pages/home" TargetMode="External"/><Relationship Id="rId4" Type="http://schemas.openxmlformats.org/officeDocument/2006/relationships/hyperlink" Target="https://slate.com/human-interest/2014/05/where-to-find-historical-redlining-maps-of-your-city.html" TargetMode="External"/><Relationship Id="rId5" Type="http://schemas.openxmlformats.org/officeDocument/2006/relationships/hyperlink" Target="http://alloveralbany.com/archive/2017/02/16/albany-redlining-histor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nvSpPr>
        <p:spPr>
          <a:xfrm>
            <a:off x="867354" y="512416"/>
            <a:ext cx="7418972" cy="563231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3600" u="none" cap="none" strike="noStrike">
                <a:solidFill>
                  <a:schemeClr val="dk1"/>
                </a:solidFill>
                <a:latin typeface="Impact"/>
                <a:ea typeface="Impact"/>
                <a:cs typeface="Impact"/>
                <a:sym typeface="Impact"/>
              </a:rPr>
              <a:t>Week </a:t>
            </a:r>
            <a:r>
              <a:rPr b="1" lang="en-US" sz="3600">
                <a:solidFill>
                  <a:schemeClr val="dk1"/>
                </a:solidFill>
                <a:latin typeface="Impact"/>
                <a:ea typeface="Impact"/>
                <a:cs typeface="Impact"/>
                <a:sym typeface="Impact"/>
              </a:rPr>
              <a:t>7</a:t>
            </a:r>
            <a:endParaRPr/>
          </a:p>
          <a:p>
            <a:pPr indent="0" lvl="0" marL="0" marR="0" rtl="0" algn="ctr">
              <a:spcBef>
                <a:spcPts val="0"/>
              </a:spcBef>
              <a:spcAft>
                <a:spcPts val="0"/>
              </a:spcAft>
              <a:buNone/>
            </a:pPr>
            <a:r>
              <a:rPr b="1" lang="en-US" sz="3600">
                <a:solidFill>
                  <a:schemeClr val="dk1"/>
                </a:solidFill>
                <a:latin typeface="Impact"/>
                <a:ea typeface="Impact"/>
                <a:cs typeface="Impact"/>
                <a:sym typeface="Impact"/>
              </a:rPr>
              <a:t>Race</a:t>
            </a:r>
            <a:endParaRPr b="1"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t/>
            </a:r>
            <a:endParaRPr b="0" i="0" sz="24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rPr b="1" lang="en-US" sz="2000" u="sng" cap="none" strike="noStrike">
                <a:solidFill>
                  <a:schemeClr val="dk1"/>
                </a:solidFill>
                <a:latin typeface="Roboto Slab"/>
                <a:ea typeface="Roboto Slab"/>
                <a:cs typeface="Roboto Slab"/>
                <a:sym typeface="Roboto Slab"/>
              </a:rPr>
              <a:t>Learning Outcomes</a:t>
            </a:r>
            <a:endParaRPr b="1" sz="2000">
              <a:latin typeface="Roboto Slab"/>
              <a:ea typeface="Roboto Slab"/>
              <a:cs typeface="Roboto Slab"/>
              <a:sym typeface="Roboto Slab"/>
            </a:endParaRPr>
          </a:p>
          <a:p>
            <a:pPr indent="0" lvl="0" marL="0" marR="0" rtl="0" algn="ctr">
              <a:spcBef>
                <a:spcPts val="0"/>
              </a:spcBef>
              <a:spcAft>
                <a:spcPts val="0"/>
              </a:spcAft>
              <a:buNone/>
            </a:pPr>
            <a:r>
              <a:rPr i="0" lang="en-US" sz="2000" u="none" cap="none" strike="noStrike">
                <a:solidFill>
                  <a:srgbClr val="000000"/>
                </a:solidFill>
                <a:latin typeface="Roboto Slab Regular"/>
                <a:ea typeface="Roboto Slab Regular"/>
                <a:cs typeface="Roboto Slab Regular"/>
                <a:sym typeface="Roboto Slab Regular"/>
              </a:rPr>
              <a:t>Service Learning: </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000" u="none" cap="none" strike="noStrike">
                <a:solidFill>
                  <a:srgbClr val="000000"/>
                </a:solidFill>
                <a:latin typeface="Roboto Slab Regular"/>
                <a:ea typeface="Roboto Slab Regular"/>
                <a:cs typeface="Roboto Slab Regular"/>
                <a:sym typeface="Roboto Slab Regular"/>
              </a:rPr>
              <a:t>Ethnic Studies: 1. </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000" u="none" cap="none" strike="noStrike">
                <a:solidFill>
                  <a:srgbClr val="000000"/>
                </a:solidFill>
                <a:latin typeface="Roboto Slab Regular"/>
                <a:ea typeface="Roboto Slab Regular"/>
                <a:cs typeface="Roboto Slab Regular"/>
                <a:sym typeface="Roboto Slab Regular"/>
              </a:rPr>
              <a:t>Area D: </a:t>
            </a:r>
            <a:endParaRPr i="0" sz="2000" u="none" cap="none" strike="noStrike">
              <a:solidFill>
                <a:srgbClr val="000000"/>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latin typeface="Roboto Slab Regular"/>
                <a:ea typeface="Roboto Slab Regular"/>
                <a:cs typeface="Roboto Slab Regular"/>
                <a:sym typeface="Roboto Slab Regular"/>
              </a:rPr>
              <a:t>What is Racism?</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latin typeface="Roboto Slab Regular"/>
                <a:ea typeface="Roboto Slab Regular"/>
                <a:cs typeface="Roboto Slab Regular"/>
                <a:sym typeface="Roboto Slab Regular"/>
              </a:rPr>
              <a:t>Laws Supporting Racism</a:t>
            </a:r>
            <a:endParaRPr sz="2000">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lang="en-US" sz="2000">
                <a:solidFill>
                  <a:schemeClr val="dk1"/>
                </a:solidFill>
                <a:latin typeface="Roboto Slab Regular"/>
                <a:ea typeface="Roboto Slab Regular"/>
                <a:cs typeface="Roboto Slab Regular"/>
                <a:sym typeface="Roboto Slab Regular"/>
              </a:rPr>
              <a:t>Economic inequality</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latin typeface="Roboto Slab Regular"/>
                <a:ea typeface="Roboto Slab Regular"/>
                <a:cs typeface="Roboto Slab Regular"/>
                <a:sym typeface="Roboto Slab Regular"/>
              </a:rPr>
              <a:t>Housing discrimination/Segregation</a:t>
            </a:r>
            <a:endParaRPr sz="2000">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latin typeface="Roboto Slab Regular"/>
              <a:ea typeface="Roboto Slab Regular"/>
              <a:cs typeface="Roboto Slab Regular"/>
              <a:sym typeface="Roboto Slab Regul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nvSpPr>
        <p:spPr>
          <a:xfrm>
            <a:off x="867354" y="512416"/>
            <a:ext cx="7419000" cy="5632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1" sz="6000" u="sng">
              <a:solidFill>
                <a:schemeClr val="dk1"/>
              </a:solidFill>
              <a:latin typeface="Roboto Slab"/>
              <a:ea typeface="Roboto Slab"/>
              <a:cs typeface="Roboto Slab"/>
              <a:sym typeface="Roboto Slab"/>
            </a:endParaRPr>
          </a:p>
          <a:p>
            <a:pPr indent="0" lvl="0" marL="0" marR="0" rtl="0" algn="ctr">
              <a:spcBef>
                <a:spcPts val="0"/>
              </a:spcBef>
              <a:spcAft>
                <a:spcPts val="0"/>
              </a:spcAft>
              <a:buNone/>
            </a:pPr>
            <a:r>
              <a:t/>
            </a:r>
            <a:endParaRPr b="1" sz="6000" u="sng">
              <a:solidFill>
                <a:schemeClr val="dk1"/>
              </a:solidFill>
              <a:latin typeface="Roboto Slab"/>
              <a:ea typeface="Roboto Slab"/>
              <a:cs typeface="Roboto Slab"/>
              <a:sym typeface="Roboto Slab"/>
            </a:endParaRPr>
          </a:p>
          <a:p>
            <a:pPr indent="0" lvl="0" marL="0" marR="0" rtl="0" algn="ctr">
              <a:spcBef>
                <a:spcPts val="0"/>
              </a:spcBef>
              <a:spcAft>
                <a:spcPts val="0"/>
              </a:spcAft>
              <a:buNone/>
            </a:pPr>
            <a:r>
              <a:rPr b="1" lang="en-US" sz="6000">
                <a:solidFill>
                  <a:schemeClr val="dk1"/>
                </a:solidFill>
                <a:latin typeface="Roboto Slab"/>
                <a:ea typeface="Roboto Slab"/>
                <a:cs typeface="Roboto Slab"/>
                <a:sym typeface="Roboto Slab"/>
              </a:rPr>
              <a:t>What is Racism?</a:t>
            </a:r>
            <a:r>
              <a:rPr b="1" lang="en-US" sz="6000" u="sng">
                <a:solidFill>
                  <a:schemeClr val="dk1"/>
                </a:solidFill>
                <a:latin typeface="Roboto Slab"/>
                <a:ea typeface="Roboto Slab"/>
                <a:cs typeface="Roboto Slab"/>
                <a:sym typeface="Roboto Slab"/>
              </a:rPr>
              <a:t> </a:t>
            </a:r>
            <a:endParaRPr b="1" sz="6000">
              <a:latin typeface="Roboto Slab"/>
              <a:ea typeface="Roboto Slab"/>
              <a:cs typeface="Roboto Slab"/>
              <a:sym typeface="Roboto Slab"/>
            </a:endParaRPr>
          </a:p>
          <a:p>
            <a:pPr indent="0" lvl="0" marL="0" marR="0" rtl="0" algn="l">
              <a:spcBef>
                <a:spcPts val="0"/>
              </a:spcBef>
              <a:spcAft>
                <a:spcPts val="0"/>
              </a:spcAft>
              <a:buNone/>
            </a:pPr>
            <a:r>
              <a:t/>
            </a:r>
            <a:endParaRPr sz="20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latin typeface="Roboto Slab Regular"/>
              <a:ea typeface="Roboto Slab Regular"/>
              <a:cs typeface="Roboto Slab Regular"/>
              <a:sym typeface="Roboto Slab Regul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nvSpPr>
        <p:spPr>
          <a:xfrm>
            <a:off x="401925" y="335598"/>
            <a:ext cx="8328000" cy="65223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D</a:t>
            </a:r>
            <a:r>
              <a:rPr lang="en-US" sz="3600">
                <a:solidFill>
                  <a:schemeClr val="dk1"/>
                </a:solidFill>
                <a:latin typeface="Impact"/>
                <a:ea typeface="Impact"/>
                <a:cs typeface="Impact"/>
                <a:sym typeface="Impact"/>
              </a:rPr>
              <a:t>efinitions of racism</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rPr i="1" lang="en-US" sz="2000">
                <a:solidFill>
                  <a:schemeClr val="dk1"/>
                </a:solidFill>
                <a:latin typeface="Cambria"/>
                <a:ea typeface="Cambria"/>
                <a:cs typeface="Cambria"/>
                <a:sym typeface="Cambria"/>
              </a:rPr>
              <a:t>Racism = prejudice + power</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rPr i="1" lang="en-US" sz="2000">
                <a:solidFill>
                  <a:schemeClr val="dk1"/>
                </a:solidFill>
                <a:latin typeface="Cambria"/>
                <a:ea typeface="Cambria"/>
                <a:cs typeface="Cambria"/>
                <a:sym typeface="Cambria"/>
              </a:rPr>
              <a:t>Racism is about placism</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rPr i="1" lang="en-US" sz="2000">
                <a:solidFill>
                  <a:schemeClr val="dk1"/>
                </a:solidFill>
                <a:latin typeface="Cambria"/>
                <a:ea typeface="Cambria"/>
                <a:cs typeface="Cambria"/>
                <a:sym typeface="Cambria"/>
              </a:rPr>
              <a:t>Racism assumes the human world is naturally divided into distinct racial caste groups. </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rPr i="1" lang="en-US" sz="2000">
                <a:solidFill>
                  <a:schemeClr val="dk1"/>
                </a:solidFill>
                <a:latin typeface="Cambria"/>
                <a:ea typeface="Cambria"/>
                <a:cs typeface="Cambria"/>
                <a:sym typeface="Cambria"/>
              </a:rPr>
              <a:t>The racial caste groups explain the inequality while also justifying the continuing </a:t>
            </a:r>
            <a:r>
              <a:rPr i="1" lang="en-US" sz="2000">
                <a:solidFill>
                  <a:schemeClr val="dk1"/>
                </a:solidFill>
                <a:latin typeface="Cambria"/>
                <a:ea typeface="Cambria"/>
                <a:cs typeface="Cambria"/>
                <a:sym typeface="Cambria"/>
              </a:rPr>
              <a:t>discrimination</a:t>
            </a:r>
            <a:r>
              <a:rPr i="1" lang="en-US" sz="2000">
                <a:solidFill>
                  <a:schemeClr val="dk1"/>
                </a:solidFill>
                <a:latin typeface="Cambria"/>
                <a:ea typeface="Cambria"/>
                <a:cs typeface="Cambria"/>
                <a:sym typeface="Cambria"/>
              </a:rPr>
              <a:t> that perpetuates said inequality</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t/>
            </a:r>
            <a:endParaRPr i="1" sz="2000">
              <a:solidFill>
                <a:schemeClr val="dk1"/>
              </a:solidFill>
              <a:latin typeface="Cambria"/>
              <a:ea typeface="Cambria"/>
              <a:cs typeface="Cambria"/>
              <a:sym typeface="Cambria"/>
            </a:endParaRPr>
          </a:p>
          <a:p>
            <a:pPr indent="0" lvl="0" marL="0" rtl="0" algn="ctr">
              <a:spcBef>
                <a:spcPts val="0"/>
              </a:spcBef>
              <a:spcAft>
                <a:spcPts val="0"/>
              </a:spcAft>
              <a:buNone/>
            </a:pPr>
            <a:r>
              <a:rPr i="1" lang="en-US" sz="2000">
                <a:solidFill>
                  <a:schemeClr val="dk1"/>
                </a:solidFill>
                <a:latin typeface="Cambria"/>
                <a:ea typeface="Cambria"/>
                <a:cs typeface="Cambria"/>
                <a:sym typeface="Cambria"/>
              </a:rPr>
              <a:t>EXAMPLE: There is no violation of a higher law if whites prevent blacks from home ownership because whites are a better fit for homeownership because they are naturally more responsible people. </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000">
              <a:solidFill>
                <a:schemeClr val="dk1"/>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nvSpPr>
        <p:spPr>
          <a:xfrm>
            <a:off x="401925" y="335598"/>
            <a:ext cx="8328000" cy="65223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Racism and Placism</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i="1" lang="en-US" sz="2000">
                <a:solidFill>
                  <a:schemeClr val="dk1"/>
                </a:solidFill>
                <a:latin typeface="Cambria"/>
                <a:ea typeface="Cambria"/>
                <a:cs typeface="Cambria"/>
                <a:sym typeface="Cambria"/>
              </a:rPr>
              <a:t>Social Inequality came first.</a:t>
            </a:r>
            <a:endParaRPr i="1" sz="20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rPr i="1" lang="en-US" sz="2000">
                <a:solidFill>
                  <a:schemeClr val="dk1"/>
                </a:solidFill>
                <a:latin typeface="Cambria"/>
                <a:ea typeface="Cambria"/>
                <a:cs typeface="Cambria"/>
                <a:sym typeface="Cambria"/>
              </a:rPr>
              <a:t>Racism came after to justify the inequality.</a:t>
            </a:r>
            <a:endParaRPr i="1" sz="2000">
              <a:solidFill>
                <a:schemeClr val="dk1"/>
              </a:solidFill>
              <a:latin typeface="Cambria"/>
              <a:ea typeface="Cambria"/>
              <a:cs typeface="Cambria"/>
              <a:sym typeface="Cambria"/>
            </a:endParaRPr>
          </a:p>
          <a:p>
            <a:pPr indent="0" lvl="0" marL="0" rtl="0" algn="l">
              <a:spcBef>
                <a:spcPts val="0"/>
              </a:spcBef>
              <a:spcAft>
                <a:spcPts val="0"/>
              </a:spcAft>
              <a:buClr>
                <a:schemeClr val="dk1"/>
              </a:buClr>
              <a:buFont typeface="Arial"/>
              <a:buNone/>
            </a:pPr>
            <a:r>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lang="en-US" sz="2100">
                <a:solidFill>
                  <a:schemeClr val="dk1"/>
                </a:solidFill>
                <a:latin typeface="Roboto Slab Regular"/>
                <a:ea typeface="Roboto Slab Regular"/>
                <a:cs typeface="Roboto Slab Regular"/>
                <a:sym typeface="Roboto Slab Regular"/>
              </a:rPr>
              <a:t>“Our new government is founded upon...the great truth that the negro is not equal to the white man; that slavery subordination to the superior race is his natural and normal condition.”</a:t>
            </a:r>
            <a:br>
              <a:rPr lang="en-US" sz="2100">
                <a:solidFill>
                  <a:schemeClr val="dk1"/>
                </a:solidFill>
                <a:latin typeface="Roboto Slab Regular"/>
                <a:ea typeface="Roboto Slab Regular"/>
                <a:cs typeface="Roboto Slab Regular"/>
                <a:sym typeface="Roboto Slab Regular"/>
              </a:rPr>
            </a:br>
            <a:r>
              <a:rPr b="1" i="1" lang="en-US" sz="1800">
                <a:solidFill>
                  <a:schemeClr val="dk1"/>
                </a:solidFill>
                <a:latin typeface="Cambria"/>
                <a:ea typeface="Cambria"/>
                <a:cs typeface="Cambria"/>
                <a:sym typeface="Cambria"/>
              </a:rPr>
              <a:t>Vice President Alexander Stephens of the Confederacy, 1861</a:t>
            </a:r>
            <a:endParaRPr b="1" i="1" sz="18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b="1" i="1" sz="18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rPr lang="en-US" sz="2100">
                <a:solidFill>
                  <a:schemeClr val="dk1"/>
                </a:solidFill>
                <a:latin typeface="Roboto Slab Regular"/>
                <a:ea typeface="Roboto Slab Regular"/>
                <a:cs typeface="Roboto Slab Regular"/>
                <a:sym typeface="Roboto Slab Regular"/>
              </a:rPr>
              <a:t>“The only good Indian is a dead Indian.” </a:t>
            </a:r>
            <a:endParaRPr sz="21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b="1" i="1" lang="en-US" sz="1800">
                <a:solidFill>
                  <a:schemeClr val="dk1"/>
                </a:solidFill>
                <a:latin typeface="Cambria"/>
                <a:ea typeface="Cambria"/>
                <a:cs typeface="Cambria"/>
                <a:sym typeface="Cambria"/>
              </a:rPr>
              <a:t>General Philip Sheridan, 1869</a:t>
            </a:r>
            <a:endParaRPr b="1" i="1" sz="18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b="1" i="1" sz="1800">
              <a:solidFill>
                <a:schemeClr val="dk1"/>
              </a:solidFill>
              <a:latin typeface="Cambria"/>
              <a:ea typeface="Cambria"/>
              <a:cs typeface="Cambria"/>
              <a:sym typeface="Cambria"/>
            </a:endParaRPr>
          </a:p>
          <a:p>
            <a:pPr indent="0" lvl="0" marL="0" rtl="0" algn="ctr">
              <a:lnSpc>
                <a:spcPct val="110000"/>
              </a:lnSpc>
              <a:spcBef>
                <a:spcPts val="0"/>
              </a:spcBef>
              <a:spcAft>
                <a:spcPts val="0"/>
              </a:spcAft>
              <a:buClr>
                <a:schemeClr val="dk1"/>
              </a:buClr>
              <a:buSzPts val="1100"/>
              <a:buFont typeface="Arial"/>
              <a:buNone/>
            </a:pPr>
            <a:r>
              <a:rPr i="1" lang="en-US" sz="2400">
                <a:solidFill>
                  <a:schemeClr val="dk1"/>
                </a:solidFill>
                <a:latin typeface="Cambria"/>
                <a:ea typeface="Cambria"/>
                <a:cs typeface="Cambria"/>
                <a:sym typeface="Cambria"/>
              </a:rPr>
              <a:t>Thus RACISM is about putting people in their supposedly PROPER PLACE (considered to be consistent with nature). </a:t>
            </a:r>
            <a:endParaRPr i="1" sz="24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b="1" sz="18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i="1" sz="20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i="1" sz="20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b="1" sz="2100">
              <a:solidFill>
                <a:schemeClr val="dk1"/>
              </a:solidFill>
              <a:latin typeface="Roboto Slab"/>
              <a:ea typeface="Roboto Slab"/>
              <a:cs typeface="Roboto Slab"/>
              <a:sym typeface="Roboto Slab"/>
            </a:endParaRPr>
          </a:p>
          <a:p>
            <a:pPr indent="0" lvl="0" marL="0" marR="0" rtl="0" algn="l">
              <a:spcBef>
                <a:spcPts val="0"/>
              </a:spcBef>
              <a:spcAft>
                <a:spcPts val="0"/>
              </a:spcAft>
              <a:buNone/>
            </a:pPr>
            <a:r>
              <a:t/>
            </a:r>
            <a:endParaRPr sz="21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nvSpPr>
        <p:spPr>
          <a:xfrm>
            <a:off x="259400" y="335600"/>
            <a:ext cx="8657700" cy="61611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1" lang="en-US" sz="3600">
                <a:solidFill>
                  <a:schemeClr val="dk1"/>
                </a:solidFill>
                <a:latin typeface="Impact"/>
                <a:ea typeface="Impact"/>
                <a:cs typeface="Impact"/>
                <a:sym typeface="Impact"/>
              </a:rPr>
              <a:t>Racism is also a social fact</a:t>
            </a:r>
            <a:endParaRPr b="1" sz="3600">
              <a:solidFill>
                <a:schemeClr val="dk1"/>
              </a:solidFill>
              <a:latin typeface="Impact"/>
              <a:ea typeface="Impact"/>
              <a:cs typeface="Impact"/>
              <a:sym typeface="Impact"/>
            </a:endParaRPr>
          </a:p>
          <a:p>
            <a:pPr indent="0" lvl="0" marL="0" marR="0" rtl="0" algn="ctr">
              <a:lnSpc>
                <a:spcPct val="110000"/>
              </a:lnSpc>
              <a:spcBef>
                <a:spcPts val="0"/>
              </a:spcBef>
              <a:spcAft>
                <a:spcPts val="0"/>
              </a:spcAft>
              <a:buNone/>
            </a:pPr>
            <a:r>
              <a:t/>
            </a:r>
            <a:endParaRPr i="1" sz="1800">
              <a:solidFill>
                <a:schemeClr val="dk1"/>
              </a:solidFill>
              <a:latin typeface="Cambria"/>
              <a:ea typeface="Cambria"/>
              <a:cs typeface="Cambria"/>
              <a:sym typeface="Cambria"/>
            </a:endParaRPr>
          </a:p>
          <a:p>
            <a:pPr indent="0" lvl="0" marL="0" marR="0" rtl="0" algn="ctr">
              <a:lnSpc>
                <a:spcPct val="110000"/>
              </a:lnSpc>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rtl="0" algn="l">
              <a:spcBef>
                <a:spcPts val="0"/>
              </a:spcBef>
              <a:spcAft>
                <a:spcPts val="0"/>
              </a:spcAft>
              <a:buClr>
                <a:schemeClr val="dk1"/>
              </a:buClr>
              <a:buFont typeface="Arial"/>
              <a:buNone/>
            </a:pPr>
            <a:r>
              <a:t/>
            </a:r>
            <a:endParaRPr b="1" i="1" sz="12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rPr lang="en-US" sz="2000">
                <a:solidFill>
                  <a:schemeClr val="dk1"/>
                </a:solidFill>
                <a:latin typeface="Roboto Slab Regular"/>
                <a:ea typeface="Roboto Slab Regular"/>
                <a:cs typeface="Roboto Slab Regular"/>
                <a:sym typeface="Roboto Slab Regular"/>
              </a:rPr>
              <a:t>“All civilizations derive from the white race.”</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lang="en-US" sz="2000">
                <a:solidFill>
                  <a:schemeClr val="dk1"/>
                </a:solidFill>
                <a:latin typeface="Roboto Slab Regular"/>
                <a:ea typeface="Roboto Slab Regular"/>
                <a:cs typeface="Roboto Slab Regular"/>
                <a:sym typeface="Roboto Slab Regular"/>
              </a:rPr>
              <a:t>“civilization...will certainly die...when...swamped by the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SzPts val="1100"/>
              <a:buFont typeface="Arial"/>
              <a:buNone/>
            </a:pPr>
            <a:r>
              <a:rPr lang="en-US" sz="2000">
                <a:solidFill>
                  <a:schemeClr val="dk1"/>
                </a:solidFill>
                <a:latin typeface="Roboto Slab Regular"/>
                <a:ea typeface="Roboto Slab Regular"/>
                <a:cs typeface="Roboto Slab Regular"/>
                <a:sym typeface="Roboto Slab Regular"/>
              </a:rPr>
              <a:t>influx of foreign elements.”</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b="1" i="1" lang="en-US" sz="1800">
                <a:solidFill>
                  <a:schemeClr val="dk1"/>
                </a:solidFill>
                <a:latin typeface="Cambria"/>
                <a:ea typeface="Cambria"/>
                <a:cs typeface="Cambria"/>
                <a:sym typeface="Cambria"/>
              </a:rPr>
              <a:t>Arthur de Gobineau (1853)</a:t>
            </a:r>
            <a:endParaRPr b="1" i="1" sz="18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12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What the Melting Pot actually does in practice, can be seen in Mexico, where the absorption of the blood of the original Spanish conquerors by the native Indian population has produced the racial mixture which we call Mexican, and which is now engaged in demonstrating its incapacity for self-government.</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b="1" i="1" lang="en-US" sz="1800">
                <a:solidFill>
                  <a:schemeClr val="dk1"/>
                </a:solidFill>
                <a:latin typeface="Cambria"/>
                <a:ea typeface="Cambria"/>
                <a:cs typeface="Cambria"/>
                <a:sym typeface="Cambria"/>
              </a:rPr>
              <a:t>Madison Grant (1916)</a:t>
            </a:r>
            <a:endParaRPr b="1" i="1" sz="1800">
              <a:solidFill>
                <a:schemeClr val="dk1"/>
              </a:solidFill>
              <a:latin typeface="Cambria"/>
              <a:ea typeface="Cambria"/>
              <a:cs typeface="Cambria"/>
              <a:sym typeface="Cambria"/>
            </a:endParaRPr>
          </a:p>
          <a:p>
            <a:pPr indent="0" lvl="0" marL="0" marR="0" rtl="0" algn="l">
              <a:spcBef>
                <a:spcPts val="0"/>
              </a:spcBef>
              <a:spcAft>
                <a:spcPts val="0"/>
              </a:spcAft>
              <a:buNone/>
            </a:pPr>
            <a:r>
              <a:t/>
            </a:r>
            <a:endParaRPr i="1" sz="1200">
              <a:solidFill>
                <a:schemeClr val="dk1"/>
              </a:solidFill>
              <a:latin typeface="Cambria"/>
              <a:ea typeface="Cambria"/>
              <a:cs typeface="Cambria"/>
              <a:sym typeface="Cambria"/>
            </a:endParaRPr>
          </a:p>
          <a:p>
            <a:pPr indent="0" lvl="0" marL="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“posed the greatest threat to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Western Civilization and the White Race.””</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b="1" i="1" lang="en-US" sz="1800">
                <a:solidFill>
                  <a:schemeClr val="dk1"/>
                </a:solidFill>
                <a:latin typeface="Cambria"/>
                <a:ea typeface="Cambria"/>
                <a:cs typeface="Cambria"/>
                <a:sym typeface="Cambria"/>
              </a:rPr>
              <a:t>Lothrop Stoddard (1920)</a:t>
            </a:r>
            <a:endParaRPr b="1" i="1" sz="18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b="1" i="1"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i="1"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00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27"/>
          <p:cNvPicPr preferRelativeResize="0"/>
          <p:nvPr/>
        </p:nvPicPr>
        <p:blipFill>
          <a:blip r:embed="rId3">
            <a:alphaModFix/>
          </a:blip>
          <a:stretch>
            <a:fillRect/>
          </a:stretch>
        </p:blipFill>
        <p:spPr>
          <a:xfrm>
            <a:off x="669750" y="113625"/>
            <a:ext cx="8005000" cy="6630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nvSpPr>
        <p:spPr>
          <a:xfrm>
            <a:off x="721900" y="6304550"/>
            <a:ext cx="7339200" cy="5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Sorts Mill Goudy"/>
                <a:ea typeface="Sorts Mill Goudy"/>
                <a:cs typeface="Sorts Mill Goudy"/>
                <a:sym typeface="Sorts Mill Goudy"/>
              </a:rPr>
              <a:t>Civil rights movement: March on Washington</a:t>
            </a:r>
            <a:endParaRPr>
              <a:latin typeface="Sorts Mill Goudy"/>
              <a:ea typeface="Sorts Mill Goudy"/>
              <a:cs typeface="Sorts Mill Goudy"/>
              <a:sym typeface="Sorts Mill Goudy"/>
            </a:endParaRPr>
          </a:p>
          <a:p>
            <a:pPr indent="0" lvl="0" marL="0" rtl="0" algn="l">
              <a:spcBef>
                <a:spcPts val="0"/>
              </a:spcBef>
              <a:spcAft>
                <a:spcPts val="0"/>
              </a:spcAft>
              <a:buNone/>
            </a:pPr>
            <a:r>
              <a:rPr lang="en-US">
                <a:latin typeface="Sorts Mill Goudy"/>
                <a:ea typeface="Sorts Mill Goudy"/>
                <a:cs typeface="Sorts Mill Goudy"/>
                <a:sym typeface="Sorts Mill Goudy"/>
              </a:rPr>
              <a:t>Civil rights supporters carrying placards at the March on Washington, D.C., August 28, 1963.</a:t>
            </a:r>
            <a:endParaRPr>
              <a:latin typeface="Sorts Mill Goudy"/>
              <a:ea typeface="Sorts Mill Goudy"/>
              <a:cs typeface="Sorts Mill Goudy"/>
              <a:sym typeface="Sorts Mill Goudy"/>
            </a:endParaRPr>
          </a:p>
        </p:txBody>
      </p:sp>
      <p:pic>
        <p:nvPicPr>
          <p:cNvPr id="219" name="Google Shape;219;p28"/>
          <p:cNvPicPr preferRelativeResize="0"/>
          <p:nvPr/>
        </p:nvPicPr>
        <p:blipFill>
          <a:blip r:embed="rId3">
            <a:alphaModFix/>
          </a:blip>
          <a:stretch>
            <a:fillRect/>
          </a:stretch>
        </p:blipFill>
        <p:spPr>
          <a:xfrm>
            <a:off x="56150" y="248650"/>
            <a:ext cx="8526374" cy="58032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nvSpPr>
        <p:spPr>
          <a:xfrm>
            <a:off x="401925" y="335598"/>
            <a:ext cx="8328000" cy="65223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Back to Placism (</a:t>
            </a:r>
            <a:r>
              <a:rPr lang="en-US" sz="3600">
                <a:solidFill>
                  <a:schemeClr val="dk1"/>
                </a:solidFill>
                <a:latin typeface="Impact"/>
                <a:ea typeface="Impact"/>
                <a:cs typeface="Impact"/>
                <a:sym typeface="Impact"/>
              </a:rPr>
              <a:t>Racism and Placism)</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i="1" lang="en-US" sz="2000">
                <a:solidFill>
                  <a:schemeClr val="dk1"/>
                </a:solidFill>
                <a:latin typeface="Cambria"/>
                <a:ea typeface="Cambria"/>
                <a:cs typeface="Cambria"/>
                <a:sym typeface="Cambria"/>
              </a:rPr>
              <a:t>Placist = Person who descriminates based on where other people live</a:t>
            </a:r>
            <a:endParaRPr i="1" sz="20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i="1" sz="20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b="1" sz="2100">
              <a:solidFill>
                <a:schemeClr val="dk1"/>
              </a:solidFill>
              <a:latin typeface="Roboto Slab"/>
              <a:ea typeface="Roboto Slab"/>
              <a:cs typeface="Roboto Slab"/>
              <a:sym typeface="Roboto Slab"/>
            </a:endParaRPr>
          </a:p>
          <a:p>
            <a:pPr indent="0" lvl="0" marL="0" marR="0" rtl="0" algn="l">
              <a:spcBef>
                <a:spcPts val="0"/>
              </a:spcBef>
              <a:spcAft>
                <a:spcPts val="0"/>
              </a:spcAft>
              <a:buNone/>
            </a:pPr>
            <a:r>
              <a:rPr lang="en-US" sz="2100">
                <a:solidFill>
                  <a:schemeClr val="dk1"/>
                </a:solidFill>
                <a:latin typeface="Roboto Slab Regular"/>
                <a:ea typeface="Roboto Slab Regular"/>
                <a:cs typeface="Roboto Slab Regular"/>
                <a:sym typeface="Roboto Slab Regular"/>
              </a:rPr>
              <a:t>Class examples?</a:t>
            </a:r>
            <a:endParaRPr sz="21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txBox="1"/>
          <p:nvPr/>
        </p:nvSpPr>
        <p:spPr>
          <a:xfrm>
            <a:off x="259400" y="335600"/>
            <a:ext cx="8657700" cy="61611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1" lang="en-US" sz="3600">
                <a:solidFill>
                  <a:schemeClr val="dk1"/>
                </a:solidFill>
                <a:latin typeface="Impact"/>
                <a:ea typeface="Impact"/>
                <a:cs typeface="Impact"/>
                <a:sym typeface="Impact"/>
              </a:rPr>
              <a:t>Why does racial inequality exist?</a:t>
            </a:r>
            <a:endParaRPr b="1" sz="3600">
              <a:solidFill>
                <a:schemeClr val="dk1"/>
              </a:solidFill>
              <a:latin typeface="Impact"/>
              <a:ea typeface="Impact"/>
              <a:cs typeface="Impact"/>
              <a:sym typeface="Impact"/>
            </a:endParaRPr>
          </a:p>
          <a:p>
            <a:pPr indent="0" lvl="0" marL="0" rtl="0" algn="ctr">
              <a:spcBef>
                <a:spcPts val="0"/>
              </a:spcBef>
              <a:spcAft>
                <a:spcPts val="0"/>
              </a:spcAft>
              <a:buClr>
                <a:schemeClr val="dk1"/>
              </a:buClr>
              <a:buFont typeface="Arial"/>
              <a:buNone/>
            </a:pPr>
            <a:r>
              <a:rPr i="1" lang="en-US" sz="2000">
                <a:solidFill>
                  <a:schemeClr val="dk1"/>
                </a:solidFill>
                <a:latin typeface="Cambria"/>
                <a:ea typeface="Cambria"/>
                <a:cs typeface="Cambria"/>
                <a:sym typeface="Cambria"/>
              </a:rPr>
              <a:t>There’s an old saying</a:t>
            </a:r>
            <a:endParaRPr i="1" sz="20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rPr lang="en-US" sz="1800">
                <a:solidFill>
                  <a:schemeClr val="dk1"/>
                </a:solidFill>
                <a:latin typeface="Roboto Slab Regular"/>
                <a:ea typeface="Roboto Slab Regular"/>
                <a:cs typeface="Roboto Slab Regular"/>
                <a:sym typeface="Roboto Slab Regular"/>
              </a:rPr>
              <a:t>In Europe, labor was cheap, but land was expensive.</a:t>
            </a:r>
            <a:endParaRPr sz="18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lang="en-US" sz="1800">
                <a:solidFill>
                  <a:schemeClr val="dk1"/>
                </a:solidFill>
                <a:latin typeface="Roboto Slab Regular"/>
                <a:ea typeface="Roboto Slab Regular"/>
                <a:cs typeface="Roboto Slab Regular"/>
                <a:sym typeface="Roboto Slab Regular"/>
              </a:rPr>
              <a:t>In America, land was cheap, but labor was expensive.</a:t>
            </a:r>
            <a:endParaRPr sz="18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b="1" i="1" sz="1800">
              <a:solidFill>
                <a:schemeClr val="dk1"/>
              </a:solidFill>
              <a:latin typeface="Cambria"/>
              <a:ea typeface="Cambria"/>
              <a:cs typeface="Cambria"/>
              <a:sym typeface="Cambria"/>
            </a:endParaRPr>
          </a:p>
          <a:p>
            <a:pPr indent="0" lvl="0" marL="0" rtl="0" algn="ctr">
              <a:spcBef>
                <a:spcPts val="0"/>
              </a:spcBef>
              <a:spcAft>
                <a:spcPts val="0"/>
              </a:spcAft>
              <a:buNone/>
            </a:pPr>
            <a:r>
              <a:rPr i="1" lang="en-US" sz="1800">
                <a:solidFill>
                  <a:schemeClr val="dk1"/>
                </a:solidFill>
                <a:latin typeface="Cambria"/>
                <a:ea typeface="Cambria"/>
                <a:cs typeface="Cambria"/>
                <a:sym typeface="Cambria"/>
              </a:rPr>
              <a:t>Different groups arrived in the United States by the boatload</a:t>
            </a:r>
            <a:endParaRPr i="1" sz="1800">
              <a:solidFill>
                <a:schemeClr val="dk1"/>
              </a:solidFill>
              <a:latin typeface="Cambria"/>
              <a:ea typeface="Cambria"/>
              <a:cs typeface="Cambria"/>
              <a:sym typeface="Cambria"/>
            </a:endParaRPr>
          </a:p>
          <a:p>
            <a:pPr indent="0" lvl="0" marL="0" rtl="0" algn="ctr">
              <a:spcBef>
                <a:spcPts val="0"/>
              </a:spcBef>
              <a:spcAft>
                <a:spcPts val="0"/>
              </a:spcAft>
              <a:buNone/>
            </a:pPr>
            <a:r>
              <a:rPr i="1" lang="en-US" sz="1800">
                <a:solidFill>
                  <a:schemeClr val="dk1"/>
                </a:solidFill>
                <a:latin typeface="Cambria"/>
                <a:ea typeface="Cambria"/>
                <a:cs typeface="Cambria"/>
                <a:sym typeface="Cambria"/>
              </a:rPr>
              <a:t>to fill particular niches in the labor market. </a:t>
            </a:r>
            <a:endParaRPr i="1" sz="1800">
              <a:solidFill>
                <a:schemeClr val="dk1"/>
              </a:solidFill>
              <a:latin typeface="Cambria"/>
              <a:ea typeface="Cambria"/>
              <a:cs typeface="Cambria"/>
              <a:sym typeface="Cambria"/>
            </a:endParaRPr>
          </a:p>
          <a:p>
            <a:pPr indent="0" lvl="0" marL="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rtl="0" algn="l">
              <a:spcBef>
                <a:spcPts val="0"/>
              </a:spcBef>
              <a:spcAft>
                <a:spcPts val="0"/>
              </a:spcAft>
              <a:buClr>
                <a:schemeClr val="dk1"/>
              </a:buClr>
              <a:buFont typeface="Arial"/>
              <a:buNone/>
            </a:pPr>
            <a:r>
              <a:t/>
            </a:r>
            <a:endParaRPr sz="12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b="1" lang="en-US" sz="2000">
                <a:solidFill>
                  <a:schemeClr val="dk1"/>
                </a:solidFill>
                <a:latin typeface="Roboto Slab"/>
                <a:ea typeface="Roboto Slab"/>
                <a:cs typeface="Roboto Slab"/>
                <a:sym typeface="Roboto Slab"/>
              </a:rPr>
              <a:t>Africans</a:t>
            </a:r>
            <a:r>
              <a:rPr lang="en-US" sz="2000">
                <a:solidFill>
                  <a:schemeClr val="dk1"/>
                </a:solidFill>
                <a:latin typeface="Roboto Slab Regular"/>
                <a:ea typeface="Roboto Slab Regular"/>
                <a:cs typeface="Roboto Slab Regular"/>
                <a:sym typeface="Roboto Slab Regular"/>
              </a:rPr>
              <a:t> were abducted and brought to the South (as well as the Caribbean and Brazil) to harvest sugar, tobacco, and cotton.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lang="en-US" sz="2000">
                <a:solidFill>
                  <a:schemeClr val="dk1"/>
                </a:solidFill>
                <a:latin typeface="Roboto Slab Regular"/>
                <a:ea typeface="Roboto Slab Regular"/>
                <a:cs typeface="Roboto Slab Regular"/>
                <a:sym typeface="Roboto Slab Regular"/>
              </a:rPr>
              <a:t>After the abolition of slavery, Chinese, Indians, and other </a:t>
            </a:r>
            <a:r>
              <a:rPr b="1" lang="en-US" sz="2000">
                <a:solidFill>
                  <a:schemeClr val="dk1"/>
                </a:solidFill>
                <a:latin typeface="Roboto Slab"/>
                <a:ea typeface="Roboto Slab"/>
                <a:cs typeface="Roboto Slab"/>
                <a:sym typeface="Roboto Slab"/>
              </a:rPr>
              <a:t>Asians</a:t>
            </a:r>
            <a:r>
              <a:rPr lang="en-US" sz="2000">
                <a:solidFill>
                  <a:schemeClr val="dk1"/>
                </a:solidFill>
                <a:latin typeface="Roboto Slab Regular"/>
                <a:ea typeface="Roboto Slab Regular"/>
                <a:cs typeface="Roboto Slab Regular"/>
                <a:sym typeface="Roboto Slab Regular"/>
              </a:rPr>
              <a:t> became a new source of cheap labor in agriculture and mining.</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b="1" lang="en-US" sz="2000">
                <a:solidFill>
                  <a:schemeClr val="dk1"/>
                </a:solidFill>
                <a:latin typeface="Roboto Slab"/>
                <a:ea typeface="Roboto Slab"/>
                <a:cs typeface="Roboto Slab"/>
                <a:sym typeface="Roboto Slab"/>
              </a:rPr>
              <a:t>Europeans</a:t>
            </a:r>
            <a:r>
              <a:rPr lang="en-US" sz="2000">
                <a:solidFill>
                  <a:schemeClr val="dk1"/>
                </a:solidFill>
                <a:latin typeface="Roboto Slab Regular"/>
                <a:ea typeface="Roboto Slab Regular"/>
                <a:cs typeface="Roboto Slab Regular"/>
                <a:sym typeface="Roboto Slab Regular"/>
              </a:rPr>
              <a:t> migrated by the tens of millions to work in urban factories.</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rPr b="1" lang="en-US" sz="2000">
                <a:solidFill>
                  <a:schemeClr val="dk1"/>
                </a:solidFill>
                <a:latin typeface="Roboto Slab"/>
                <a:ea typeface="Roboto Slab"/>
                <a:cs typeface="Roboto Slab"/>
                <a:sym typeface="Roboto Slab"/>
              </a:rPr>
              <a:t>Mexicans</a:t>
            </a:r>
            <a:r>
              <a:rPr lang="en-US" sz="2000">
                <a:solidFill>
                  <a:schemeClr val="dk1"/>
                </a:solidFill>
                <a:latin typeface="Roboto Slab Regular"/>
                <a:ea typeface="Roboto Slab Regular"/>
                <a:cs typeface="Roboto Slab Regular"/>
                <a:sym typeface="Roboto Slab Regular"/>
              </a:rPr>
              <a:t> had their land stolen in 1848, but since 1924 became an easy source of cheap agricultural labor after Asian immigration curtailed.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1" i="1"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000">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nvSpPr>
        <p:spPr>
          <a:xfrm>
            <a:off x="401925" y="335598"/>
            <a:ext cx="8328000" cy="65223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Clr>
                <a:schemeClr val="dk1"/>
              </a:buClr>
              <a:buFont typeface="Arial"/>
              <a:buNone/>
            </a:pPr>
            <a:r>
              <a:t/>
            </a:r>
            <a:endParaRPr b="1" sz="6000" u="sng">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rPr b="1" lang="en-US" sz="6000">
                <a:solidFill>
                  <a:schemeClr val="dk1"/>
                </a:solidFill>
                <a:latin typeface="Cambria"/>
                <a:ea typeface="Cambria"/>
                <a:cs typeface="Cambria"/>
                <a:sym typeface="Cambria"/>
              </a:rPr>
              <a:t>Laws Supporting Racism</a:t>
            </a:r>
            <a:endParaRPr b="1" sz="60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i="1" sz="2000">
              <a:solidFill>
                <a:schemeClr val="dk1"/>
              </a:solidFill>
              <a:latin typeface="Cambria"/>
              <a:ea typeface="Cambria"/>
              <a:cs typeface="Cambria"/>
              <a:sym typeface="Cambria"/>
            </a:endParaRPr>
          </a:p>
          <a:p>
            <a:pPr indent="0" lvl="0" marL="0" rtl="0" algn="ctr">
              <a:spcBef>
                <a:spcPts val="0"/>
              </a:spcBef>
              <a:spcAft>
                <a:spcPts val="0"/>
              </a:spcAft>
              <a:buClr>
                <a:schemeClr val="dk1"/>
              </a:buClr>
              <a:buFont typeface="Arial"/>
              <a:buNone/>
            </a:pPr>
            <a:r>
              <a:t/>
            </a:r>
            <a:endParaRPr b="1" sz="2100">
              <a:solidFill>
                <a:schemeClr val="dk1"/>
              </a:solidFill>
              <a:latin typeface="Roboto Slab"/>
              <a:ea typeface="Roboto Slab"/>
              <a:cs typeface="Roboto Slab"/>
              <a:sym typeface="Roboto Slab"/>
            </a:endParaRPr>
          </a:p>
          <a:p>
            <a:pPr indent="0" lvl="0" marL="0" marR="0" rtl="0" algn="l">
              <a:spcBef>
                <a:spcPts val="0"/>
              </a:spcBef>
              <a:spcAft>
                <a:spcPts val="0"/>
              </a:spcAft>
              <a:buNone/>
            </a:pPr>
            <a:r>
              <a:t/>
            </a:r>
            <a:endParaRPr sz="21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nvSpPr>
        <p:spPr>
          <a:xfrm>
            <a:off x="401925" y="335598"/>
            <a:ext cx="8328000" cy="65223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Race and the Law</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Naturalization laws made clear that American citizenship would be tied to racial identity for the nation’s first 160 years. </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i="1" sz="2000">
              <a:solidFill>
                <a:schemeClr val="dk1"/>
              </a:solidFill>
              <a:latin typeface="Cambria"/>
              <a:ea typeface="Cambria"/>
              <a:cs typeface="Cambria"/>
              <a:sym typeface="Cambria"/>
            </a:endParaRPr>
          </a:p>
          <a:p>
            <a:pPr indent="0" lvl="0" marL="0" marR="0" rtl="0" algn="ctr">
              <a:spcBef>
                <a:spcPts val="0"/>
              </a:spcBef>
              <a:spcAft>
                <a:spcPts val="0"/>
              </a:spcAft>
              <a:buNone/>
            </a:pPr>
            <a:r>
              <a:rPr b="1" lang="en-US" sz="2100">
                <a:solidFill>
                  <a:schemeClr val="dk1"/>
                </a:solidFill>
                <a:latin typeface="Roboto Slab"/>
                <a:ea typeface="Roboto Slab"/>
                <a:cs typeface="Roboto Slab"/>
                <a:sym typeface="Roboto Slab"/>
              </a:rPr>
              <a:t>1790</a:t>
            </a:r>
            <a:r>
              <a:rPr b="1" lang="en-US" sz="2100">
                <a:solidFill>
                  <a:schemeClr val="dk1"/>
                </a:solidFill>
                <a:latin typeface="Roboto Slab"/>
                <a:ea typeface="Roboto Slab"/>
                <a:cs typeface="Roboto Slab"/>
                <a:sym typeface="Roboto Slab"/>
              </a:rPr>
              <a:t>:</a:t>
            </a:r>
            <a:r>
              <a:rPr lang="en-US" sz="2100">
                <a:solidFill>
                  <a:schemeClr val="dk1"/>
                </a:solidFill>
                <a:latin typeface="Roboto Slab Regular"/>
                <a:ea typeface="Roboto Slab Regular"/>
                <a:cs typeface="Roboto Slab Regular"/>
                <a:sym typeface="Roboto Slab Regular"/>
              </a:rPr>
              <a:t>  “That any alien, being a free white person, who shall have resided within the limits and under the jurisdiction of the United States for the term of two years, may be admitted to become a citizen thereof.</a:t>
            </a:r>
            <a:endParaRPr sz="21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1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b="1" lang="en-US" sz="2100">
                <a:solidFill>
                  <a:schemeClr val="dk1"/>
                </a:solidFill>
                <a:latin typeface="Roboto Slab"/>
                <a:ea typeface="Roboto Slab"/>
                <a:cs typeface="Roboto Slab"/>
                <a:sym typeface="Roboto Slab"/>
              </a:rPr>
              <a:t>1870:</a:t>
            </a:r>
            <a:r>
              <a:rPr lang="en-US" sz="2100">
                <a:solidFill>
                  <a:schemeClr val="dk1"/>
                </a:solidFill>
                <a:latin typeface="Roboto Slab Regular"/>
                <a:ea typeface="Roboto Slab Regular"/>
                <a:cs typeface="Roboto Slab Regular"/>
                <a:sym typeface="Roboto Slab Regular"/>
              </a:rPr>
              <a:t>  “And be it further enacted, That the naturalization laws are hereby extended to aliens of African nativity and to persons of African descent.”</a:t>
            </a:r>
            <a:endParaRPr sz="21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1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b="1" lang="en-US" sz="2100">
                <a:solidFill>
                  <a:schemeClr val="dk1"/>
                </a:solidFill>
                <a:latin typeface="Roboto Slab"/>
                <a:ea typeface="Roboto Slab"/>
                <a:cs typeface="Roboto Slab"/>
                <a:sym typeface="Roboto Slab"/>
              </a:rPr>
              <a:t>1952:</a:t>
            </a:r>
            <a:r>
              <a:rPr lang="en-US" sz="2100">
                <a:solidFill>
                  <a:schemeClr val="dk1"/>
                </a:solidFill>
                <a:latin typeface="Roboto Slab Regular"/>
                <a:ea typeface="Roboto Slab Regular"/>
                <a:cs typeface="Roboto Slab Regular"/>
                <a:sym typeface="Roboto Slab Regular"/>
              </a:rPr>
              <a:t>  “</a:t>
            </a:r>
            <a:r>
              <a:rPr lang="en-US" sz="2100">
                <a:solidFill>
                  <a:schemeClr val="dk1"/>
                </a:solidFill>
                <a:latin typeface="Roboto Slab Regular"/>
                <a:ea typeface="Roboto Slab Regular"/>
                <a:cs typeface="Roboto Slab Regular"/>
                <a:sym typeface="Roboto Slab Regular"/>
              </a:rPr>
              <a:t>The right of a person to become a naturalized citizen of the United States shall not be denied or abridged because of</a:t>
            </a:r>
            <a:endParaRPr sz="21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100">
                <a:solidFill>
                  <a:schemeClr val="dk1"/>
                </a:solidFill>
                <a:latin typeface="Roboto Slab Regular"/>
                <a:ea typeface="Roboto Slab Regular"/>
                <a:cs typeface="Roboto Slab Regular"/>
                <a:sym typeface="Roboto Slab Regular"/>
              </a:rPr>
              <a:t>race or sex or because such person is married.”</a:t>
            </a:r>
            <a:endParaRPr sz="21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nvSpPr>
        <p:spPr>
          <a:xfrm>
            <a:off x="401925" y="183201"/>
            <a:ext cx="8328000" cy="6428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Compromise preserved civility for whites,</a:t>
            </a:r>
            <a:endParaRPr sz="3600">
              <a:solidFill>
                <a:schemeClr val="dk1"/>
              </a:solidFill>
              <a:latin typeface="Impact"/>
              <a:ea typeface="Impact"/>
              <a:cs typeface="Impact"/>
              <a:sym typeface="Impact"/>
            </a:endParaRPr>
          </a:p>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but delayed justice for blacks</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l">
              <a:spcBef>
                <a:spcPts val="0"/>
              </a:spcBef>
              <a:spcAft>
                <a:spcPts val="0"/>
              </a:spcAft>
              <a:buNone/>
            </a:pPr>
            <a:r>
              <a:t/>
            </a:r>
            <a:endParaRPr sz="12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The Missouri Compromise of 1820</a:t>
            </a:r>
            <a:r>
              <a:rPr lang="en-US" sz="2000">
                <a:solidFill>
                  <a:schemeClr val="dk1"/>
                </a:solidFill>
                <a:latin typeface="Roboto Slab Regular"/>
                <a:ea typeface="Roboto Slab Regular"/>
                <a:cs typeface="Roboto Slab Regular"/>
                <a:sym typeface="Roboto Slab Regular"/>
              </a:rPr>
              <a:t>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One slave state for every free state joining the Union in order to preserve balance of power in U.S. Senate</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i="1" sz="600">
              <a:solidFill>
                <a:srgbClr val="0000FF"/>
              </a:solidFill>
              <a:latin typeface="Cambria"/>
              <a:ea typeface="Cambria"/>
              <a:cs typeface="Cambria"/>
              <a:sym typeface="Cambria"/>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The Compromise of 1850  </a:t>
            </a:r>
            <a:endParaRPr b="1" sz="2000">
              <a:solidFill>
                <a:schemeClr val="dk1"/>
              </a:solidFill>
              <a:latin typeface="Roboto Slab"/>
              <a:ea typeface="Roboto Slab"/>
              <a:cs typeface="Roboto Slab"/>
              <a:sym typeface="Roboto Slab"/>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Adding states to the union on the condition their people get to choose whether to allow slavery or not</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i="1" sz="600">
              <a:solidFill>
                <a:srgbClr val="0000FF"/>
              </a:solidFill>
              <a:latin typeface="Cambria"/>
              <a:ea typeface="Cambria"/>
              <a:cs typeface="Cambria"/>
              <a:sym typeface="Cambria"/>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The Fugitive Slave Act of 1850  </a:t>
            </a:r>
            <a:endParaRPr b="1" sz="2000">
              <a:solidFill>
                <a:schemeClr val="dk1"/>
              </a:solidFill>
              <a:latin typeface="Roboto Slab"/>
              <a:ea typeface="Roboto Slab"/>
              <a:cs typeface="Roboto Slab"/>
              <a:sym typeface="Roboto Slab"/>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Requires all judges to assist with capture and return of escaped slaves, by taking white men at their word</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i="1" sz="600">
              <a:solidFill>
                <a:srgbClr val="0000FF"/>
              </a:solidFill>
              <a:latin typeface="Cambria"/>
              <a:ea typeface="Cambria"/>
              <a:cs typeface="Cambria"/>
              <a:sym typeface="Cambria"/>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The Kansas-Nebraska Act of 1854  </a:t>
            </a:r>
            <a:endParaRPr b="1" sz="2000">
              <a:solidFill>
                <a:schemeClr val="dk1"/>
              </a:solidFill>
              <a:latin typeface="Roboto Slab"/>
              <a:ea typeface="Roboto Slab"/>
              <a:cs typeface="Roboto Slab"/>
              <a:sym typeface="Roboto Slab"/>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Created territories of Kansas and Nebraska and allowed them to vote on whether to allow slavery or not</a:t>
            </a:r>
            <a:endParaRPr i="1" sz="2000">
              <a:solidFill>
                <a:srgbClr val="0000FF"/>
              </a:solidFill>
              <a:latin typeface="Cambria"/>
              <a:ea typeface="Cambria"/>
              <a:cs typeface="Cambria"/>
              <a:sym typeface="Cambria"/>
            </a:endParaRPr>
          </a:p>
          <a:p>
            <a:pPr indent="0" lvl="0" marL="0" marR="0" rtl="0" algn="l">
              <a:spcBef>
                <a:spcPts val="0"/>
              </a:spcBef>
              <a:spcAft>
                <a:spcPts val="0"/>
              </a:spcAft>
              <a:buNone/>
            </a:pPr>
            <a:r>
              <a:t/>
            </a:r>
            <a:endParaRPr i="1" sz="600">
              <a:solidFill>
                <a:srgbClr val="0000FF"/>
              </a:solidFill>
              <a:latin typeface="Cambria"/>
              <a:ea typeface="Cambria"/>
              <a:cs typeface="Cambria"/>
              <a:sym typeface="Cambria"/>
            </a:endParaRPr>
          </a:p>
          <a:p>
            <a:pPr indent="0" lvl="0" marL="0" marR="0" rtl="0" algn="l">
              <a:spcBef>
                <a:spcPts val="0"/>
              </a:spcBef>
              <a:spcAft>
                <a:spcPts val="0"/>
              </a:spcAft>
              <a:buNone/>
            </a:pPr>
            <a:r>
              <a:rPr b="1" lang="en-US" sz="2000">
                <a:solidFill>
                  <a:schemeClr val="dk1"/>
                </a:solidFill>
                <a:latin typeface="Roboto Slab"/>
                <a:ea typeface="Roboto Slab"/>
                <a:cs typeface="Roboto Slab"/>
                <a:sym typeface="Roboto Slab"/>
              </a:rPr>
              <a:t>The Dred Scott Supreme Court decision of 1857  </a:t>
            </a:r>
            <a:endParaRPr b="1" sz="2000">
              <a:solidFill>
                <a:schemeClr val="dk1"/>
              </a:solidFill>
              <a:latin typeface="Roboto Slab"/>
              <a:ea typeface="Roboto Slab"/>
              <a:cs typeface="Roboto Slab"/>
              <a:sym typeface="Roboto Slab"/>
            </a:endParaRPr>
          </a:p>
          <a:p>
            <a:pPr indent="0" lvl="0" marL="0" marR="0" rtl="0" algn="l">
              <a:spcBef>
                <a:spcPts val="0"/>
              </a:spcBef>
              <a:spcAft>
                <a:spcPts val="0"/>
              </a:spcAft>
              <a:buNone/>
            </a:pPr>
            <a:r>
              <a:rPr i="1" lang="en-US" sz="2000">
                <a:solidFill>
                  <a:srgbClr val="0000FF"/>
                </a:solidFill>
                <a:latin typeface="Cambria"/>
                <a:ea typeface="Cambria"/>
                <a:cs typeface="Cambria"/>
                <a:sym typeface="Cambria"/>
              </a:rPr>
              <a:t>Declared that slaves were property not U.S. citizens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sp>
        <p:nvSpPr>
          <p:cNvPr id="255" name="Google Shape;255;p34"/>
          <p:cNvSpPr txBox="1"/>
          <p:nvPr/>
        </p:nvSpPr>
        <p:spPr>
          <a:xfrm>
            <a:off x="401925" y="335598"/>
            <a:ext cx="8328000" cy="58230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Appeasing the South in the 20th Century</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Until the 1980s, the Democratic Party was the party of the south, and thus the party was inherently conflicted by its more progressive northern wing and its racist southern wing.</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1" lang="en-US" sz="2000">
                <a:solidFill>
                  <a:srgbClr val="0000FF"/>
                </a:solidFill>
                <a:latin typeface="Cambria"/>
                <a:ea typeface="Cambria"/>
                <a:cs typeface="Cambria"/>
                <a:sym typeface="Cambria"/>
              </a:rPr>
              <a:t>In the 1930s, Southern Democrats demanded that blacks be excluded from Social Security by barring people in agriculture and domestic service.</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rPr i="1" lang="en-US" sz="2000">
                <a:solidFill>
                  <a:srgbClr val="0000FF"/>
                </a:solidFill>
                <a:latin typeface="Cambria"/>
                <a:ea typeface="Cambria"/>
                <a:cs typeface="Cambria"/>
                <a:sym typeface="Cambria"/>
              </a:rPr>
              <a:t>Jim Eastland, chair of Senate Judiciary Committee from 1957-1978,  opposed all civil rights legislation on the racist rationale that segregation promotes racial harmony because everybody knows their place in society..</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rPr i="1" lang="en-US" sz="2000">
                <a:solidFill>
                  <a:srgbClr val="0000FF"/>
                </a:solidFill>
                <a:latin typeface="Cambria"/>
                <a:ea typeface="Cambria"/>
                <a:cs typeface="Cambria"/>
                <a:sym typeface="Cambria"/>
              </a:rPr>
              <a:t>Lyndon Johnson had to remove voting rights from the 1964 Civil Rights Act before Congress would vote on it. Luckily, he brought back voting rights to the table after he won the election fo 1964.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0" name="Shape 260"/>
        <p:cNvGrpSpPr/>
        <p:nvPr/>
      </p:nvGrpSpPr>
      <p:grpSpPr>
        <a:xfrm>
          <a:off x="0" y="0"/>
          <a:ext cx="0" cy="0"/>
          <a:chOff x="0" y="0"/>
          <a:chExt cx="0" cy="0"/>
        </a:xfrm>
      </p:grpSpPr>
      <p:sp>
        <p:nvSpPr>
          <p:cNvPr id="261" name="Google Shape;261;p35"/>
          <p:cNvSpPr txBox="1"/>
          <p:nvPr/>
        </p:nvSpPr>
        <p:spPr>
          <a:xfrm>
            <a:off x="401925" y="335600"/>
            <a:ext cx="8328000" cy="6256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t/>
            </a:r>
            <a:endParaRPr sz="3600">
              <a:solidFill>
                <a:schemeClr val="dk1"/>
              </a:solidFill>
              <a:latin typeface="Impact"/>
              <a:ea typeface="Impact"/>
              <a:cs typeface="Impact"/>
              <a:sym typeface="Impact"/>
            </a:endParaRPr>
          </a:p>
          <a:p>
            <a:pPr indent="0" lvl="0" marL="0" marR="0" rtl="0" algn="ctr">
              <a:lnSpc>
                <a:spcPct val="110000"/>
              </a:lnSpc>
              <a:spcBef>
                <a:spcPts val="0"/>
              </a:spcBef>
              <a:spcAft>
                <a:spcPts val="0"/>
              </a:spcAft>
              <a:buNone/>
            </a:pPr>
            <a:r>
              <a:t/>
            </a:r>
            <a:endParaRPr sz="3600">
              <a:solidFill>
                <a:schemeClr val="dk1"/>
              </a:solidFill>
              <a:latin typeface="Impact"/>
              <a:ea typeface="Impact"/>
              <a:cs typeface="Impact"/>
              <a:sym typeface="Impact"/>
            </a:endParaRPr>
          </a:p>
          <a:p>
            <a:pPr indent="0" lvl="0" marL="0" marR="0" rtl="0" algn="ctr">
              <a:lnSpc>
                <a:spcPct val="110000"/>
              </a:lnSpc>
              <a:spcBef>
                <a:spcPts val="0"/>
              </a:spcBef>
              <a:spcAft>
                <a:spcPts val="0"/>
              </a:spcAft>
              <a:buNone/>
            </a:pPr>
            <a:r>
              <a:t/>
            </a:r>
            <a:endParaRPr sz="3600">
              <a:solidFill>
                <a:schemeClr val="dk1"/>
              </a:solidFill>
              <a:latin typeface="Impact"/>
              <a:ea typeface="Impact"/>
              <a:cs typeface="Impact"/>
              <a:sym typeface="Impact"/>
            </a:endParaRPr>
          </a:p>
          <a:p>
            <a:pPr indent="0" lvl="0" marL="0" marR="0" rtl="0" algn="ctr">
              <a:lnSpc>
                <a:spcPct val="110000"/>
              </a:lnSpc>
              <a:spcBef>
                <a:spcPts val="0"/>
              </a:spcBef>
              <a:spcAft>
                <a:spcPts val="0"/>
              </a:spcAft>
              <a:buNone/>
            </a:pPr>
            <a:r>
              <a:rPr lang="en-US" sz="6000">
                <a:solidFill>
                  <a:schemeClr val="dk1"/>
                </a:solidFill>
                <a:latin typeface="Impact"/>
                <a:ea typeface="Impact"/>
                <a:cs typeface="Impact"/>
                <a:sym typeface="Impact"/>
              </a:rPr>
              <a:t>The Asian American Success Story</a:t>
            </a:r>
            <a:endParaRPr b="0" i="0" sz="60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rtl="0" algn="ctr">
              <a:lnSpc>
                <a:spcPct val="100000"/>
              </a:lnSpc>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lnSpc>
                <a:spcPct val="150000"/>
              </a:lnSpc>
              <a:spcBef>
                <a:spcPts val="0"/>
              </a:spcBef>
              <a:spcAft>
                <a:spcPts val="0"/>
              </a:spcAft>
              <a:buNone/>
            </a:pPr>
            <a:r>
              <a:t/>
            </a:r>
            <a:endParaRPr i="1" sz="2000">
              <a:solidFill>
                <a:srgbClr val="0000FF"/>
              </a:solidFill>
              <a:latin typeface="Cambria"/>
              <a:ea typeface="Cambria"/>
              <a:cs typeface="Cambria"/>
              <a:sym typeface="Cambria"/>
            </a:endParaRPr>
          </a:p>
          <a:p>
            <a:pPr indent="0" lvl="0" marL="0" rtl="0" algn="ctr">
              <a:lnSpc>
                <a:spcPct val="150000"/>
              </a:lnSpc>
              <a:spcBef>
                <a:spcPts val="0"/>
              </a:spcBef>
              <a:spcAft>
                <a:spcPts val="0"/>
              </a:spcAft>
              <a:buNone/>
            </a:pPr>
            <a:r>
              <a:t/>
            </a:r>
            <a:endParaRPr i="1" sz="2000">
              <a:solidFill>
                <a:srgbClr val="4A86E8"/>
              </a:solidFill>
              <a:latin typeface="Cambria"/>
              <a:ea typeface="Cambria"/>
              <a:cs typeface="Cambria"/>
              <a:sym typeface="Cambria"/>
            </a:endParaRPr>
          </a:p>
          <a:p>
            <a:pPr indent="0" lvl="0" marL="0" rtl="0" algn="ctr">
              <a:spcBef>
                <a:spcPts val="0"/>
              </a:spcBef>
              <a:spcAft>
                <a:spcPts val="0"/>
              </a:spcAft>
              <a:buNone/>
            </a:pPr>
            <a:r>
              <a:t/>
            </a:r>
            <a:endParaRPr i="1" sz="2000">
              <a:solidFill>
                <a:srgbClr val="4A86E8"/>
              </a:solidFill>
              <a:latin typeface="Cambria"/>
              <a:ea typeface="Cambria"/>
              <a:cs typeface="Cambria"/>
              <a:sym typeface="Cambria"/>
            </a:endParaRPr>
          </a:p>
          <a:p>
            <a:pPr indent="0" lvl="0" marL="0" rtl="0" algn="ctr">
              <a:spcBef>
                <a:spcPts val="0"/>
              </a:spcBef>
              <a:spcAft>
                <a:spcPts val="0"/>
              </a:spcAft>
              <a:buNone/>
            </a:pPr>
            <a:r>
              <a:t/>
            </a:r>
            <a:endParaRPr sz="2000">
              <a:solidFill>
                <a:srgbClr val="4A86E8"/>
              </a:solidFill>
              <a:latin typeface="Roboto Slab Regular"/>
              <a:ea typeface="Roboto Slab Regular"/>
              <a:cs typeface="Roboto Slab Regular"/>
              <a:sym typeface="Roboto Slab Regular"/>
            </a:endParaRPr>
          </a:p>
          <a:p>
            <a:pPr indent="0" lvl="0" marL="0" rtl="0" algn="ctr">
              <a:spcBef>
                <a:spcPts val="0"/>
              </a:spcBef>
              <a:spcAft>
                <a:spcPts val="0"/>
              </a:spcAft>
              <a:buNone/>
            </a:pPr>
            <a:r>
              <a:t/>
            </a:r>
            <a:endParaRPr sz="2000">
              <a:solidFill>
                <a:srgbClr val="4A86E8"/>
              </a:solidFill>
              <a:latin typeface="Roboto Slab Regular"/>
              <a:ea typeface="Roboto Slab Regular"/>
              <a:cs typeface="Roboto Slab Regular"/>
              <a:sym typeface="Roboto Slab Regular"/>
            </a:endParaRPr>
          </a:p>
          <a:p>
            <a:pPr indent="0" lvl="0" marL="0" rtl="0" algn="ctr">
              <a:spcBef>
                <a:spcPts val="0"/>
              </a:spcBef>
              <a:spcAft>
                <a:spcPts val="0"/>
              </a:spcAft>
              <a:buNone/>
            </a:pPr>
            <a:br>
              <a:rPr lang="en-US" sz="2000">
                <a:solidFill>
                  <a:srgbClr val="4A86E8"/>
                </a:solidFill>
                <a:latin typeface="Roboto Slab Regular"/>
                <a:ea typeface="Roboto Slab Regular"/>
                <a:cs typeface="Roboto Slab Regular"/>
                <a:sym typeface="Roboto Slab Regular"/>
              </a:rPr>
            </a:br>
            <a:endParaRPr>
              <a:solidFill>
                <a:srgbClr val="4A86E8"/>
              </a:solidFill>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p36"/>
          <p:cNvSpPr txBox="1"/>
          <p:nvPr/>
        </p:nvSpPr>
        <p:spPr>
          <a:xfrm>
            <a:off x="401925" y="335600"/>
            <a:ext cx="8328000" cy="6256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The Asian American Success Story</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b="1" lang="en-US" sz="2000">
                <a:solidFill>
                  <a:schemeClr val="dk1"/>
                </a:solidFill>
                <a:latin typeface="Roboto Slab"/>
                <a:ea typeface="Roboto Slab"/>
                <a:cs typeface="Roboto Slab"/>
                <a:sym typeface="Roboto Slab"/>
              </a:rPr>
              <a:t>What this means for social justice:</a:t>
            </a:r>
            <a:endParaRPr b="1" sz="2000">
              <a:solidFill>
                <a:schemeClr val="dk1"/>
              </a:solidFill>
              <a:latin typeface="Roboto Slab"/>
              <a:ea typeface="Roboto Slab"/>
              <a:cs typeface="Roboto Slab"/>
              <a:sym typeface="Roboto Slab"/>
            </a:endParaRPr>
          </a:p>
          <a:p>
            <a:pPr indent="0" lvl="0" marL="0" rtl="0" algn="ctr">
              <a:spcBef>
                <a:spcPts val="0"/>
              </a:spcBef>
              <a:spcAft>
                <a:spcPts val="0"/>
              </a:spcAft>
              <a:buNone/>
            </a:pPr>
            <a:r>
              <a:t/>
            </a:r>
            <a:endParaRPr sz="1200">
              <a:solidFill>
                <a:schemeClr val="dk1"/>
              </a:solidFill>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The myth of Asian success provides a powerful pretext for dismantling reforms of the 20th century..</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The myth of Asian success means Asians are not getting the counseling they need because people assume they’re doing fine.</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Anti-Asian discrimination emerges when Asians are “too successful” and taking away opportunities from “real Americans.”</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If the success myth is more or a matter of passing on intergenerational wealth and privileges, what are we going to do help people at the bottom who don’t have these in abundance?</a:t>
            </a:r>
            <a:endParaRPr sz="2000">
              <a:solidFill>
                <a:schemeClr val="dk1"/>
              </a:solidFill>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lnSpc>
                <a:spcPct val="150000"/>
              </a:lnSpc>
              <a:spcBef>
                <a:spcPts val="0"/>
              </a:spcBef>
              <a:spcAft>
                <a:spcPts val="0"/>
              </a:spcAft>
              <a:buNone/>
            </a:pPr>
            <a:r>
              <a:t/>
            </a:r>
            <a:endParaRPr i="1" sz="2000">
              <a:solidFill>
                <a:srgbClr val="0000FF"/>
              </a:solidFill>
              <a:latin typeface="Cambria"/>
              <a:ea typeface="Cambria"/>
              <a:cs typeface="Cambria"/>
              <a:sym typeface="Cambria"/>
            </a:endParaRPr>
          </a:p>
          <a:p>
            <a:pPr indent="0" lvl="0" marL="0" rtl="0" algn="ctr">
              <a:lnSpc>
                <a:spcPct val="150000"/>
              </a:lnSpc>
              <a:spcBef>
                <a:spcPts val="0"/>
              </a:spcBef>
              <a:spcAft>
                <a:spcPts val="0"/>
              </a:spcAft>
              <a:buNone/>
            </a:pPr>
            <a:r>
              <a:t/>
            </a:r>
            <a:endParaRPr i="1" sz="2000">
              <a:solidFill>
                <a:srgbClr val="4A86E8"/>
              </a:solidFill>
              <a:latin typeface="Cambria"/>
              <a:ea typeface="Cambria"/>
              <a:cs typeface="Cambria"/>
              <a:sym typeface="Cambria"/>
            </a:endParaRPr>
          </a:p>
          <a:p>
            <a:pPr indent="0" lvl="0" marL="0" rtl="0" algn="ctr">
              <a:spcBef>
                <a:spcPts val="0"/>
              </a:spcBef>
              <a:spcAft>
                <a:spcPts val="0"/>
              </a:spcAft>
              <a:buNone/>
            </a:pPr>
            <a:r>
              <a:t/>
            </a:r>
            <a:endParaRPr i="1" sz="2000">
              <a:solidFill>
                <a:srgbClr val="4A86E8"/>
              </a:solidFill>
              <a:latin typeface="Cambria"/>
              <a:ea typeface="Cambria"/>
              <a:cs typeface="Cambria"/>
              <a:sym typeface="Cambria"/>
            </a:endParaRPr>
          </a:p>
          <a:p>
            <a:pPr indent="0" lvl="0" marL="0" rtl="0" algn="ctr">
              <a:spcBef>
                <a:spcPts val="0"/>
              </a:spcBef>
              <a:spcAft>
                <a:spcPts val="0"/>
              </a:spcAft>
              <a:buNone/>
            </a:pPr>
            <a:r>
              <a:t/>
            </a:r>
            <a:endParaRPr sz="2000">
              <a:solidFill>
                <a:srgbClr val="4A86E8"/>
              </a:solidFill>
              <a:latin typeface="Roboto Slab Regular"/>
              <a:ea typeface="Roboto Slab Regular"/>
              <a:cs typeface="Roboto Slab Regular"/>
              <a:sym typeface="Roboto Slab Regular"/>
            </a:endParaRPr>
          </a:p>
          <a:p>
            <a:pPr indent="0" lvl="0" marL="0" rtl="0" algn="ctr">
              <a:spcBef>
                <a:spcPts val="0"/>
              </a:spcBef>
              <a:spcAft>
                <a:spcPts val="0"/>
              </a:spcAft>
              <a:buNone/>
            </a:pPr>
            <a:r>
              <a:t/>
            </a:r>
            <a:endParaRPr sz="2000">
              <a:solidFill>
                <a:srgbClr val="4A86E8"/>
              </a:solidFill>
              <a:latin typeface="Roboto Slab Regular"/>
              <a:ea typeface="Roboto Slab Regular"/>
              <a:cs typeface="Roboto Slab Regular"/>
              <a:sym typeface="Roboto Slab Regular"/>
            </a:endParaRPr>
          </a:p>
          <a:p>
            <a:pPr indent="0" lvl="0" marL="0" rtl="0" algn="ctr">
              <a:spcBef>
                <a:spcPts val="0"/>
              </a:spcBef>
              <a:spcAft>
                <a:spcPts val="0"/>
              </a:spcAft>
              <a:buNone/>
            </a:pPr>
            <a:br>
              <a:rPr lang="en-US" sz="2000">
                <a:solidFill>
                  <a:srgbClr val="4A86E8"/>
                </a:solidFill>
                <a:latin typeface="Roboto Slab Regular"/>
                <a:ea typeface="Roboto Slab Regular"/>
                <a:cs typeface="Roboto Slab Regular"/>
                <a:sym typeface="Roboto Slab Regular"/>
              </a:rPr>
            </a:br>
            <a:endParaRPr>
              <a:solidFill>
                <a:srgbClr val="4A86E8"/>
              </a:solidFill>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p37"/>
          <p:cNvSpPr txBox="1"/>
          <p:nvPr/>
        </p:nvSpPr>
        <p:spPr>
          <a:xfrm>
            <a:off x="401925" y="335600"/>
            <a:ext cx="8328000" cy="6256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SKIP</a:t>
            </a:r>
            <a:r>
              <a:rPr lang="en-US" sz="3600">
                <a:solidFill>
                  <a:schemeClr val="dk1"/>
                </a:solidFill>
                <a:latin typeface="Impact"/>
                <a:ea typeface="Impact"/>
                <a:cs typeface="Impact"/>
                <a:sym typeface="Impact"/>
              </a:rPr>
              <a:t>The Asian American Success Story</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Are Asian Americans really a model minority whose overperformance anyone can be emulated, or are there other circumstances beyond one’s control?</a:t>
            </a:r>
            <a:endParaRPr b="0" i="1" sz="2000" u="none" cap="none" strike="noStrike">
              <a:solidFill>
                <a:schemeClr val="dk1"/>
              </a:solidFill>
              <a:latin typeface="Cambria"/>
              <a:ea typeface="Cambria"/>
              <a:cs typeface="Cambria"/>
              <a:sym typeface="Cambria"/>
            </a:endParaRPr>
          </a:p>
          <a:p>
            <a:pPr indent="-330200" lvl="0" marL="457200" marR="0" rtl="0" algn="ctr">
              <a:spcBef>
                <a:spcPts val="0"/>
              </a:spcBef>
              <a:spcAft>
                <a:spcPts val="0"/>
              </a:spcAft>
              <a:buClr>
                <a:schemeClr val="dk1"/>
              </a:buClr>
              <a:buSzPts val="2000"/>
              <a:buFont typeface="Sorts Mill Goudy"/>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b="1" lang="en-US" sz="2000">
                <a:solidFill>
                  <a:schemeClr val="dk1"/>
                </a:solidFill>
                <a:latin typeface="Roboto Slab"/>
                <a:ea typeface="Roboto Slab"/>
                <a:cs typeface="Roboto Slab"/>
                <a:sym typeface="Roboto Slab"/>
              </a:rPr>
              <a:t>The systemic explanation:</a:t>
            </a:r>
            <a:endParaRPr b="1" sz="2000">
              <a:solidFill>
                <a:schemeClr val="dk1"/>
              </a:solidFill>
              <a:latin typeface="Roboto Slab"/>
              <a:ea typeface="Roboto Slab"/>
              <a:cs typeface="Roboto Slab"/>
              <a:sym typeface="Roboto Slab"/>
            </a:endParaRPr>
          </a:p>
          <a:p>
            <a:pPr indent="0" lvl="0" marL="0" rtl="0" algn="ctr">
              <a:spcBef>
                <a:spcPts val="0"/>
              </a:spcBef>
              <a:spcAft>
                <a:spcPts val="0"/>
              </a:spcAft>
              <a:buNone/>
            </a:pPr>
            <a:r>
              <a:t/>
            </a:r>
            <a:endParaRPr sz="1200">
              <a:solidFill>
                <a:schemeClr val="dk1"/>
              </a:solidFill>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Most Asian Americans are immigrants or only a generation or two removed, and since 1965, these immigrants are middle to upper class because of our laws that favor that type.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12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Thus Asians are more likely to be successful because most did not start at the bottom when they got here.</a:t>
            </a:r>
            <a:endParaRPr sz="2000">
              <a:latin typeface="Roboto Slab Regular"/>
              <a:ea typeface="Roboto Slab Regular"/>
              <a:cs typeface="Roboto Slab Regular"/>
              <a:sym typeface="Roboto Slab Regular"/>
            </a:endParaRPr>
          </a:p>
          <a:p>
            <a:pPr indent="0" lvl="0" marL="0" rtl="0" algn="l">
              <a:lnSpc>
                <a:spcPct val="100000"/>
              </a:lnSpc>
              <a:spcBef>
                <a:spcPts val="0"/>
              </a:spcBef>
              <a:spcAft>
                <a:spcPts val="0"/>
              </a:spcAft>
              <a:buNone/>
            </a:pPr>
            <a:r>
              <a:t/>
            </a:r>
            <a:endParaRPr sz="12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Asians have more workers per family and tend to live in metro areas, which explains higher family income.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12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Asian includes 25 nationalities that don’t share a common language or religion or cuisine, so it’s hard to pin down what Asian culture is.</a:t>
            </a:r>
            <a:endParaRPr sz="2000">
              <a:latin typeface="Roboto Slab Regular"/>
              <a:ea typeface="Roboto Slab Regular"/>
              <a:cs typeface="Roboto Slab Regular"/>
              <a:sym typeface="Roboto Slab Regular"/>
            </a:endParaRPr>
          </a:p>
          <a:p>
            <a:pPr indent="0" lvl="0" marL="0" rtl="0" algn="ctr">
              <a:lnSpc>
                <a:spcPct val="150000"/>
              </a:lnSpc>
              <a:spcBef>
                <a:spcPts val="0"/>
              </a:spcBef>
              <a:spcAft>
                <a:spcPts val="0"/>
              </a:spcAft>
              <a:buNone/>
            </a:pPr>
            <a:r>
              <a:t/>
            </a:r>
            <a:endParaRPr i="1" sz="2000">
              <a:solidFill>
                <a:srgbClr val="0000FF"/>
              </a:solidFill>
              <a:latin typeface="Cambria"/>
              <a:ea typeface="Cambria"/>
              <a:cs typeface="Cambria"/>
              <a:sym typeface="Cambria"/>
            </a:endParaRPr>
          </a:p>
          <a:p>
            <a:pPr indent="0" lvl="0" marL="0" rtl="0" algn="ctr">
              <a:lnSpc>
                <a:spcPct val="150000"/>
              </a:lnSpc>
              <a:spcBef>
                <a:spcPts val="0"/>
              </a:spcBef>
              <a:spcAft>
                <a:spcPts val="0"/>
              </a:spcAft>
              <a:buNone/>
            </a:pPr>
            <a:r>
              <a:t/>
            </a:r>
            <a:endParaRPr i="1" sz="2000">
              <a:solidFill>
                <a:srgbClr val="4A86E8"/>
              </a:solidFill>
              <a:latin typeface="Cambria"/>
              <a:ea typeface="Cambria"/>
              <a:cs typeface="Cambria"/>
              <a:sym typeface="Cambria"/>
            </a:endParaRPr>
          </a:p>
          <a:p>
            <a:pPr indent="0" lvl="0" marL="0" rtl="0" algn="ctr">
              <a:spcBef>
                <a:spcPts val="0"/>
              </a:spcBef>
              <a:spcAft>
                <a:spcPts val="0"/>
              </a:spcAft>
              <a:buNone/>
            </a:pPr>
            <a:r>
              <a:t/>
            </a:r>
            <a:endParaRPr i="1" sz="2000">
              <a:solidFill>
                <a:srgbClr val="4A86E8"/>
              </a:solidFill>
              <a:latin typeface="Cambria"/>
              <a:ea typeface="Cambria"/>
              <a:cs typeface="Cambria"/>
              <a:sym typeface="Cambria"/>
            </a:endParaRPr>
          </a:p>
          <a:p>
            <a:pPr indent="0" lvl="0" marL="0" rtl="0" algn="ctr">
              <a:spcBef>
                <a:spcPts val="0"/>
              </a:spcBef>
              <a:spcAft>
                <a:spcPts val="0"/>
              </a:spcAft>
              <a:buNone/>
            </a:pPr>
            <a:r>
              <a:t/>
            </a:r>
            <a:endParaRPr sz="2000">
              <a:solidFill>
                <a:srgbClr val="4A86E8"/>
              </a:solidFill>
              <a:latin typeface="Roboto Slab Regular"/>
              <a:ea typeface="Roboto Slab Regular"/>
              <a:cs typeface="Roboto Slab Regular"/>
              <a:sym typeface="Roboto Slab Regular"/>
            </a:endParaRPr>
          </a:p>
          <a:p>
            <a:pPr indent="0" lvl="0" marL="0" rtl="0" algn="ctr">
              <a:spcBef>
                <a:spcPts val="0"/>
              </a:spcBef>
              <a:spcAft>
                <a:spcPts val="0"/>
              </a:spcAft>
              <a:buNone/>
            </a:pPr>
            <a:r>
              <a:t/>
            </a:r>
            <a:endParaRPr sz="2000">
              <a:solidFill>
                <a:srgbClr val="4A86E8"/>
              </a:solidFill>
              <a:latin typeface="Roboto Slab Regular"/>
              <a:ea typeface="Roboto Slab Regular"/>
              <a:cs typeface="Roboto Slab Regular"/>
              <a:sym typeface="Roboto Slab Regular"/>
            </a:endParaRPr>
          </a:p>
          <a:p>
            <a:pPr indent="0" lvl="0" marL="0" rtl="0" algn="ctr">
              <a:spcBef>
                <a:spcPts val="0"/>
              </a:spcBef>
              <a:spcAft>
                <a:spcPts val="0"/>
              </a:spcAft>
              <a:buNone/>
            </a:pPr>
            <a:br>
              <a:rPr lang="en-US" sz="2000">
                <a:solidFill>
                  <a:srgbClr val="4A86E8"/>
                </a:solidFill>
                <a:latin typeface="Roboto Slab Regular"/>
                <a:ea typeface="Roboto Slab Regular"/>
                <a:cs typeface="Roboto Slab Regular"/>
                <a:sym typeface="Roboto Slab Regular"/>
              </a:rPr>
            </a:br>
            <a:endParaRPr>
              <a:solidFill>
                <a:srgbClr val="4A86E8"/>
              </a:solidFill>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8" name="Shape 278"/>
        <p:cNvGrpSpPr/>
        <p:nvPr/>
      </p:nvGrpSpPr>
      <p:grpSpPr>
        <a:xfrm>
          <a:off x="0" y="0"/>
          <a:ext cx="0" cy="0"/>
          <a:chOff x="0" y="0"/>
          <a:chExt cx="0" cy="0"/>
        </a:xfrm>
      </p:grpSpPr>
      <p:sp>
        <p:nvSpPr>
          <p:cNvPr id="279" name="Google Shape;279;p38"/>
          <p:cNvSpPr txBox="1"/>
          <p:nvPr/>
        </p:nvSpPr>
        <p:spPr>
          <a:xfrm>
            <a:off x="282400" y="350575"/>
            <a:ext cx="8608500" cy="613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Sorts Mill Goudy"/>
                <a:ea typeface="Sorts Mill Goudy"/>
                <a:cs typeface="Sorts Mill Goudy"/>
                <a:sym typeface="Sorts Mill Goudy"/>
              </a:rPr>
              <a:t> </a:t>
            </a:r>
            <a:r>
              <a:rPr lang="en-US" sz="3000">
                <a:solidFill>
                  <a:schemeClr val="dk1"/>
                </a:solidFill>
                <a:latin typeface="Impact"/>
                <a:ea typeface="Impact"/>
                <a:cs typeface="Impact"/>
                <a:sym typeface="Impact"/>
              </a:rPr>
              <a:t>Class Discussion: What is being done to help alleviate racism? What is being done to perpetuate racism</a:t>
            </a:r>
            <a:endParaRPr>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nvSpPr>
        <p:spPr>
          <a:xfrm>
            <a:off x="867354" y="512416"/>
            <a:ext cx="7419000" cy="5632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1" sz="6000" u="sng">
              <a:solidFill>
                <a:schemeClr val="dk1"/>
              </a:solidFill>
              <a:latin typeface="Roboto Slab"/>
              <a:ea typeface="Roboto Slab"/>
              <a:cs typeface="Roboto Slab"/>
              <a:sym typeface="Roboto Slab"/>
            </a:endParaRPr>
          </a:p>
          <a:p>
            <a:pPr indent="0" lvl="0" marL="0" marR="0" rtl="0" algn="ctr">
              <a:spcBef>
                <a:spcPts val="0"/>
              </a:spcBef>
              <a:spcAft>
                <a:spcPts val="0"/>
              </a:spcAft>
              <a:buNone/>
            </a:pPr>
            <a:r>
              <a:rPr b="1" lang="en-US" sz="6000" u="sng">
                <a:solidFill>
                  <a:schemeClr val="dk1"/>
                </a:solidFill>
                <a:latin typeface="Roboto Slab"/>
                <a:ea typeface="Roboto Slab"/>
                <a:cs typeface="Roboto Slab"/>
                <a:sym typeface="Roboto Slab"/>
              </a:rPr>
              <a:t>Economic Inequality</a:t>
            </a:r>
            <a:endParaRPr b="1" sz="6000">
              <a:latin typeface="Roboto Slab"/>
              <a:ea typeface="Roboto Slab"/>
              <a:cs typeface="Roboto Slab"/>
              <a:sym typeface="Roboto Slab"/>
            </a:endParaRPr>
          </a:p>
          <a:p>
            <a:pPr indent="0" lvl="0" marL="0" marR="0" rtl="0" algn="l">
              <a:spcBef>
                <a:spcPts val="0"/>
              </a:spcBef>
              <a:spcAft>
                <a:spcPts val="0"/>
              </a:spcAft>
              <a:buNone/>
            </a:pPr>
            <a:r>
              <a:t/>
            </a:r>
            <a:endParaRPr sz="6000">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latin typeface="Roboto Slab Regular"/>
              <a:ea typeface="Roboto Slab Regular"/>
              <a:cs typeface="Roboto Slab Regular"/>
              <a:sym typeface="Roboto Slab Regul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0" name="Shape 290"/>
        <p:cNvGrpSpPr/>
        <p:nvPr/>
      </p:nvGrpSpPr>
      <p:grpSpPr>
        <a:xfrm>
          <a:off x="0" y="0"/>
          <a:ext cx="0" cy="0"/>
          <a:chOff x="0" y="0"/>
          <a:chExt cx="0" cy="0"/>
        </a:xfrm>
      </p:grpSpPr>
      <p:sp>
        <p:nvSpPr>
          <p:cNvPr id="291" name="Google Shape;291;p40"/>
          <p:cNvSpPr txBox="1"/>
          <p:nvPr/>
        </p:nvSpPr>
        <p:spPr>
          <a:xfrm>
            <a:off x="401925" y="335598"/>
            <a:ext cx="8328000" cy="5771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Why are blacks still so poor?</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rPr b="1" lang="en-US" sz="2000">
                <a:solidFill>
                  <a:schemeClr val="dk1"/>
                </a:solidFill>
                <a:latin typeface="Roboto Slab"/>
                <a:ea typeface="Roboto Slab"/>
                <a:cs typeface="Roboto Slab"/>
                <a:sym typeface="Roboto Slab"/>
              </a:rPr>
              <a:t>The Structural Explanation</a:t>
            </a:r>
            <a:endParaRPr b="1" sz="2000">
              <a:solidFill>
                <a:schemeClr val="dk1"/>
              </a:solidFill>
              <a:latin typeface="Roboto Slab"/>
              <a:ea typeface="Roboto Slab"/>
              <a:cs typeface="Roboto Slab"/>
              <a:sym typeface="Roboto Slab"/>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Blacks were enslaved for over 250 years, which means subjection to family separation, labor exploitation, and physical violence.</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Blacks were not universally granted the right to vote until the 1965 Voting Rights Act, which meant white politicians did not have to worry about their needs or fear election day reprisals.</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Even reforms of the 20th century were watered down by Southern politicians who were opposed to blacks receiving benefits from the New Deal or the Great Society.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Labor unions helped expedite the passage of many people into the middle class, but routinely excluded Blacks and Asians. </a:t>
            </a:r>
            <a:endParaRPr sz="2000">
              <a:solidFill>
                <a:schemeClr val="dk1"/>
              </a:solidFill>
              <a:latin typeface="Roboto Slab Regular"/>
              <a:ea typeface="Roboto Slab Regular"/>
              <a:cs typeface="Roboto Slab Regular"/>
              <a:sym typeface="Roboto Slab Regular"/>
            </a:endParaRPr>
          </a:p>
          <a:p>
            <a:pPr indent="0" lvl="0" marL="0" marR="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18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rgbClr val="0000FF"/>
              </a:solidFill>
              <a:latin typeface="Cambria"/>
              <a:ea typeface="Cambria"/>
              <a:cs typeface="Cambria"/>
              <a:sym typeface="Cambria"/>
            </a:endParaRPr>
          </a:p>
          <a:p>
            <a:pPr indent="0" lvl="0" marL="45720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457200" marR="0" rtl="0" algn="ctr">
              <a:spcBef>
                <a:spcPts val="0"/>
              </a:spcBef>
              <a:spcAft>
                <a:spcPts val="0"/>
              </a:spcAft>
              <a:buNone/>
            </a:pPr>
            <a:r>
              <a:t/>
            </a:r>
            <a:endParaRPr i="1" sz="2000">
              <a:solidFill>
                <a:srgbClr val="0000FF"/>
              </a:solidFill>
              <a:latin typeface="Cambria"/>
              <a:ea typeface="Cambria"/>
              <a:cs typeface="Cambria"/>
              <a:sym typeface="Cambria"/>
            </a:endParaRPr>
          </a:p>
          <a:p>
            <a:pPr indent="0" lvl="0" marL="457200" marR="0" rtl="0" algn="ctr">
              <a:spcBef>
                <a:spcPts val="0"/>
              </a:spcBef>
              <a:spcAft>
                <a:spcPts val="0"/>
              </a:spcAft>
              <a:buNone/>
            </a:pPr>
            <a:r>
              <a:t/>
            </a:r>
            <a:endParaRPr i="1" sz="2000">
              <a:solidFill>
                <a:srgbClr val="0000FF"/>
              </a:solidFill>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1"/>
          <p:cNvSpPr txBox="1"/>
          <p:nvPr/>
        </p:nvSpPr>
        <p:spPr>
          <a:xfrm>
            <a:off x="401925" y="335600"/>
            <a:ext cx="8328000" cy="61611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000">
                <a:solidFill>
                  <a:schemeClr val="dk1"/>
                </a:solidFill>
                <a:latin typeface="Impact"/>
                <a:ea typeface="Impact"/>
                <a:cs typeface="Impact"/>
                <a:sym typeface="Impact"/>
              </a:rPr>
              <a:t>Economic inequality tends to fall along racial lines. </a:t>
            </a:r>
            <a:endParaRPr sz="3000">
              <a:solidFill>
                <a:schemeClr val="dk1"/>
              </a:solidFill>
              <a:latin typeface="Impact"/>
              <a:ea typeface="Impact"/>
              <a:cs typeface="Impact"/>
              <a:sym typeface="Impact"/>
            </a:endParaRPr>
          </a:p>
          <a:p>
            <a:pPr indent="0" lvl="0" marL="0" marR="0" rtl="0" algn="ctr">
              <a:lnSpc>
                <a:spcPct val="110000"/>
              </a:lnSpc>
              <a:spcBef>
                <a:spcPts val="0"/>
              </a:spcBef>
              <a:spcAft>
                <a:spcPts val="0"/>
              </a:spcAft>
              <a:buNone/>
            </a:pPr>
            <a:r>
              <a:rPr lang="en-US" sz="3000">
                <a:solidFill>
                  <a:schemeClr val="dk1"/>
                </a:solidFill>
                <a:latin typeface="Impact"/>
                <a:ea typeface="Impact"/>
                <a:cs typeface="Impact"/>
                <a:sym typeface="Impact"/>
              </a:rPr>
              <a:t>This chart shows U.S. poverty rates.</a:t>
            </a:r>
            <a:endParaRPr i="0" sz="30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100">
              <a:solidFill>
                <a:schemeClr val="dk1"/>
              </a:solidFill>
              <a:latin typeface="Roboto Slab Regular"/>
              <a:ea typeface="Roboto Slab Regular"/>
              <a:cs typeface="Roboto Slab Regular"/>
              <a:sym typeface="Roboto Slab Regular"/>
            </a:endParaRPr>
          </a:p>
        </p:txBody>
      </p:sp>
      <p:pic>
        <p:nvPicPr>
          <p:cNvPr id="298" name="Google Shape;298;p41"/>
          <p:cNvPicPr preferRelativeResize="0"/>
          <p:nvPr/>
        </p:nvPicPr>
        <p:blipFill>
          <a:blip r:embed="rId3">
            <a:alphaModFix/>
          </a:blip>
          <a:stretch>
            <a:fillRect/>
          </a:stretch>
        </p:blipFill>
        <p:spPr>
          <a:xfrm>
            <a:off x="533863" y="1605676"/>
            <a:ext cx="8076275" cy="4891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nvSpPr>
        <p:spPr>
          <a:xfrm>
            <a:off x="401925" y="335600"/>
            <a:ext cx="8328000" cy="61611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1" lang="en-US" sz="3000">
                <a:solidFill>
                  <a:schemeClr val="dk1"/>
                </a:solidFill>
                <a:latin typeface="Impact"/>
                <a:ea typeface="Impact"/>
                <a:cs typeface="Impact"/>
                <a:sym typeface="Impact"/>
              </a:rPr>
              <a:t>Income + Assets = Wealth. </a:t>
            </a:r>
            <a:endParaRPr b="1" sz="3000">
              <a:solidFill>
                <a:schemeClr val="dk1"/>
              </a:solidFill>
              <a:latin typeface="Impact"/>
              <a:ea typeface="Impact"/>
              <a:cs typeface="Impact"/>
              <a:sym typeface="Impact"/>
            </a:endParaRPr>
          </a:p>
          <a:p>
            <a:pPr indent="0" lvl="0" marL="0" marR="0" rtl="0" algn="ctr">
              <a:lnSpc>
                <a:spcPct val="110000"/>
              </a:lnSpc>
              <a:spcBef>
                <a:spcPts val="0"/>
              </a:spcBef>
              <a:spcAft>
                <a:spcPts val="0"/>
              </a:spcAft>
              <a:buNone/>
            </a:pPr>
            <a:r>
              <a:rPr b="1" lang="en-US" sz="3000">
                <a:solidFill>
                  <a:schemeClr val="dk1"/>
                </a:solidFill>
                <a:latin typeface="Impact"/>
                <a:ea typeface="Impact"/>
                <a:cs typeface="Impact"/>
                <a:sym typeface="Impact"/>
              </a:rPr>
              <a:t>An enormous racial wealth gap exists in America.</a:t>
            </a:r>
            <a:endParaRPr b="1" sz="30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100">
              <a:solidFill>
                <a:schemeClr val="dk1"/>
              </a:solidFill>
              <a:latin typeface="Roboto Slab Regular"/>
              <a:ea typeface="Roboto Slab Regular"/>
              <a:cs typeface="Roboto Slab Regular"/>
              <a:sym typeface="Roboto Slab Regular"/>
            </a:endParaRPr>
          </a:p>
        </p:txBody>
      </p:sp>
      <p:pic>
        <p:nvPicPr>
          <p:cNvPr id="305" name="Google Shape;305;p42"/>
          <p:cNvPicPr preferRelativeResize="0"/>
          <p:nvPr/>
        </p:nvPicPr>
        <p:blipFill>
          <a:blip r:embed="rId3">
            <a:alphaModFix/>
          </a:blip>
          <a:stretch>
            <a:fillRect/>
          </a:stretch>
        </p:blipFill>
        <p:spPr>
          <a:xfrm>
            <a:off x="735375" y="1588410"/>
            <a:ext cx="7666050" cy="4744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3"/>
          <p:cNvSpPr txBox="1"/>
          <p:nvPr/>
        </p:nvSpPr>
        <p:spPr>
          <a:xfrm>
            <a:off x="401925" y="335600"/>
            <a:ext cx="8328000" cy="61611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2800">
                <a:solidFill>
                  <a:schemeClr val="dk1"/>
                </a:solidFill>
                <a:latin typeface="Impact"/>
                <a:ea typeface="Impact"/>
                <a:cs typeface="Impact"/>
                <a:sym typeface="Impact"/>
              </a:rPr>
              <a:t>We know it falls along racial lines because even uneducated whites have an edge over educated blacks. </a:t>
            </a:r>
            <a:endParaRPr i="0" sz="28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100">
              <a:solidFill>
                <a:schemeClr val="dk1"/>
              </a:solidFill>
              <a:latin typeface="Roboto Slab Regular"/>
              <a:ea typeface="Roboto Slab Regular"/>
              <a:cs typeface="Roboto Slab Regular"/>
              <a:sym typeface="Roboto Slab Regular"/>
            </a:endParaRPr>
          </a:p>
        </p:txBody>
      </p:sp>
      <p:pic>
        <p:nvPicPr>
          <p:cNvPr id="312" name="Google Shape;312;p43"/>
          <p:cNvPicPr preferRelativeResize="0"/>
          <p:nvPr/>
        </p:nvPicPr>
        <p:blipFill>
          <a:blip r:embed="rId3">
            <a:alphaModFix/>
          </a:blip>
          <a:stretch>
            <a:fillRect/>
          </a:stretch>
        </p:blipFill>
        <p:spPr>
          <a:xfrm>
            <a:off x="1040900" y="1828025"/>
            <a:ext cx="7050025" cy="4668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4"/>
          <p:cNvSpPr txBox="1"/>
          <p:nvPr/>
        </p:nvSpPr>
        <p:spPr>
          <a:xfrm>
            <a:off x="401925" y="335600"/>
            <a:ext cx="8328000" cy="61611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000">
                <a:solidFill>
                  <a:schemeClr val="dk1"/>
                </a:solidFill>
                <a:latin typeface="Impact"/>
                <a:ea typeface="Impact"/>
                <a:cs typeface="Impact"/>
                <a:sym typeface="Impact"/>
              </a:rPr>
              <a:t>On average, Asian Americans have the highest family income, but still lag behind whites on wealth.</a:t>
            </a:r>
            <a:endParaRPr i="0" sz="30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100">
              <a:solidFill>
                <a:schemeClr val="dk1"/>
              </a:solidFill>
              <a:latin typeface="Roboto Slab Regular"/>
              <a:ea typeface="Roboto Slab Regular"/>
              <a:cs typeface="Roboto Slab Regular"/>
              <a:sym typeface="Roboto Slab Regular"/>
            </a:endParaRPr>
          </a:p>
        </p:txBody>
      </p:sp>
      <p:pic>
        <p:nvPicPr>
          <p:cNvPr id="319" name="Google Shape;319;p44"/>
          <p:cNvPicPr preferRelativeResize="0"/>
          <p:nvPr/>
        </p:nvPicPr>
        <p:blipFill>
          <a:blip r:embed="rId3">
            <a:alphaModFix/>
          </a:blip>
          <a:stretch>
            <a:fillRect/>
          </a:stretch>
        </p:blipFill>
        <p:spPr>
          <a:xfrm>
            <a:off x="1179400" y="1734575"/>
            <a:ext cx="6799750" cy="4762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5"/>
          <p:cNvSpPr txBox="1"/>
          <p:nvPr/>
        </p:nvSpPr>
        <p:spPr>
          <a:xfrm>
            <a:off x="397050" y="270700"/>
            <a:ext cx="8464200" cy="6343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Clr>
                <a:schemeClr val="dk1"/>
              </a:buClr>
              <a:buFont typeface="Arial"/>
              <a:buNone/>
            </a:pPr>
            <a:r>
              <a:rPr b="1" lang="en-US" sz="3600">
                <a:solidFill>
                  <a:schemeClr val="dk1"/>
                </a:solidFill>
                <a:latin typeface="Impact"/>
                <a:ea typeface="Impact"/>
                <a:cs typeface="Impact"/>
                <a:sym typeface="Impact"/>
              </a:rPr>
              <a:t>Why does racial inequality still exist?</a:t>
            </a:r>
            <a:endParaRPr b="1" sz="3600">
              <a:solidFill>
                <a:schemeClr val="dk1"/>
              </a:solidFill>
              <a:latin typeface="Impact"/>
              <a:ea typeface="Impact"/>
              <a:cs typeface="Impact"/>
              <a:sym typeface="Impact"/>
            </a:endParaRPr>
          </a:p>
          <a:p>
            <a:pPr indent="0" lvl="0" marL="0" rtl="0" algn="l">
              <a:lnSpc>
                <a:spcPct val="110000"/>
              </a:lnSpc>
              <a:spcBef>
                <a:spcPts val="0"/>
              </a:spcBef>
              <a:spcAft>
                <a:spcPts val="0"/>
              </a:spcAft>
              <a:buClr>
                <a:schemeClr val="dk1"/>
              </a:buClr>
              <a:buFont typeface="Arial"/>
              <a:buNone/>
            </a:pPr>
            <a:r>
              <a:rPr b="1" lang="en-US" sz="1800">
                <a:solidFill>
                  <a:schemeClr val="dk1"/>
                </a:solidFill>
              </a:rPr>
              <a:t>Desire to be around those who are like you</a:t>
            </a:r>
            <a:endParaRPr b="1" sz="1800">
              <a:solidFill>
                <a:schemeClr val="dk1"/>
              </a:solidFill>
            </a:endParaRPr>
          </a:p>
          <a:p>
            <a:pPr indent="0" lvl="0" marL="0" rtl="0" algn="l">
              <a:lnSpc>
                <a:spcPct val="110000"/>
              </a:lnSpc>
              <a:spcBef>
                <a:spcPts val="0"/>
              </a:spcBef>
              <a:spcAft>
                <a:spcPts val="0"/>
              </a:spcAft>
              <a:buClr>
                <a:schemeClr val="dk1"/>
              </a:buClr>
              <a:buFont typeface="Arial"/>
              <a:buNone/>
            </a:pPr>
            <a:r>
              <a:rPr b="1" lang="en-US" sz="1800">
                <a:solidFill>
                  <a:schemeClr val="dk1"/>
                </a:solidFill>
              </a:rPr>
              <a:t>Preserve wealth and power that has been consolidated</a:t>
            </a:r>
            <a:endParaRPr b="1" sz="18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6"/>
          <p:cNvSpPr txBox="1"/>
          <p:nvPr/>
        </p:nvSpPr>
        <p:spPr>
          <a:xfrm>
            <a:off x="397050" y="270700"/>
            <a:ext cx="8464200" cy="6343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Clr>
                <a:schemeClr val="dk1"/>
              </a:buClr>
              <a:buFont typeface="Arial"/>
              <a:buNone/>
            </a:pPr>
            <a:r>
              <a:t/>
            </a:r>
            <a:endParaRPr b="1" sz="3600">
              <a:solidFill>
                <a:schemeClr val="dk1"/>
              </a:solidFill>
              <a:latin typeface="Impact"/>
              <a:ea typeface="Impact"/>
              <a:cs typeface="Impact"/>
              <a:sym typeface="Impact"/>
            </a:endParaRPr>
          </a:p>
          <a:p>
            <a:pPr indent="0" lvl="0" marL="0" rtl="0" algn="ctr">
              <a:lnSpc>
                <a:spcPct val="110000"/>
              </a:lnSpc>
              <a:spcBef>
                <a:spcPts val="0"/>
              </a:spcBef>
              <a:spcAft>
                <a:spcPts val="0"/>
              </a:spcAft>
              <a:buClr>
                <a:schemeClr val="dk1"/>
              </a:buClr>
              <a:buFont typeface="Arial"/>
              <a:buNone/>
            </a:pPr>
            <a:r>
              <a:t/>
            </a:r>
            <a:endParaRPr b="1" sz="3600">
              <a:solidFill>
                <a:schemeClr val="dk1"/>
              </a:solidFill>
              <a:latin typeface="Impact"/>
              <a:ea typeface="Impact"/>
              <a:cs typeface="Impact"/>
              <a:sym typeface="Impact"/>
            </a:endParaRPr>
          </a:p>
          <a:p>
            <a:pPr indent="0" lvl="0" marL="0" rtl="0" algn="ctr">
              <a:lnSpc>
                <a:spcPct val="110000"/>
              </a:lnSpc>
              <a:spcBef>
                <a:spcPts val="0"/>
              </a:spcBef>
              <a:spcAft>
                <a:spcPts val="0"/>
              </a:spcAft>
              <a:buClr>
                <a:schemeClr val="dk1"/>
              </a:buClr>
              <a:buFont typeface="Arial"/>
              <a:buNone/>
            </a:pPr>
            <a:r>
              <a:t/>
            </a:r>
            <a:endParaRPr b="1" sz="6000">
              <a:solidFill>
                <a:schemeClr val="dk1"/>
              </a:solidFill>
              <a:latin typeface="Impact"/>
              <a:ea typeface="Impact"/>
              <a:cs typeface="Impact"/>
              <a:sym typeface="Impact"/>
            </a:endParaRPr>
          </a:p>
          <a:p>
            <a:pPr indent="0" lvl="0" marL="0" rtl="0" algn="ctr">
              <a:lnSpc>
                <a:spcPct val="110000"/>
              </a:lnSpc>
              <a:spcBef>
                <a:spcPts val="0"/>
              </a:spcBef>
              <a:spcAft>
                <a:spcPts val="0"/>
              </a:spcAft>
              <a:buClr>
                <a:schemeClr val="dk1"/>
              </a:buClr>
              <a:buFont typeface="Arial"/>
              <a:buNone/>
            </a:pPr>
            <a:r>
              <a:rPr b="1" lang="en-US" sz="6000">
                <a:solidFill>
                  <a:schemeClr val="dk1"/>
                </a:solidFill>
                <a:latin typeface="Impact"/>
                <a:ea typeface="Impact"/>
                <a:cs typeface="Impact"/>
                <a:sym typeface="Impact"/>
              </a:rPr>
              <a:t>Segregated Housing</a:t>
            </a:r>
            <a:endParaRPr b="1" sz="6000">
              <a:solidFill>
                <a:schemeClr val="dk1"/>
              </a:solidFill>
              <a:latin typeface="Impact"/>
              <a:ea typeface="Impact"/>
              <a:cs typeface="Impact"/>
              <a:sym typeface="Impact"/>
            </a:endParaRPr>
          </a:p>
          <a:p>
            <a:pPr indent="0" lvl="0" marL="0" rtl="0" algn="l">
              <a:lnSpc>
                <a:spcPct val="110000"/>
              </a:lnSpc>
              <a:spcBef>
                <a:spcPts val="0"/>
              </a:spcBef>
              <a:spcAft>
                <a:spcPts val="0"/>
              </a:spcAft>
              <a:buClr>
                <a:schemeClr val="dk1"/>
              </a:buClr>
              <a:buFont typeface="Arial"/>
              <a:buNone/>
            </a:pPr>
            <a:r>
              <a:t/>
            </a:r>
            <a:endParaRPr b="1" sz="18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7"/>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b="0" i="0" lang="en-US" sz="3600" u="none" cap="none" strike="noStrike">
                <a:solidFill>
                  <a:schemeClr val="dk1"/>
                </a:solidFill>
                <a:latin typeface="Impact"/>
                <a:ea typeface="Impact"/>
                <a:cs typeface="Impact"/>
                <a:sym typeface="Impact"/>
              </a:rPr>
              <a:t>The Segregated Housing Market</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rPr b="0" i="1" lang="en-US" sz="2000" u="none" cap="none" strike="noStrike">
                <a:solidFill>
                  <a:schemeClr val="dk1"/>
                </a:solidFill>
                <a:latin typeface="Cambria"/>
                <a:ea typeface="Cambria"/>
                <a:cs typeface="Cambria"/>
                <a:sym typeface="Cambria"/>
              </a:rPr>
              <a:t>In exploring inequality, we must look at both the individual and the systemic reasons for why this inequality exists. </a:t>
            </a:r>
            <a:endParaRPr b="0" i="1" sz="2000" u="none" cap="none" strike="noStrike">
              <a:solidFill>
                <a:schemeClr val="dk1"/>
              </a:solidFill>
              <a:latin typeface="Cambria"/>
              <a:ea typeface="Cambria"/>
              <a:cs typeface="Cambria"/>
              <a:sym typeface="Cambria"/>
            </a:endParaRPr>
          </a:p>
          <a:p>
            <a:pPr indent="-330200" lvl="0" marL="457200" marR="0" rtl="0" algn="ctr">
              <a:spcBef>
                <a:spcPts val="0"/>
              </a:spcBef>
              <a:spcAft>
                <a:spcPts val="0"/>
              </a:spcAft>
              <a:buClr>
                <a:schemeClr val="dk1"/>
              </a:buClr>
              <a:buSzPts val="2000"/>
              <a:buFont typeface="Sorts Mill Goudy"/>
              <a:buNone/>
            </a:pPr>
            <a:r>
              <a:t/>
            </a:r>
            <a:endParaRPr b="0" i="0" sz="2000" u="none" cap="none" strike="noStrike">
              <a:solidFill>
                <a:schemeClr val="dk1"/>
              </a:solidFill>
              <a:latin typeface="Roboto Slab Regular"/>
              <a:ea typeface="Roboto Slab Regular"/>
              <a:cs typeface="Roboto Slab Regular"/>
              <a:sym typeface="Roboto Slab Regular"/>
            </a:endParaRPr>
          </a:p>
          <a:p>
            <a:pPr indent="-457200" lvl="0" marL="457200" marR="0" rtl="0" algn="ctr">
              <a:spcBef>
                <a:spcPts val="0"/>
              </a:spcBef>
              <a:spcAft>
                <a:spcPts val="0"/>
              </a:spcAft>
              <a:buClr>
                <a:schemeClr val="dk1"/>
              </a:buClr>
              <a:buSzPts val="2000"/>
              <a:buFont typeface="Roboto Slab Regular"/>
              <a:buAutoNum type="arabicPeriod"/>
            </a:pPr>
            <a:r>
              <a:rPr i="0" lang="en-US" sz="2000" u="none" cap="none" strike="noStrike">
                <a:solidFill>
                  <a:schemeClr val="dk1"/>
                </a:solidFill>
                <a:latin typeface="Roboto Slab Regular"/>
                <a:ea typeface="Roboto Slab Regular"/>
                <a:cs typeface="Roboto Slab Regular"/>
                <a:sym typeface="Roboto Slab Regular"/>
              </a:rPr>
              <a:t>Racially restrictive covenants that required homebuyer to promise to never rent or sell to minority groups. </a:t>
            </a:r>
            <a:endParaRPr>
              <a:latin typeface="Roboto Slab Regular"/>
              <a:ea typeface="Roboto Slab Regular"/>
              <a:cs typeface="Roboto Slab Regular"/>
              <a:sym typeface="Roboto Slab Regular"/>
            </a:endParaRPr>
          </a:p>
          <a:p>
            <a:pPr indent="0" lvl="0" marL="0" marR="0" rtl="0" algn="ctr">
              <a:spcBef>
                <a:spcPts val="0"/>
              </a:spcBef>
              <a:spcAft>
                <a:spcPts val="0"/>
              </a:spcAft>
              <a:buNone/>
            </a:pPr>
            <a:br>
              <a:rPr i="0" lang="en-US" sz="2000" u="none" cap="none" strike="noStrike">
                <a:solidFill>
                  <a:schemeClr val="dk1"/>
                </a:solidFill>
                <a:latin typeface="Roboto Slab Regular"/>
                <a:ea typeface="Roboto Slab Regular"/>
                <a:cs typeface="Roboto Slab Regular"/>
                <a:sym typeface="Roboto Slab Regular"/>
              </a:rPr>
            </a:br>
            <a:r>
              <a:rPr i="0" lang="en-US" sz="2000" u="none" cap="none" strike="noStrike">
                <a:solidFill>
                  <a:schemeClr val="dk1"/>
                </a:solidFill>
                <a:latin typeface="Roboto Slab Regular"/>
                <a:ea typeface="Roboto Slab Regular"/>
                <a:cs typeface="Roboto Slab Regular"/>
                <a:sym typeface="Roboto Slab Regular"/>
              </a:rPr>
              <a:t>2.  Federal government programs that favored investment in white neighborhoods</a:t>
            </a:r>
            <a:r>
              <a:rPr lang="en-US" sz="2000">
                <a:solidFill>
                  <a:schemeClr val="dk1"/>
                </a:solidFill>
                <a:latin typeface="Roboto Slab Regular"/>
                <a:ea typeface="Roboto Slab Regular"/>
                <a:cs typeface="Roboto Slab Regular"/>
                <a:sym typeface="Roboto Slab Regular"/>
              </a:rPr>
              <a:t> while redlining black neighborhoods.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0" lang="en-US" sz="2000" u="none" cap="none" strike="noStrike">
                <a:solidFill>
                  <a:schemeClr val="dk1"/>
                </a:solidFill>
                <a:latin typeface="Roboto Slab Regular"/>
                <a:ea typeface="Roboto Slab Regular"/>
                <a:cs typeface="Roboto Slab Regular"/>
                <a:sym typeface="Roboto Slab Regular"/>
              </a:rPr>
              <a:t>3.  </a:t>
            </a:r>
            <a:r>
              <a:rPr lang="en-US" sz="2000">
                <a:solidFill>
                  <a:schemeClr val="dk1"/>
                </a:solidFill>
                <a:latin typeface="Roboto Slab Regular"/>
                <a:ea typeface="Roboto Slab Regular"/>
                <a:cs typeface="Roboto Slab Regular"/>
                <a:sym typeface="Roboto Slab Regular"/>
              </a:rPr>
              <a:t>Federal programs and real estate agents punished individuals for bucking the system in order to integrate neighborhoods.</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lang="en-US" sz="2000">
                <a:solidFill>
                  <a:schemeClr val="dk1"/>
                </a:solidFill>
                <a:latin typeface="Roboto Slab Regular"/>
                <a:ea typeface="Roboto Slab Regular"/>
                <a:cs typeface="Roboto Slab Regular"/>
                <a:sym typeface="Roboto Slab Regular"/>
              </a:rPr>
              <a:t>4. Subprime mortgages often preyed on people of color. </a:t>
            </a:r>
            <a:endParaRPr sz="2000">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8"/>
          <p:cNvSpPr txBox="1"/>
          <p:nvPr/>
        </p:nvSpPr>
        <p:spPr>
          <a:xfrm>
            <a:off x="401936" y="335593"/>
            <a:ext cx="8328000" cy="7903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Racially Restrictive Housing Covenants</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lang="en-US" sz="2400">
                <a:solidFill>
                  <a:schemeClr val="dk1"/>
                </a:solidFill>
                <a:latin typeface="Roboto Slab"/>
                <a:ea typeface="Roboto Slab"/>
                <a:cs typeface="Roboto Slab"/>
                <a:sym typeface="Roboto Slab"/>
              </a:rPr>
              <a:t>……………………………………………….</a:t>
            </a:r>
            <a:endParaRPr b="1">
              <a:latin typeface="Roboto Slab"/>
              <a:ea typeface="Roboto Slab"/>
              <a:cs typeface="Roboto Slab"/>
              <a:sym typeface="Roboto Slab"/>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rPr lang="en-US" sz="2000">
                <a:solidFill>
                  <a:schemeClr val="dk1"/>
                </a:solidFill>
                <a:latin typeface="Cambria"/>
                <a:ea typeface="Cambria"/>
                <a:cs typeface="Cambria"/>
                <a:sym typeface="Cambria"/>
              </a:rPr>
              <a:t>The creation of all-white neighborhoods through covenants stipulating who can own or rent the property.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a:t>
            </a:r>
            <a:r>
              <a:rPr i="1" lang="en-US" sz="2000">
                <a:solidFill>
                  <a:srgbClr val="0000FF"/>
                </a:solidFill>
                <a:latin typeface="Cambria"/>
                <a:ea typeface="Cambria"/>
                <a:cs typeface="Cambria"/>
                <a:sym typeface="Cambria"/>
              </a:rPr>
              <a:t>That the premises herein shall not, nor shall any part thereof, nor any estate or interest therein or any improvements thereto, at any time, be sold, conveyed, leased or transferred to or permitted to be occupied or used by Asiatics, Negroes, or any person born in the Turkish Empire nor any lineal descent of such person, except that persons of said races may be employed as household servants.”</a:t>
            </a:r>
            <a:endParaRPr i="1" sz="2000">
              <a:solidFill>
                <a:srgbClr val="0000FF"/>
              </a:solidFill>
              <a:latin typeface="Cambria"/>
              <a:ea typeface="Cambria"/>
              <a:cs typeface="Cambria"/>
              <a:sym typeface="Cambria"/>
            </a:endParaRPr>
          </a:p>
          <a:p>
            <a:pPr indent="0" lvl="0" marL="0" marR="0" rtl="0" algn="ctr">
              <a:spcBef>
                <a:spcPts val="0"/>
              </a:spcBef>
              <a:spcAft>
                <a:spcPts val="0"/>
              </a:spcAft>
              <a:buNone/>
            </a:pPr>
            <a:r>
              <a:t/>
            </a:r>
            <a:endParaRPr i="1" sz="2000" u="none" cap="none" strike="noStrike">
              <a:solidFill>
                <a:srgbClr val="0000FF"/>
              </a:solidFill>
              <a:latin typeface="Cambria"/>
              <a:ea typeface="Cambria"/>
              <a:cs typeface="Cambria"/>
              <a:sym typeface="Cambria"/>
            </a:endParaRPr>
          </a:p>
          <a:p>
            <a:pPr indent="0" lvl="0" marL="0" marR="0" rtl="0" algn="ctr">
              <a:spcBef>
                <a:spcPts val="0"/>
              </a:spcBef>
              <a:spcAft>
                <a:spcPts val="0"/>
              </a:spcAft>
              <a:buNone/>
            </a:pPr>
            <a:r>
              <a:rPr i="1" lang="en-US" sz="2000">
                <a:solidFill>
                  <a:srgbClr val="0000FF"/>
                </a:solidFill>
                <a:latin typeface="Cambria"/>
                <a:ea typeface="Cambria"/>
                <a:cs typeface="Cambria"/>
                <a:sym typeface="Cambria"/>
              </a:rPr>
              <a:t>“That no transfer, lease, possession, use or occupancy of said lot shall ever be made or given to any one other than a person of the Caucasian or white race, except that persons of such excluded races may be employed as household servants.”</a:t>
            </a:r>
            <a:endParaRPr i="1" sz="2000" u="none" cap="none" strike="noStrike">
              <a:solidFill>
                <a:srgbClr val="0000FF"/>
              </a:solidFill>
              <a:latin typeface="Cambria"/>
              <a:ea typeface="Cambria"/>
              <a:cs typeface="Cambria"/>
              <a:sym typeface="Cambria"/>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Cutive"/>
              <a:ea typeface="Cutive"/>
              <a:cs typeface="Cutive"/>
              <a:sym typeface="Cutive"/>
            </a:endParaRPr>
          </a:p>
          <a:p>
            <a:pPr indent="0" lvl="0" marL="0" marR="0" rtl="0" algn="ctr">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9"/>
          <p:cNvSpPr txBox="1"/>
          <p:nvPr/>
        </p:nvSpPr>
        <p:spPr>
          <a:xfrm>
            <a:off x="331100" y="350575"/>
            <a:ext cx="8628000" cy="63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latin typeface="Sorts Mill Goudy"/>
                <a:ea typeface="Sorts Mill Goudy"/>
                <a:cs typeface="Sorts Mill Goudy"/>
                <a:sym typeface="Sorts Mill Goudy"/>
              </a:rPr>
              <a:t>Maps of Racially Divided Areas</a:t>
            </a:r>
            <a:endParaRPr sz="2400">
              <a:latin typeface="Sorts Mill Goudy"/>
              <a:ea typeface="Sorts Mill Goudy"/>
              <a:cs typeface="Sorts Mill Goudy"/>
              <a:sym typeface="Sorts Mill Goudy"/>
            </a:endParaRPr>
          </a:p>
          <a:p>
            <a:pPr indent="0" lvl="0" marL="0" rtl="0" algn="l">
              <a:spcBef>
                <a:spcPts val="0"/>
              </a:spcBef>
              <a:spcAft>
                <a:spcPts val="0"/>
              </a:spcAft>
              <a:buNone/>
            </a:pPr>
            <a:r>
              <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u="sng">
                <a:solidFill>
                  <a:schemeClr val="hlink"/>
                </a:solidFill>
                <a:latin typeface="Sorts Mill Goudy"/>
                <a:ea typeface="Sorts Mill Goudy"/>
                <a:cs typeface="Sorts Mill Goudy"/>
                <a:sym typeface="Sorts Mill Goudy"/>
                <a:hlinkClick r:id="rId3"/>
              </a:rPr>
              <a:t>Redlining Richmond</a:t>
            </a:r>
            <a:endParaRPr sz="2400">
              <a:latin typeface="Sorts Mill Goudy"/>
              <a:ea typeface="Sorts Mill Goudy"/>
              <a:cs typeface="Sorts Mill Goudy"/>
              <a:sym typeface="Sorts Mill Goudy"/>
            </a:endParaRPr>
          </a:p>
          <a:p>
            <a:pPr indent="0" lvl="0" marL="0" rtl="0" algn="l">
              <a:spcBef>
                <a:spcPts val="0"/>
              </a:spcBef>
              <a:spcAft>
                <a:spcPts val="0"/>
              </a:spcAft>
              <a:buNone/>
            </a:pPr>
            <a:r>
              <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u="sng">
                <a:solidFill>
                  <a:schemeClr val="hlink"/>
                </a:solidFill>
                <a:latin typeface="Sorts Mill Goudy"/>
                <a:ea typeface="Sorts Mill Goudy"/>
                <a:cs typeface="Sorts Mill Goudy"/>
                <a:sym typeface="Sorts Mill Goudy"/>
                <a:hlinkClick r:id="rId4"/>
              </a:rPr>
              <a:t>Redlining Austin TX. Need to scroll down to map</a:t>
            </a:r>
            <a:endParaRPr sz="2400">
              <a:latin typeface="Sorts Mill Goudy"/>
              <a:ea typeface="Sorts Mill Goudy"/>
              <a:cs typeface="Sorts Mill Goudy"/>
              <a:sym typeface="Sorts Mill Goudy"/>
            </a:endParaRPr>
          </a:p>
          <a:p>
            <a:pPr indent="0" lvl="0" marL="0" rtl="0" algn="l">
              <a:spcBef>
                <a:spcPts val="0"/>
              </a:spcBef>
              <a:spcAft>
                <a:spcPts val="0"/>
              </a:spcAft>
              <a:buNone/>
            </a:pPr>
            <a:r>
              <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u="sng">
                <a:solidFill>
                  <a:schemeClr val="hlink"/>
                </a:solidFill>
                <a:latin typeface="Sorts Mill Goudy"/>
                <a:ea typeface="Sorts Mill Goudy"/>
                <a:cs typeface="Sorts Mill Goudy"/>
                <a:sym typeface="Sorts Mill Goudy"/>
                <a:hlinkClick r:id="rId5"/>
              </a:rPr>
              <a:t>Redlining Albany</a:t>
            </a:r>
            <a:endParaRPr sz="2400">
              <a:latin typeface="Sorts Mill Goudy"/>
              <a:ea typeface="Sorts Mill Goudy"/>
              <a:cs typeface="Sorts Mill Goudy"/>
              <a:sym typeface="Sorts Mill Goudy"/>
            </a:endParaRPr>
          </a:p>
          <a:p>
            <a:pPr indent="0" lvl="0" marL="0" rtl="0" algn="l">
              <a:spcBef>
                <a:spcPts val="0"/>
              </a:spcBef>
              <a:spcAft>
                <a:spcPts val="0"/>
              </a:spcAft>
              <a:buNone/>
            </a:pPr>
            <a:r>
              <a:t/>
            </a:r>
            <a:endParaRPr sz="2400">
              <a:latin typeface="Sorts Mill Goudy"/>
              <a:ea typeface="Sorts Mill Goudy"/>
              <a:cs typeface="Sorts Mill Goudy"/>
              <a:sym typeface="Sorts Mill Goudy"/>
            </a:endParaRPr>
          </a:p>
          <a:p>
            <a:pPr indent="0" lvl="0" marL="0" rtl="0" algn="l">
              <a:spcBef>
                <a:spcPts val="0"/>
              </a:spcBef>
              <a:spcAft>
                <a:spcPts val="0"/>
              </a:spcAft>
              <a:buNone/>
            </a:pPr>
            <a:r>
              <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a:latin typeface="Sorts Mill Goudy"/>
                <a:ea typeface="Sorts Mill Goudy"/>
                <a:cs typeface="Sorts Mill Goudy"/>
                <a:sym typeface="Sorts Mill Goudy"/>
              </a:rPr>
              <a:t>In readings? </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a:latin typeface="Sorts Mill Goudy"/>
                <a:ea typeface="Sorts Mill Goudy"/>
                <a:cs typeface="Sorts Mill Goudy"/>
                <a:sym typeface="Sorts Mill Goudy"/>
              </a:rPr>
              <a:t>What is blockbusting</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a:latin typeface="Sorts Mill Goudy"/>
                <a:ea typeface="Sorts Mill Goudy"/>
                <a:cs typeface="Sorts Mill Goudy"/>
                <a:sym typeface="Sorts Mill Goudy"/>
              </a:rPr>
              <a:t>Racial Zoning Laws</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a:latin typeface="Sorts Mill Goudy"/>
                <a:ea typeface="Sorts Mill Goudy"/>
                <a:cs typeface="Sorts Mill Goudy"/>
                <a:sym typeface="Sorts Mill Goudy"/>
              </a:rPr>
              <a:t>Inflated </a:t>
            </a:r>
            <a:r>
              <a:rPr lang="en-US" sz="2400">
                <a:latin typeface="Sorts Mill Goudy"/>
                <a:ea typeface="Sorts Mill Goudy"/>
                <a:cs typeface="Sorts Mill Goudy"/>
                <a:sym typeface="Sorts Mill Goudy"/>
              </a:rPr>
              <a:t>Mortgages</a:t>
            </a:r>
            <a:r>
              <a:rPr lang="en-US" sz="2400">
                <a:latin typeface="Sorts Mill Goudy"/>
                <a:ea typeface="Sorts Mill Goudy"/>
                <a:cs typeface="Sorts Mill Goudy"/>
                <a:sym typeface="Sorts Mill Goudy"/>
              </a:rPr>
              <a:t>/property tax</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a:latin typeface="Sorts Mill Goudy"/>
                <a:ea typeface="Sorts Mill Goudy"/>
                <a:cs typeface="Sorts Mill Goudy"/>
                <a:sym typeface="Sorts Mill Goudy"/>
              </a:rPr>
              <a:t>Suppressed</a:t>
            </a:r>
            <a:r>
              <a:rPr lang="en-US" sz="2400">
                <a:latin typeface="Sorts Mill Goudy"/>
                <a:ea typeface="Sorts Mill Goudy"/>
                <a:cs typeface="Sorts Mill Goudy"/>
                <a:sym typeface="Sorts Mill Goudy"/>
              </a:rPr>
              <a:t> Incomes</a:t>
            </a:r>
            <a:endParaRPr sz="2400">
              <a:latin typeface="Sorts Mill Goudy"/>
              <a:ea typeface="Sorts Mill Goudy"/>
              <a:cs typeface="Sorts Mill Goudy"/>
              <a:sym typeface="Sorts Mill Goudy"/>
            </a:endParaRPr>
          </a:p>
          <a:p>
            <a:pPr indent="0" lvl="0" marL="0" rtl="0" algn="l">
              <a:spcBef>
                <a:spcPts val="0"/>
              </a:spcBef>
              <a:spcAft>
                <a:spcPts val="0"/>
              </a:spcAft>
              <a:buNone/>
            </a:pPr>
            <a:r>
              <a:rPr lang="en-US" sz="2400">
                <a:latin typeface="Sorts Mill Goudy"/>
                <a:ea typeface="Sorts Mill Goudy"/>
                <a:cs typeface="Sorts Mill Goudy"/>
                <a:sym typeface="Sorts Mill Goudy"/>
              </a:rPr>
              <a:t>Case for reparations/context Japanese reparations</a:t>
            </a:r>
            <a:endParaRPr sz="2400">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0"/>
          <p:cNvSpPr txBox="1"/>
          <p:nvPr/>
        </p:nvSpPr>
        <p:spPr>
          <a:xfrm>
            <a:off x="331100" y="350575"/>
            <a:ext cx="8628000" cy="63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a:p>
            <a:pPr indent="0" lvl="0" marL="0" rtl="0" algn="l">
              <a:spcBef>
                <a:spcPts val="0"/>
              </a:spcBef>
              <a:spcAft>
                <a:spcPts val="0"/>
              </a:spcAft>
              <a:buNone/>
            </a:pPr>
            <a:r>
              <a:t/>
            </a:r>
            <a:endParaRPr>
              <a:latin typeface="Sorts Mill Goudy"/>
              <a:ea typeface="Sorts Mill Goudy"/>
              <a:cs typeface="Sorts Mill Goudy"/>
              <a:sym typeface="Sorts Mill Goudy"/>
            </a:endParaRPr>
          </a:p>
        </p:txBody>
      </p:sp>
      <p:pic>
        <p:nvPicPr>
          <p:cNvPr id="356" name="Google Shape;356;p50"/>
          <p:cNvPicPr preferRelativeResize="0"/>
          <p:nvPr/>
        </p:nvPicPr>
        <p:blipFill>
          <a:blip r:embed="rId3">
            <a:alphaModFix/>
          </a:blip>
          <a:stretch>
            <a:fillRect/>
          </a:stretch>
        </p:blipFill>
        <p:spPr>
          <a:xfrm>
            <a:off x="184705" y="660650"/>
            <a:ext cx="8774600" cy="52884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1" name="Shape 361"/>
        <p:cNvGrpSpPr/>
        <p:nvPr/>
      </p:nvGrpSpPr>
      <p:grpSpPr>
        <a:xfrm>
          <a:off x="0" y="0"/>
          <a:ext cx="0" cy="0"/>
          <a:chOff x="0" y="0"/>
          <a:chExt cx="0" cy="0"/>
        </a:xfrm>
      </p:grpSpPr>
      <p:sp>
        <p:nvSpPr>
          <p:cNvPr id="362" name="Google Shape;362;p51"/>
          <p:cNvSpPr txBox="1"/>
          <p:nvPr/>
        </p:nvSpPr>
        <p:spPr>
          <a:xfrm>
            <a:off x="135350" y="99250"/>
            <a:ext cx="8852400" cy="670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373A3C"/>
                </a:solidFill>
                <a:highlight>
                  <a:srgbClr val="FFFFFF"/>
                </a:highlight>
                <a:latin typeface="Roboto"/>
                <a:ea typeface="Roboto"/>
                <a:cs typeface="Roboto"/>
                <a:sym typeface="Roboto"/>
              </a:rPr>
              <a:t>1.  Richard Rothstein’s book focuses on how state action contributed to racial segregation in America. From a justice standpoint, why is state-based discrimination worse than racial discrimination in the private sphere? Come up with utilitarian, freedom-based, and virtue-based arguments. ESO3</a:t>
            </a:r>
            <a:endParaRPr sz="1800">
              <a:solidFill>
                <a:srgbClr val="373A3C"/>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800">
                <a:solidFill>
                  <a:srgbClr val="373A3C"/>
                </a:solidFill>
                <a:highlight>
                  <a:srgbClr val="FFFFFF"/>
                </a:highlight>
                <a:latin typeface="Roboto"/>
                <a:ea typeface="Roboto"/>
                <a:cs typeface="Roboto"/>
                <a:sym typeface="Roboto"/>
              </a:rPr>
              <a:t>2.  Tell us about some of the individuals who were denied housing on account of race. What are their stories? What are some of the more egregious accounts you read? ESO1</a:t>
            </a:r>
            <a:endParaRPr sz="1800">
              <a:solidFill>
                <a:srgbClr val="373A3C"/>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800">
                <a:solidFill>
                  <a:srgbClr val="373A3C"/>
                </a:solidFill>
                <a:highlight>
                  <a:srgbClr val="FFFFFF"/>
                </a:highlight>
                <a:latin typeface="Roboto"/>
                <a:ea typeface="Roboto"/>
                <a:cs typeface="Roboto"/>
                <a:sym typeface="Roboto"/>
              </a:rPr>
              <a:t>3.  What more could the middle class African Americans in this reading have possibly done to qualify for housing in a white neighborhood? ESO2</a:t>
            </a:r>
            <a:endParaRPr sz="1800">
              <a:solidFill>
                <a:srgbClr val="373A3C"/>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800">
                <a:solidFill>
                  <a:srgbClr val="373A3C"/>
                </a:solidFill>
                <a:highlight>
                  <a:srgbClr val="FFFFFF"/>
                </a:highlight>
                <a:latin typeface="Roboto"/>
                <a:ea typeface="Roboto"/>
                <a:cs typeface="Roboto"/>
                <a:sym typeface="Roboto"/>
              </a:rPr>
              <a:t>4.  The argument in favor of housing discrimination is both utilitarian (best interests of the community) and freedom-based (freedom to sell to whom you choose). How would you make an argument against discrimination? Do you use utilitarian, freedom, or virtue-based arguments?</a:t>
            </a:r>
            <a:endParaRPr sz="1800">
              <a:solidFill>
                <a:srgbClr val="373A3C"/>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800">
                <a:solidFill>
                  <a:srgbClr val="373A3C"/>
                </a:solidFill>
                <a:highlight>
                  <a:srgbClr val="FFFFFF"/>
                </a:highlight>
                <a:latin typeface="Roboto"/>
                <a:ea typeface="Roboto"/>
                <a:cs typeface="Roboto"/>
                <a:sym typeface="Roboto"/>
              </a:rPr>
              <a:t>5.  What was worse, the racial caste system of the Jim Crow South or the racial apartheid of the housing market outside of the South? ESO3</a:t>
            </a:r>
            <a:endParaRPr sz="1800">
              <a:solidFill>
                <a:srgbClr val="373A3C"/>
              </a:solidFill>
              <a:highlight>
                <a:srgbClr val="FFFFFF"/>
              </a:highlight>
              <a:latin typeface="Roboto"/>
              <a:ea typeface="Roboto"/>
              <a:cs typeface="Roboto"/>
              <a:sym typeface="Roboto"/>
            </a:endParaRPr>
          </a:p>
          <a:p>
            <a:pPr indent="0" lvl="0" marL="0" rtl="0" algn="l">
              <a:spcBef>
                <a:spcPts val="1200"/>
              </a:spcBef>
              <a:spcAft>
                <a:spcPts val="0"/>
              </a:spcAft>
              <a:buNone/>
            </a:pPr>
            <a:r>
              <a:rPr lang="en-US" sz="1800">
                <a:solidFill>
                  <a:srgbClr val="373A3C"/>
                </a:solidFill>
                <a:highlight>
                  <a:srgbClr val="FFFFFF"/>
                </a:highlight>
                <a:latin typeface="Roboto"/>
                <a:ea typeface="Roboto"/>
                <a:cs typeface="Roboto"/>
                <a:sym typeface="Roboto"/>
              </a:rPr>
              <a:t>6.  If reparations for African Americans were really on the table, what should it entail? For reference, every Japanese survivor of the internment camps received a $20,000 check from the U.S. government. ESO4</a:t>
            </a:r>
            <a:endParaRPr sz="1800">
              <a:latin typeface="Sorts Mill Goudy"/>
              <a:ea typeface="Sorts Mill Goudy"/>
              <a:cs typeface="Sorts Mill Goudy"/>
              <a:sym typeface="Sorts Mill Goud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7" name="Shape 367"/>
        <p:cNvGrpSpPr/>
        <p:nvPr/>
      </p:nvGrpSpPr>
      <p:grpSpPr>
        <a:xfrm>
          <a:off x="0" y="0"/>
          <a:ext cx="0" cy="0"/>
          <a:chOff x="0" y="0"/>
          <a:chExt cx="0" cy="0"/>
        </a:xfrm>
      </p:grpSpPr>
      <p:sp>
        <p:nvSpPr>
          <p:cNvPr id="368" name="Google Shape;368;p52"/>
          <p:cNvSpPr txBox="1"/>
          <p:nvPr/>
        </p:nvSpPr>
        <p:spPr>
          <a:xfrm>
            <a:off x="401925" y="335600"/>
            <a:ext cx="8328000" cy="62568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None/>
            </a:pPr>
            <a:r>
              <a:rPr lang="en-US" sz="3600">
                <a:solidFill>
                  <a:schemeClr val="dk1"/>
                </a:solidFill>
                <a:latin typeface="Impact"/>
                <a:ea typeface="Impact"/>
                <a:cs typeface="Impact"/>
                <a:sym typeface="Impact"/>
              </a:rPr>
              <a:t>SKIPThe Asian American Success Story</a:t>
            </a:r>
            <a:endParaRPr b="0" i="0" sz="3600" u="none" cap="none" strike="noStrike">
              <a:solidFill>
                <a:schemeClr val="dk1"/>
              </a:solidFill>
              <a:latin typeface="Impact"/>
              <a:ea typeface="Impact"/>
              <a:cs typeface="Impact"/>
              <a:sym typeface="Impact"/>
            </a:endParaRPr>
          </a:p>
          <a:p>
            <a:pPr indent="0" lvl="0" marL="0" marR="0" rtl="0" algn="ctr">
              <a:spcBef>
                <a:spcPts val="0"/>
              </a:spcBef>
              <a:spcAft>
                <a:spcPts val="0"/>
              </a:spcAft>
              <a:buNone/>
            </a:pPr>
            <a:r>
              <a:rPr b="1" i="0" lang="en-US" sz="2400" u="none" cap="none" strike="noStrike">
                <a:solidFill>
                  <a:schemeClr val="dk1"/>
                </a:solidFill>
                <a:latin typeface="Roboto Slab"/>
                <a:ea typeface="Roboto Slab"/>
                <a:cs typeface="Roboto Slab"/>
                <a:sym typeface="Roboto Slab"/>
              </a:rPr>
              <a:t>………………………………………..</a:t>
            </a:r>
            <a:endParaRPr b="1"/>
          </a:p>
          <a:p>
            <a:pPr indent="0" lvl="0" marL="0" marR="0" rtl="0" algn="ctr">
              <a:spcBef>
                <a:spcPts val="0"/>
              </a:spcBef>
              <a:spcAft>
                <a:spcPts val="0"/>
              </a:spcAft>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marR="0" rtl="0" algn="ctr">
              <a:spcBef>
                <a:spcPts val="0"/>
              </a:spcBef>
              <a:spcAft>
                <a:spcPts val="0"/>
              </a:spcAft>
              <a:buNone/>
            </a:pPr>
            <a:r>
              <a:rPr i="1" lang="en-US" sz="2000">
                <a:solidFill>
                  <a:schemeClr val="dk1"/>
                </a:solidFill>
                <a:latin typeface="Cambria"/>
                <a:ea typeface="Cambria"/>
                <a:cs typeface="Cambria"/>
                <a:sym typeface="Cambria"/>
              </a:rPr>
              <a:t>Are Asian Americans really a model minority whose overperformance anyone can be emulated, or are there other circumstances beyond one’s control?</a:t>
            </a:r>
            <a:endParaRPr b="0" i="1" sz="2000" u="none" cap="none" strike="noStrike">
              <a:solidFill>
                <a:schemeClr val="dk1"/>
              </a:solidFill>
              <a:latin typeface="Cambria"/>
              <a:ea typeface="Cambria"/>
              <a:cs typeface="Cambria"/>
              <a:sym typeface="Cambria"/>
            </a:endParaRPr>
          </a:p>
          <a:p>
            <a:pPr indent="-330200" lvl="0" marL="457200" marR="0" rtl="0" algn="ctr">
              <a:spcBef>
                <a:spcPts val="0"/>
              </a:spcBef>
              <a:spcAft>
                <a:spcPts val="0"/>
              </a:spcAft>
              <a:buClr>
                <a:schemeClr val="dk1"/>
              </a:buClr>
              <a:buSzPts val="2000"/>
              <a:buFont typeface="Sorts Mill Goudy"/>
              <a:buNone/>
            </a:pPr>
            <a:r>
              <a:t/>
            </a:r>
            <a:endParaRPr b="0" i="0" sz="2000" u="none" cap="none" strike="noStrike">
              <a:solidFill>
                <a:schemeClr val="dk1"/>
              </a:solidFill>
              <a:latin typeface="Roboto Slab Regular"/>
              <a:ea typeface="Roboto Slab Regular"/>
              <a:cs typeface="Roboto Slab Regular"/>
              <a:sym typeface="Roboto Slab Regular"/>
            </a:endParaRPr>
          </a:p>
          <a:p>
            <a:pPr indent="0" lvl="0" marL="0" rtl="0" algn="ctr">
              <a:spcBef>
                <a:spcPts val="0"/>
              </a:spcBef>
              <a:spcAft>
                <a:spcPts val="0"/>
              </a:spcAft>
              <a:buNone/>
            </a:pPr>
            <a:r>
              <a:rPr b="1" lang="en-US" sz="2000">
                <a:solidFill>
                  <a:schemeClr val="dk1"/>
                </a:solidFill>
                <a:latin typeface="Roboto Slab"/>
                <a:ea typeface="Roboto Slab"/>
                <a:cs typeface="Roboto Slab"/>
                <a:sym typeface="Roboto Slab"/>
              </a:rPr>
              <a:t>The individualist explanation:</a:t>
            </a:r>
            <a:endParaRPr b="1" sz="2000">
              <a:solidFill>
                <a:schemeClr val="dk1"/>
              </a:solidFill>
              <a:latin typeface="Roboto Slab"/>
              <a:ea typeface="Roboto Slab"/>
              <a:cs typeface="Roboto Slab"/>
              <a:sym typeface="Roboto Slab"/>
            </a:endParaRPr>
          </a:p>
          <a:p>
            <a:pPr indent="0" lvl="0" marL="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Asians value education more than most other groups do.</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They’ve succeeded because our system rewards hard work.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Asians face discrimination but they don’t let it get in their way.</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Less successful groups should follow this model instead of claiming </a:t>
            </a:r>
            <a:endParaRPr sz="2000">
              <a:latin typeface="Roboto Slab Regular"/>
              <a:ea typeface="Roboto Slab Regular"/>
              <a:cs typeface="Roboto Slab Regular"/>
              <a:sym typeface="Roboto Slab Regular"/>
            </a:endParaRPr>
          </a:p>
          <a:p>
            <a:pPr indent="0" lvl="0" marL="0" rtl="0" algn="ctr">
              <a:lnSpc>
                <a:spcPct val="100000"/>
              </a:lnSpc>
              <a:spcBef>
                <a:spcPts val="0"/>
              </a:spcBef>
              <a:spcAft>
                <a:spcPts val="0"/>
              </a:spcAft>
              <a:buNone/>
            </a:pPr>
            <a:r>
              <a:rPr lang="en-US" sz="2000">
                <a:latin typeface="Roboto Slab Regular"/>
                <a:ea typeface="Roboto Slab Regular"/>
                <a:cs typeface="Roboto Slab Regular"/>
                <a:sym typeface="Roboto Slab Regular"/>
              </a:rPr>
              <a:t>the system is unfair. </a:t>
            </a:r>
            <a:endParaRPr sz="2000">
              <a:latin typeface="Roboto Slab Regular"/>
              <a:ea typeface="Roboto Slab Regular"/>
              <a:cs typeface="Roboto Slab Regular"/>
              <a:sym typeface="Roboto Slab Regular"/>
            </a:endParaRPr>
          </a:p>
          <a:p>
            <a:pPr indent="0" lvl="0" marL="0" rtl="0" algn="ctr">
              <a:lnSpc>
                <a:spcPct val="150000"/>
              </a:lnSpc>
              <a:spcBef>
                <a:spcPts val="0"/>
              </a:spcBef>
              <a:spcAft>
                <a:spcPts val="0"/>
              </a:spcAft>
              <a:buNone/>
            </a:pPr>
            <a:r>
              <a:t/>
            </a:r>
            <a:endParaRPr i="1" sz="2000">
              <a:solidFill>
                <a:srgbClr val="0000FF"/>
              </a:solidFill>
              <a:latin typeface="Cambria"/>
              <a:ea typeface="Cambria"/>
              <a:cs typeface="Cambria"/>
              <a:sym typeface="Cambria"/>
            </a:endParaRPr>
          </a:p>
          <a:p>
            <a:pPr indent="0" lvl="0" marL="0" rtl="0" algn="ctr">
              <a:lnSpc>
                <a:spcPct val="150000"/>
              </a:lnSpc>
              <a:spcBef>
                <a:spcPts val="0"/>
              </a:spcBef>
              <a:spcAft>
                <a:spcPts val="0"/>
              </a:spcAft>
              <a:buNone/>
            </a:pPr>
            <a:r>
              <a:t/>
            </a:r>
            <a:endParaRPr i="1" sz="2000">
              <a:solidFill>
                <a:srgbClr val="0000FF"/>
              </a:solidFill>
              <a:latin typeface="Cambria"/>
              <a:ea typeface="Cambria"/>
              <a:cs typeface="Cambria"/>
              <a:sym typeface="Cambria"/>
            </a:endParaRPr>
          </a:p>
          <a:p>
            <a:pPr indent="0" lvl="0" marL="0" rtl="0" algn="ctr">
              <a:lnSpc>
                <a:spcPct val="150000"/>
              </a:lnSpc>
              <a:spcBef>
                <a:spcPts val="0"/>
              </a:spcBef>
              <a:spcAft>
                <a:spcPts val="0"/>
              </a:spcAft>
              <a:buNone/>
            </a:pPr>
            <a:r>
              <a:t/>
            </a:r>
            <a:endParaRPr i="1" sz="2000">
              <a:solidFill>
                <a:srgbClr val="0000FF"/>
              </a:solidFill>
              <a:latin typeface="Cambria"/>
              <a:ea typeface="Cambria"/>
              <a:cs typeface="Cambria"/>
              <a:sym typeface="Cambria"/>
            </a:endParaRPr>
          </a:p>
          <a:p>
            <a:pPr indent="0" lvl="0" marL="0" rtl="0" algn="ctr">
              <a:lnSpc>
                <a:spcPct val="150000"/>
              </a:lnSpc>
              <a:spcBef>
                <a:spcPts val="0"/>
              </a:spcBef>
              <a:spcAft>
                <a:spcPts val="0"/>
              </a:spcAft>
              <a:buNone/>
            </a:pPr>
            <a:r>
              <a:t/>
            </a:r>
            <a:endParaRPr i="1" sz="2000">
              <a:solidFill>
                <a:srgbClr val="4A86E8"/>
              </a:solidFill>
              <a:latin typeface="Cambria"/>
              <a:ea typeface="Cambria"/>
              <a:cs typeface="Cambria"/>
              <a:sym typeface="Cambria"/>
            </a:endParaRPr>
          </a:p>
          <a:p>
            <a:pPr indent="0" lvl="0" marL="0" rtl="0" algn="ctr">
              <a:spcBef>
                <a:spcPts val="0"/>
              </a:spcBef>
              <a:spcAft>
                <a:spcPts val="0"/>
              </a:spcAft>
              <a:buNone/>
            </a:pPr>
            <a:r>
              <a:t/>
            </a:r>
            <a:endParaRPr i="1" sz="2000">
              <a:solidFill>
                <a:srgbClr val="4A86E8"/>
              </a:solidFill>
              <a:latin typeface="Cambria"/>
              <a:ea typeface="Cambria"/>
              <a:cs typeface="Cambria"/>
              <a:sym typeface="Cambria"/>
            </a:endParaRPr>
          </a:p>
          <a:p>
            <a:pPr indent="0" lvl="0" marL="0" rtl="0" algn="ctr">
              <a:spcBef>
                <a:spcPts val="0"/>
              </a:spcBef>
              <a:spcAft>
                <a:spcPts val="0"/>
              </a:spcAft>
              <a:buNone/>
            </a:pPr>
            <a:r>
              <a:t/>
            </a:r>
            <a:endParaRPr sz="2000">
              <a:solidFill>
                <a:srgbClr val="4A86E8"/>
              </a:solidFill>
              <a:latin typeface="Roboto Slab Regular"/>
              <a:ea typeface="Roboto Slab Regular"/>
              <a:cs typeface="Roboto Slab Regular"/>
              <a:sym typeface="Roboto Slab Regular"/>
            </a:endParaRPr>
          </a:p>
          <a:p>
            <a:pPr indent="0" lvl="0" marL="0" rtl="0" algn="ctr">
              <a:spcBef>
                <a:spcPts val="0"/>
              </a:spcBef>
              <a:spcAft>
                <a:spcPts val="0"/>
              </a:spcAft>
              <a:buNone/>
            </a:pPr>
            <a:r>
              <a:t/>
            </a:r>
            <a:endParaRPr sz="2000">
              <a:solidFill>
                <a:srgbClr val="4A86E8"/>
              </a:solidFill>
              <a:latin typeface="Roboto Slab Regular"/>
              <a:ea typeface="Roboto Slab Regular"/>
              <a:cs typeface="Roboto Slab Regular"/>
              <a:sym typeface="Roboto Slab Regular"/>
            </a:endParaRPr>
          </a:p>
          <a:p>
            <a:pPr indent="0" lvl="0" marL="0" rtl="0" algn="ctr">
              <a:spcBef>
                <a:spcPts val="0"/>
              </a:spcBef>
              <a:spcAft>
                <a:spcPts val="0"/>
              </a:spcAft>
              <a:buNone/>
            </a:pPr>
            <a:br>
              <a:rPr lang="en-US" sz="2000">
                <a:solidFill>
                  <a:srgbClr val="4A86E8"/>
                </a:solidFill>
                <a:latin typeface="Roboto Slab Regular"/>
                <a:ea typeface="Roboto Slab Regular"/>
                <a:cs typeface="Roboto Slab Regular"/>
                <a:sym typeface="Roboto Slab Regular"/>
              </a:rPr>
            </a:br>
            <a:endParaRPr>
              <a:solidFill>
                <a:srgbClr val="4A86E8"/>
              </a:solidFill>
            </a:endParaRPr>
          </a:p>
          <a:p>
            <a:pPr indent="0" lvl="0" marL="0" marR="0" rtl="0" algn="ctr">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3"/>
          <p:cNvSpPr txBox="1"/>
          <p:nvPr/>
        </p:nvSpPr>
        <p:spPr>
          <a:xfrm>
            <a:off x="1046525" y="1244800"/>
            <a:ext cx="6695700" cy="41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200">
                <a:latin typeface="Sorts Mill Goudy"/>
                <a:ea typeface="Sorts Mill Goudy"/>
                <a:cs typeface="Sorts Mill Goudy"/>
                <a:sym typeface="Sorts Mill Goudy"/>
              </a:rPr>
              <a:t>Potential Discussio</a:t>
            </a:r>
            <a:endParaRPr sz="100">
              <a:latin typeface="Sorts Mill Goudy"/>
              <a:ea typeface="Sorts Mill Goudy"/>
              <a:cs typeface="Sorts Mill Goudy"/>
              <a:sym typeface="Sorts Mill Goudy"/>
            </a:endParaRPr>
          </a:p>
          <a:p>
            <a:pPr indent="-381000" lvl="0" marL="457200" rtl="0" algn="l">
              <a:spcBef>
                <a:spcPts val="0"/>
              </a:spcBef>
              <a:spcAft>
                <a:spcPts val="0"/>
              </a:spcAft>
              <a:buSzPts val="2400"/>
              <a:buFont typeface="Sorts Mill Goudy"/>
              <a:buChar char="●"/>
            </a:pPr>
            <a:r>
              <a:rPr lang="en-US" sz="2400">
                <a:latin typeface="Sorts Mill Goudy"/>
                <a:ea typeface="Sorts Mill Goudy"/>
                <a:cs typeface="Sorts Mill Goudy"/>
                <a:sym typeface="Sorts Mill Goudy"/>
              </a:rPr>
              <a:t>Suppressed incomes</a:t>
            </a:r>
            <a:endParaRPr sz="2400">
              <a:latin typeface="Sorts Mill Goudy"/>
              <a:ea typeface="Sorts Mill Goudy"/>
              <a:cs typeface="Sorts Mill Goudy"/>
              <a:sym typeface="Sorts Mill Goudy"/>
            </a:endParaRPr>
          </a:p>
          <a:p>
            <a:pPr indent="-381000" lvl="0" marL="457200" rtl="0" algn="l">
              <a:spcBef>
                <a:spcPts val="0"/>
              </a:spcBef>
              <a:spcAft>
                <a:spcPts val="0"/>
              </a:spcAft>
              <a:buSzPts val="2400"/>
              <a:buFont typeface="Sorts Mill Goudy"/>
              <a:buChar char="●"/>
            </a:pPr>
            <a:r>
              <a:rPr lang="en-US" sz="2400">
                <a:latin typeface="Sorts Mill Goudy"/>
                <a:ea typeface="Sorts Mill Goudy"/>
                <a:cs typeface="Sorts Mill Goudy"/>
                <a:sym typeface="Sorts Mill Goudy"/>
              </a:rPr>
              <a:t>Placism</a:t>
            </a:r>
            <a:endParaRPr sz="2400">
              <a:latin typeface="Sorts Mill Goudy"/>
              <a:ea typeface="Sorts Mill Goudy"/>
              <a:cs typeface="Sorts Mill Goudy"/>
              <a:sym typeface="Sorts Mill Goudy"/>
            </a:endParaRPr>
          </a:p>
          <a:p>
            <a:pPr indent="-381000" lvl="0" marL="457200" rtl="0" algn="l">
              <a:spcBef>
                <a:spcPts val="0"/>
              </a:spcBef>
              <a:spcAft>
                <a:spcPts val="0"/>
              </a:spcAft>
              <a:buSzPts val="2400"/>
              <a:buFont typeface="Sorts Mill Goudy"/>
              <a:buChar char="●"/>
            </a:pPr>
            <a:r>
              <a:rPr lang="en-US" sz="2400">
                <a:latin typeface="Sorts Mill Goudy"/>
                <a:ea typeface="Sorts Mill Goudy"/>
                <a:cs typeface="Sorts Mill Goudy"/>
                <a:sym typeface="Sorts Mill Goudy"/>
              </a:rPr>
              <a:t>Property Tax and Prejudice</a:t>
            </a:r>
            <a:endParaRPr sz="2400">
              <a:latin typeface="Sorts Mill Goudy"/>
              <a:ea typeface="Sorts Mill Goudy"/>
              <a:cs typeface="Sorts Mill Goudy"/>
              <a:sym typeface="Sorts Mill Goudy"/>
            </a:endParaRPr>
          </a:p>
          <a:p>
            <a:pPr indent="-381000" lvl="0" marL="457200" rtl="0" algn="l">
              <a:spcBef>
                <a:spcPts val="0"/>
              </a:spcBef>
              <a:spcAft>
                <a:spcPts val="0"/>
              </a:spcAft>
              <a:buSzPts val="2400"/>
              <a:buFont typeface="Sorts Mill Goudy"/>
              <a:buChar char="●"/>
            </a:pPr>
            <a:r>
              <a:rPr lang="en-US" sz="2400">
                <a:latin typeface="Sorts Mill Goudy"/>
                <a:ea typeface="Sorts Mill Goudy"/>
                <a:cs typeface="Sorts Mill Goudy"/>
                <a:sym typeface="Sorts Mill Goudy"/>
              </a:rPr>
              <a:t>Predatory Loans</a:t>
            </a:r>
            <a:endParaRPr sz="2400">
              <a:latin typeface="Sorts Mill Goudy"/>
              <a:ea typeface="Sorts Mill Goudy"/>
              <a:cs typeface="Sorts Mill Goudy"/>
              <a:sym typeface="Sorts Mill Goudy"/>
            </a:endParaRPr>
          </a:p>
          <a:p>
            <a:pPr indent="-381000" lvl="0" marL="457200" rtl="0" algn="l">
              <a:spcBef>
                <a:spcPts val="0"/>
              </a:spcBef>
              <a:spcAft>
                <a:spcPts val="0"/>
              </a:spcAft>
              <a:buSzPts val="2400"/>
              <a:buFont typeface="Sorts Mill Goudy"/>
              <a:buChar char="●"/>
            </a:pPr>
            <a:r>
              <a:rPr lang="en-US" sz="2400">
                <a:latin typeface="Sorts Mill Goudy"/>
                <a:ea typeface="Sorts Mill Goudy"/>
                <a:cs typeface="Sorts Mill Goudy"/>
                <a:sym typeface="Sorts Mill Goudy"/>
              </a:rPr>
              <a:t>Systemic</a:t>
            </a:r>
            <a:r>
              <a:rPr lang="en-US" sz="2400">
                <a:latin typeface="Sorts Mill Goudy"/>
                <a:ea typeface="Sorts Mill Goudy"/>
                <a:cs typeface="Sorts Mill Goudy"/>
                <a:sym typeface="Sorts Mill Goudy"/>
              </a:rPr>
              <a:t> Racial Descrimination</a:t>
            </a:r>
            <a:endParaRPr sz="2400">
              <a:latin typeface="Sorts Mill Goudy"/>
              <a:ea typeface="Sorts Mill Goudy"/>
              <a:cs typeface="Sorts Mill Goudy"/>
              <a:sym typeface="Sorts Mill Goudy"/>
            </a:endParaRPr>
          </a:p>
          <a:p>
            <a:pPr indent="-381000" lvl="0" marL="457200" rtl="0" algn="l">
              <a:spcBef>
                <a:spcPts val="0"/>
              </a:spcBef>
              <a:spcAft>
                <a:spcPts val="0"/>
              </a:spcAft>
              <a:buSzPts val="2400"/>
              <a:buFont typeface="Sorts Mill Goudy"/>
              <a:buChar char="●"/>
            </a:pPr>
            <a:r>
              <a:rPr lang="en-US" sz="2400">
                <a:latin typeface="Sorts Mill Goudy"/>
                <a:ea typeface="Sorts Mill Goudy"/>
                <a:cs typeface="Sorts Mill Goudy"/>
                <a:sym typeface="Sorts Mill Goudy"/>
              </a:rPr>
              <a:t>Housing Discrimination </a:t>
            </a:r>
            <a:endParaRPr sz="2400">
              <a:latin typeface="Sorts Mill Goudy"/>
              <a:ea typeface="Sorts Mill Goudy"/>
              <a:cs typeface="Sorts Mill Goudy"/>
              <a:sym typeface="Sorts Mill Goud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4"/>
          <p:cNvSpPr txBox="1"/>
          <p:nvPr/>
        </p:nvSpPr>
        <p:spPr>
          <a:xfrm>
            <a:off x="320325" y="239150"/>
            <a:ext cx="8648700" cy="63714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None/>
            </a:pPr>
            <a:r>
              <a:rPr lang="en-US" sz="3000">
                <a:solidFill>
                  <a:schemeClr val="dk1"/>
                </a:solidFill>
                <a:latin typeface="Impact"/>
                <a:ea typeface="Impact"/>
                <a:cs typeface="Impact"/>
                <a:sym typeface="Impact"/>
              </a:rPr>
              <a:t>Meet with Your Group/Zoom Breakout Room  </a:t>
            </a:r>
            <a:endParaRPr sz="3600">
              <a:solidFill>
                <a:schemeClr val="dk1"/>
              </a:solidFill>
              <a:latin typeface="Impact"/>
              <a:ea typeface="Impact"/>
              <a:cs typeface="Impact"/>
              <a:sym typeface="Impact"/>
            </a:endParaRPr>
          </a:p>
          <a:p>
            <a:pPr indent="0" lvl="0" marL="0" marR="0" rtl="0" algn="ctr">
              <a:spcBef>
                <a:spcPts val="0"/>
              </a:spcBef>
              <a:spcAft>
                <a:spcPts val="0"/>
              </a:spcAft>
              <a:buNone/>
            </a:pPr>
            <a:r>
              <a:rPr b="1" i="0" lang="en-US" sz="1800" u="none" cap="none" strike="noStrike">
                <a:solidFill>
                  <a:schemeClr val="dk1"/>
                </a:solidFill>
                <a:latin typeface="Roboto Slab Regular"/>
                <a:ea typeface="Roboto Slab Regular"/>
                <a:cs typeface="Roboto Slab Regular"/>
                <a:sym typeface="Roboto Slab Regular"/>
              </a:rPr>
              <a:t>.....................................................................</a:t>
            </a:r>
            <a:endParaRPr/>
          </a:p>
          <a:p>
            <a:pPr indent="0" lvl="0" marL="0" marR="0" rtl="0" algn="ctr">
              <a:spcBef>
                <a:spcPts val="0"/>
              </a:spcBef>
              <a:spcAft>
                <a:spcPts val="0"/>
              </a:spcAft>
              <a:buNone/>
            </a:pPr>
            <a:r>
              <a:t/>
            </a:r>
            <a:endParaRPr b="0" i="0" sz="1800" u="none" cap="none" strike="noStrike">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Form group roles: Moderator, Researcher, Documenter.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Find an artifact in media, such as an article, website, or social media post, that relates to this week’s topic. Explain how it relates to the class topic and discussion and provide some kind of comment.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What is your reaction on this source? Do you agree or disagree. Is it accurate or inaccurate?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What are potential biases behind the stance? </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Report to class.</a:t>
            </a:r>
            <a:endParaRPr sz="2000">
              <a:solidFill>
                <a:schemeClr val="dk1"/>
              </a:solidFill>
              <a:latin typeface="Roboto Slab Regular"/>
              <a:ea typeface="Roboto Slab Regular"/>
              <a:cs typeface="Roboto Slab Regular"/>
              <a:sym typeface="Roboto Slab Regular"/>
            </a:endParaRPr>
          </a:p>
          <a:p>
            <a:pPr indent="-355600" lvl="0" marL="457200" marR="0" rtl="0" algn="l">
              <a:spcBef>
                <a:spcPts val="0"/>
              </a:spcBef>
              <a:spcAft>
                <a:spcPts val="0"/>
              </a:spcAft>
              <a:buClr>
                <a:schemeClr val="dk1"/>
              </a:buClr>
              <a:buSzPts val="2000"/>
              <a:buFont typeface="Roboto Slab Regular"/>
              <a:buAutoNum type="arabicPeriod"/>
            </a:pPr>
            <a:r>
              <a:rPr lang="en-US" sz="2000">
                <a:solidFill>
                  <a:schemeClr val="dk1"/>
                </a:solidFill>
                <a:latin typeface="Roboto Slab Regular"/>
                <a:ea typeface="Roboto Slab Regular"/>
                <a:cs typeface="Roboto Slab Regular"/>
                <a:sym typeface="Roboto Slab Regular"/>
              </a:rPr>
              <a:t>Post individually in forum titled In-Class Activity and include a screenshot or link to your artifact.</a:t>
            </a:r>
            <a:endParaRPr sz="2000">
              <a:solidFill>
                <a:schemeClr val="dk1"/>
              </a:solidFill>
              <a:latin typeface="Roboto Slab Regular"/>
              <a:ea typeface="Roboto Slab Regular"/>
              <a:cs typeface="Roboto Slab Regular"/>
              <a:sym typeface="Roboto Slab Regular"/>
            </a:endParaRPr>
          </a:p>
          <a:p>
            <a:pPr indent="0" lvl="0" marL="457200" marR="0" rtl="0" algn="l">
              <a:spcBef>
                <a:spcPts val="0"/>
              </a:spcBef>
              <a:spcAft>
                <a:spcPts val="0"/>
              </a:spcAft>
              <a:buNone/>
            </a:pPr>
            <a:r>
              <a:t/>
            </a:r>
            <a:endParaRPr sz="2000">
              <a:solidFill>
                <a:schemeClr val="dk1"/>
              </a:solidFill>
              <a:latin typeface="Roboto Slab Regular"/>
              <a:ea typeface="Roboto Slab Regular"/>
              <a:cs typeface="Roboto Slab Regular"/>
              <a:sym typeface="Roboto Slab Regular"/>
            </a:endParaRPr>
          </a:p>
        </p:txBody>
      </p:sp>
    </p:spTree>
  </p:cSld>
  <p:clrMapOvr>
    <a:masterClrMapping/>
  </p:clrMapOvr>
</p:sld>
</file>

<file path=ppt/theme/theme1.xml><?xml version="1.0" encoding="utf-8"?>
<a:theme xmlns:a="http://schemas.openxmlformats.org/drawingml/2006/main" xmlns:r="http://schemas.openxmlformats.org/officeDocument/2006/relationships" name="Inkwell">
  <a:themeElements>
    <a:clrScheme name="Inkwell">
      <a:dk1>
        <a:srgbClr val="000000"/>
      </a:dk1>
      <a:lt1>
        <a:srgbClr val="FFFFFF"/>
      </a:lt1>
      <a:dk2>
        <a:srgbClr val="584D2E"/>
      </a:dk2>
      <a:lt2>
        <a:srgbClr val="EFE7C3"/>
      </a:lt2>
      <a:accent1>
        <a:srgbClr val="860908"/>
      </a:accent1>
      <a:accent2>
        <a:srgbClr val="4A0505"/>
      </a:accent2>
      <a:accent3>
        <a:srgbClr val="7A500A"/>
      </a:accent3>
      <a:accent4>
        <a:srgbClr val="C47810"/>
      </a:accent4>
      <a:accent5>
        <a:srgbClr val="827752"/>
      </a:accent5>
      <a:accent6>
        <a:srgbClr val="B5BB83"/>
      </a:accent6>
      <a:hlink>
        <a:srgbClr val="C47810"/>
      </a:hlink>
      <a:folHlink>
        <a:srgbClr val="F0A43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